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82511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1430184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Welcome! We're TeamBack from Kutch, Gujarat. BagDrop is India's smart luggage storage network solving a problem faced by 70% of travelers.</a:t>
            </a:r>
            <a:endParaRPr/>
          </a:p>
        </p:txBody>
      </p:sp>
      <p:sp>
        <p:nvSpPr>
          <p:cNvPr id="93273490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21373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8275709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70% of travelers face luggage problems. Early checkout with late departure means hours of frustration.</a:t>
            </a:r>
            <a:endParaRPr/>
          </a:p>
        </p:txBody>
      </p:sp>
      <p:sp>
        <p:nvSpPr>
          <p:cNvPr id="43017601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19021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107629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BagDrop partners with local shops. Contactless OTP/NFC access. Unique delivery service - NO competitor offers this.</a:t>
            </a:r>
            <a:endParaRPr/>
          </a:p>
        </p:txBody>
      </p:sp>
      <p:sp>
        <p:nvSpPr>
          <p:cNvPr id="82780613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7716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6813797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Kutch is perfect for launch. Rann Utsav brings 5L+ visitors. Major railway stations. 12% tourism growth.</a:t>
            </a:r>
            <a:endParaRPr/>
          </a:p>
        </p:txBody>
      </p:sp>
      <p:sp>
        <p:nvSpPr>
          <p:cNvPr id="86621831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97254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8648181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 customer segments: Tourists, train/bus travelers, students, business travelers, and forgotten luggage users - our unique segment.</a:t>
            </a:r>
            <a:endParaRPr/>
          </a:p>
        </p:txBody>
      </p:sp>
      <p:sp>
        <p:nvSpPr>
          <p:cNvPr id="173490688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83845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11833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TAM is ₹2,000+ Crore. Our Year 1 target: ₹36 Lakh, growing to ₹1.27 Crore by Year 2.</a:t>
            </a:r>
            <a:endParaRPr/>
          </a:p>
        </p:txBody>
      </p:sp>
      <p:sp>
        <p:nvSpPr>
          <p:cNvPr id="72547362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73558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9463540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 revenue streams. Primary: 30% on storage. Starting price ₹50 for 6 hours beats railway lockers.</a:t>
            </a:r>
            <a:endParaRPr/>
          </a:p>
        </p:txBody>
      </p:sp>
      <p:sp>
        <p:nvSpPr>
          <p:cNvPr id="71604540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6838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103523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Simple 5-step process. Find, Book, Drop, Retrieve, Deliver. Under 2 minutes to drop bags.</a:t>
            </a:r>
            <a:endParaRPr/>
          </a:p>
        </p:txBody>
      </p:sp>
      <p:sp>
        <p:nvSpPr>
          <p:cNvPr id="170537773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67916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523807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Tech stack: UPI/cards/NFC payments. OTP and NFC security. iOS/Android app, kiosks, partner dashboard.</a:t>
            </a:r>
            <a:endParaRPr/>
          </a:p>
        </p:txBody>
      </p:sp>
      <p:sp>
        <p:nvSpPr>
          <p:cNvPr id="4051191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0111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6049082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We beat competitors on every metric. Our USP: forgotten luggage delivery service.</a:t>
            </a:r>
            <a:endParaRPr/>
          </a:p>
        </p:txBody>
      </p:sp>
      <p:sp>
        <p:nvSpPr>
          <p:cNvPr id="131575481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71051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1182111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Year 1: ₹36.8L. Year 3: ₹3.82Cr. Break-even at Month 10-11. Profitable from Q4.</a:t>
            </a:r>
            <a:endParaRPr/>
          </a:p>
        </p:txBody>
      </p:sp>
      <p:sp>
        <p:nvSpPr>
          <p:cNvPr id="192298989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491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4287854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₹36 Lakh seed funding. Expected 5-10x returns. Target: ₹50+ Cr valuation by Year 5.</a:t>
            </a:r>
            <a:endParaRPr/>
          </a:p>
        </p:txBody>
      </p:sp>
      <p:sp>
        <p:nvSpPr>
          <p:cNvPr id="17587792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108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2594446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 core roles. Growing to 8 members by Year 1. Based in Kutch, Gujarat.</a:t>
            </a:r>
            <a:endParaRPr/>
          </a:p>
        </p:txBody>
      </p:sp>
      <p:sp>
        <p:nvSpPr>
          <p:cNvPr id="109513786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33689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5063537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Multi-channel: Digital (₹55K), influencers (₹30K), transit hubs (₹25K). Referrals + partner onboarding. Total: ₹6.45L annually.</a:t>
            </a:r>
            <a:endParaRPr/>
          </a:p>
        </p:txBody>
      </p:sp>
      <p:sp>
        <p:nvSpPr>
          <p:cNvPr id="177586736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4913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907302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 key risks addressed: Security (₹25K insurance), theft, adoption, tech, and competition. Each has a clear mitigation strategy.</a:t>
            </a:r>
            <a:endParaRPr/>
          </a:p>
        </p:txBody>
      </p:sp>
      <p:sp>
        <p:nvSpPr>
          <p:cNvPr id="161999326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53618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4936117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3 exit paths: Strategic acquisition (₹50Cr+), Series A/B funding, or franchise model. Target: Year 4-5.</a:t>
            </a:r>
            <a:endParaRPr/>
          </a:p>
        </p:txBody>
      </p:sp>
      <p:sp>
        <p:nvSpPr>
          <p:cNvPr id="177773488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07129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2776367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 milestones: Q1 launch, Q2 scale to 50 partners, Q4 break-even, 2027 pan-Gujarat, 2028 national expansion.</a:t>
            </a:r>
            <a:endParaRPr/>
          </a:p>
        </p:txBody>
      </p:sp>
      <p:sp>
        <p:nvSpPr>
          <p:cNvPr id="116397450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3061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1028098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Government support: Startup India, MUDRA loan, iSTART, and tourism grants. Multiple schemes applicable.</a:t>
            </a:r>
            <a:endParaRPr/>
          </a:p>
        </p:txBody>
      </p:sp>
      <p:sp>
        <p:nvSpPr>
          <p:cNvPr id="154165928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52466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6892155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Call to action: ₹36 Lakh seed funding. First-mover, unique USP, profitable by Year 1. Let's build this together!</a:t>
            </a:r>
            <a:endParaRPr/>
          </a:p>
        </p:txBody>
      </p:sp>
      <p:sp>
        <p:nvSpPr>
          <p:cNvPr id="30063852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07190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232687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Thank you for your time. We're excited to answer any questions about BagDrop. Contact: teamback@bagdrop.in</a:t>
            </a:r>
            <a:endParaRPr/>
          </a:p>
        </p:txBody>
      </p:sp>
      <p:sp>
        <p:nvSpPr>
          <p:cNvPr id="3422488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59615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51497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22841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88862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9046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979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05577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6029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47663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35738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32681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5633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371844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0629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54088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8253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9302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77824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55435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7803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29676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2549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77010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92989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62495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07906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86331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595693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8190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9705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36311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779806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0452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529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877416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927740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23413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809804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36262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2806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54894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28191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00288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28641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463901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21432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955740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89881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9448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0008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5379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69031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1156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7292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98722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00274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75749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20674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33295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54670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291424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160059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206396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771283" name="Rectangle 1"/>
          <p:cNvSpPr/>
          <p:nvPr/>
        </p:nvSpPr>
        <p:spPr bwMode="auto">
          <a:xfrm>
            <a:off x="0" y="1828800"/>
            <a:ext cx="1828800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48053" name="TextBox 2"/>
          <p:cNvSpPr txBox="1"/>
          <p:nvPr/>
        </p:nvSpPr>
        <p:spPr bwMode="auto"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0000"/>
                </a:solidFill>
                <a:latin typeface="Arial Black"/>
              </a:defRPr>
            </a:pPr>
            <a:r>
              <a:rPr/>
              <a:t>BAGDROP</a:t>
            </a:r>
            <a:endParaRPr/>
          </a:p>
        </p:txBody>
      </p:sp>
      <p:sp>
        <p:nvSpPr>
          <p:cNvPr id="220560315" name="TextBox 3"/>
          <p:cNvSpPr txBox="1"/>
          <p:nvPr/>
        </p:nvSpPr>
        <p:spPr bwMode="auto"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2828"/>
                </a:solidFill>
                <a:latin typeface="Montserrat"/>
              </a:defRPr>
            </a:pPr>
            <a:r>
              <a:rPr/>
              <a:t>SMART LUGGAGE STORAGE &amp; DELIVERY</a:t>
            </a:r>
            <a:endParaRPr/>
          </a:p>
        </p:txBody>
      </p:sp>
      <p:sp>
        <p:nvSpPr>
          <p:cNvPr id="1906515050" name="TextBox 4"/>
          <p:cNvSpPr txBox="1"/>
          <p:nvPr/>
        </p:nvSpPr>
        <p:spPr bwMode="auto">
          <a:xfrm>
            <a:off x="1887537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82828"/>
                </a:solidFill>
                <a:latin typeface="Montserrat"/>
              </a:defRPr>
            </a:pPr>
            <a:r>
              <a:rPr/>
              <a:t>Secure. Contactless. Affordable.</a:t>
            </a:r>
            <a:endParaRPr/>
          </a:p>
        </p:txBody>
      </p:sp>
      <p:sp>
        <p:nvSpPr>
          <p:cNvPr id="30408554" name="TextBox 5"/>
          <p:cNvSpPr txBox="1"/>
          <p:nvPr/>
        </p:nvSpPr>
        <p:spPr bwMode="auto"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78"/>
                </a:solidFill>
                <a:latin typeface="Montserrat"/>
              </a:defRPr>
            </a:pPr>
            <a:r>
              <a:rPr/>
              <a:t>TeamBack | Kutch, Gujarat | January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503122" name="Rectangle 1"/>
          <p:cNvSpPr/>
          <p:nvPr/>
        </p:nvSpPr>
        <p:spPr bwMode="auto">
          <a:xfrm>
            <a:off x="9601200" y="0"/>
            <a:ext cx="2590495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7751418" name="TextBox 2"/>
          <p:cNvSpPr txBox="1"/>
          <p:nvPr/>
        </p:nvSpPr>
        <p:spPr bwMode="auto">
          <a:xfrm>
            <a:off x="73152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rPr/>
              <a:t>THE PROBLEM</a:t>
            </a:r>
            <a:endParaRPr/>
          </a:p>
        </p:txBody>
      </p:sp>
      <p:sp>
        <p:nvSpPr>
          <p:cNvPr id="728893395" name="TextBox 3"/>
          <p:cNvSpPr txBox="1"/>
          <p:nvPr/>
        </p:nvSpPr>
        <p:spPr bwMode="auto">
          <a:xfrm>
            <a:off x="73152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rPr/>
              <a:t>Travelers face a daily struggle with luggage</a:t>
            </a:r>
            <a:endParaRPr/>
          </a:p>
        </p:txBody>
      </p:sp>
      <p:sp>
        <p:nvSpPr>
          <p:cNvPr id="1142111366" name="Rectangle 4"/>
          <p:cNvSpPr/>
          <p:nvPr/>
        </p:nvSpPr>
        <p:spPr bwMode="auto">
          <a:xfrm>
            <a:off x="45720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040704" name="TextBox 5"/>
          <p:cNvSpPr txBox="1"/>
          <p:nvPr/>
        </p:nvSpPr>
        <p:spPr bwMode="auto">
          <a:xfrm>
            <a:off x="73152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rPr/>
              <a:t>EARLY CHECKOUT, LATE DEPARTURE</a:t>
            </a:r>
            <a:br>
              <a:rPr/>
            </a:br>
            <a:r>
              <a:rPr/>
              <a:t>Hotels force checkout but flights are hours away</a:t>
            </a:r>
            <a:endParaRPr/>
          </a:p>
        </p:txBody>
      </p:sp>
      <p:sp>
        <p:nvSpPr>
          <p:cNvPr id="663958126" name="Rectangle 6"/>
          <p:cNvSpPr/>
          <p:nvPr/>
        </p:nvSpPr>
        <p:spPr bwMode="auto">
          <a:xfrm>
            <a:off x="621792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7612096" name="TextBox 7"/>
          <p:cNvSpPr txBox="1"/>
          <p:nvPr/>
        </p:nvSpPr>
        <p:spPr bwMode="auto">
          <a:xfrm>
            <a:off x="649224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rPr/>
              <a:t>HEAVY BAGS, RUINED PLANS</a:t>
            </a:r>
            <a:br>
              <a:rPr/>
            </a:br>
            <a:r>
              <a:rPr/>
              <a:t>Dragging luggage kills the travel experience</a:t>
            </a:r>
            <a:endParaRPr/>
          </a:p>
        </p:txBody>
      </p:sp>
      <p:sp>
        <p:nvSpPr>
          <p:cNvPr id="1628768141" name="Rectangle 8"/>
          <p:cNvSpPr/>
          <p:nvPr/>
        </p:nvSpPr>
        <p:spPr bwMode="auto">
          <a:xfrm>
            <a:off x="45720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878703" name="TextBox 9"/>
          <p:cNvSpPr txBox="1"/>
          <p:nvPr/>
        </p:nvSpPr>
        <p:spPr bwMode="auto">
          <a:xfrm>
            <a:off x="73152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rPr/>
              <a:t>CLOAKROOMS? OVERPRICED</a:t>
            </a:r>
            <a:br>
              <a:rPr/>
            </a:br>
            <a:r>
              <a:rPr/>
              <a:t>Railway lockers cost ₹100+/day, often full</a:t>
            </a:r>
            <a:endParaRPr/>
          </a:p>
        </p:txBody>
      </p:sp>
      <p:sp>
        <p:nvSpPr>
          <p:cNvPr id="48035964" name="Rectangle 10"/>
          <p:cNvSpPr/>
          <p:nvPr/>
        </p:nvSpPr>
        <p:spPr bwMode="auto">
          <a:xfrm>
            <a:off x="621792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256621" name="TextBox 11"/>
          <p:cNvSpPr txBox="1"/>
          <p:nvPr/>
        </p:nvSpPr>
        <p:spPr bwMode="auto">
          <a:xfrm>
            <a:off x="649224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rPr/>
              <a:t>FORGOT YOUR BAG?</a:t>
            </a:r>
            <a:br>
              <a:rPr/>
            </a:br>
            <a:r>
              <a:rPr/>
              <a:t>No easy way to retrieve forgotten luggage</a:t>
            </a:r>
            <a:endParaRPr/>
          </a:p>
        </p:txBody>
      </p:sp>
      <p:sp>
        <p:nvSpPr>
          <p:cNvPr id="1531231162" name="Rectangle 12"/>
          <p:cNvSpPr/>
          <p:nvPr/>
        </p:nvSpPr>
        <p:spPr bwMode="auto">
          <a:xfrm>
            <a:off x="457200" y="5669280"/>
            <a:ext cx="1127729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798451" name="TextBox 13"/>
          <p:cNvSpPr txBox="1"/>
          <p:nvPr/>
        </p:nvSpPr>
        <p:spPr bwMode="auto"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70% of travelers have faced luggage hassles during their trip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597896" name="Rectangle 1"/>
          <p:cNvSpPr/>
          <p:nvPr/>
        </p:nvSpPr>
        <p:spPr bwMode="auto">
          <a:xfrm>
            <a:off x="0" y="0"/>
            <a:ext cx="2743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6591595" name="TextBox 2"/>
          <p:cNvSpPr txBox="1"/>
          <p:nvPr/>
        </p:nvSpPr>
        <p:spPr bwMode="auto"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rPr/>
              <a:t>THE SOLUTION</a:t>
            </a:r>
            <a:endParaRPr/>
          </a:p>
        </p:txBody>
      </p:sp>
      <p:sp>
        <p:nvSpPr>
          <p:cNvPr id="1686104896" name="TextBox 3"/>
          <p:cNvSpPr txBox="1"/>
          <p:nvPr/>
        </p:nvSpPr>
        <p:spPr bwMode="auto"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ontserrat"/>
              </a:defRPr>
            </a:pPr>
            <a:r>
              <a:rPr/>
              <a:t>Store your bags anywhere. Pick them up anytime.</a:t>
            </a:r>
            <a:endParaRPr/>
          </a:p>
        </p:txBody>
      </p:sp>
      <p:sp>
        <p:nvSpPr>
          <p:cNvPr id="704258113" name="Rectangle 4"/>
          <p:cNvSpPr/>
          <p:nvPr/>
        </p:nvSpPr>
        <p:spPr bwMode="auto">
          <a:xfrm>
            <a:off x="731520" y="274320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2649513" name="TextBox 5"/>
          <p:cNvSpPr txBox="1"/>
          <p:nvPr/>
        </p:nvSpPr>
        <p:spPr bwMode="auto">
          <a:xfrm>
            <a:off x="109728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rPr/>
              <a:t>NEIGHBORHOOD NETWORK</a:t>
            </a:r>
            <a:br>
              <a:rPr/>
            </a:br>
            <a:r>
              <a:rPr/>
              <a:t>We partner with verified local shops, cafes &amp; hotels</a:t>
            </a:r>
            <a:endParaRPr/>
          </a:p>
        </p:txBody>
      </p:sp>
      <p:sp>
        <p:nvSpPr>
          <p:cNvPr id="755277460" name="Rectangle 6"/>
          <p:cNvSpPr/>
          <p:nvPr/>
        </p:nvSpPr>
        <p:spPr bwMode="auto">
          <a:xfrm>
            <a:off x="731520" y="384048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5216116" name="TextBox 7"/>
          <p:cNvSpPr txBox="1"/>
          <p:nvPr/>
        </p:nvSpPr>
        <p:spPr bwMode="auto"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rPr/>
              <a:t>INSTANT ACCESS</a:t>
            </a:r>
            <a:br>
              <a:rPr/>
            </a:br>
            <a:r>
              <a:rPr/>
              <a:t>Book via app, drop bag, get secure OTP or NFC token</a:t>
            </a:r>
            <a:endParaRPr/>
          </a:p>
        </p:txBody>
      </p:sp>
      <p:sp>
        <p:nvSpPr>
          <p:cNvPr id="804989722" name="Rectangle 8"/>
          <p:cNvSpPr/>
          <p:nvPr/>
        </p:nvSpPr>
        <p:spPr bwMode="auto">
          <a:xfrm>
            <a:off x="731520" y="493776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635839" name="TextBox 9"/>
          <p:cNvSpPr txBox="1"/>
          <p:nvPr/>
        </p:nvSpPr>
        <p:spPr bwMode="auto">
          <a:xfrm>
            <a:off x="1097280" y="4937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rPr/>
              <a:t>FORGOTTEN LUGGAGE? DELIVERED</a:t>
            </a:r>
            <a:br>
              <a:rPr/>
            </a:br>
            <a:r>
              <a:rPr/>
              <a:t>We'll courier it anywhere in India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500518" name="Rectangle 1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760149" name="TextBox 2"/>
          <p:cNvSpPr txBox="1"/>
          <p:nvPr/>
        </p:nvSpPr>
        <p:spPr bwMode="auto"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rPr/>
              <a:t>WHY GUJARAT?</a:t>
            </a:r>
            <a:endParaRPr/>
          </a:p>
        </p:txBody>
      </p:sp>
      <p:sp>
        <p:nvSpPr>
          <p:cNvPr id="526593493" name="Rectangle 3"/>
          <p:cNvSpPr/>
          <p:nvPr/>
        </p:nvSpPr>
        <p:spPr bwMode="auto">
          <a:xfrm>
            <a:off x="914400" y="164592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1292314" name="TextBox 4"/>
          <p:cNvSpPr txBox="1"/>
          <p:nvPr/>
        </p:nvSpPr>
        <p:spPr bwMode="auto">
          <a:xfrm>
            <a:off x="11887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TOURIST HUB</a:t>
            </a:r>
            <a:endParaRPr/>
          </a:p>
        </p:txBody>
      </p:sp>
      <p:sp>
        <p:nvSpPr>
          <p:cNvPr id="446956437" name="TextBox 5"/>
          <p:cNvSpPr txBox="1"/>
          <p:nvPr/>
        </p:nvSpPr>
        <p:spPr bwMode="auto">
          <a:xfrm>
            <a:off x="4572000" y="1645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Rann Utsav: 5 Lakh+ visitors annually</a:t>
            </a:r>
            <a:endParaRPr/>
          </a:p>
        </p:txBody>
      </p:sp>
      <p:sp>
        <p:nvSpPr>
          <p:cNvPr id="103831963" name="Rectangle 6"/>
          <p:cNvSpPr/>
          <p:nvPr/>
        </p:nvSpPr>
        <p:spPr bwMode="auto">
          <a:xfrm>
            <a:off x="914400" y="246888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1541576" name="TextBox 7"/>
          <p:cNvSpPr txBox="1"/>
          <p:nvPr/>
        </p:nvSpPr>
        <p:spPr bwMode="auto">
          <a:xfrm>
            <a:off x="1188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TRANSIT POINTS</a:t>
            </a:r>
            <a:endParaRPr/>
          </a:p>
        </p:txBody>
      </p:sp>
      <p:sp>
        <p:nvSpPr>
          <p:cNvPr id="1434034845" name="TextBox 8"/>
          <p:cNvSpPr txBox="1"/>
          <p:nvPr/>
        </p:nvSpPr>
        <p:spPr bwMode="auto">
          <a:xfrm>
            <a:off x="4572000" y="2468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Bhuj Railway, Gandhidham Junction</a:t>
            </a:r>
            <a:endParaRPr/>
          </a:p>
        </p:txBody>
      </p:sp>
      <p:sp>
        <p:nvSpPr>
          <p:cNvPr id="1108869535" name="Rectangle 9"/>
          <p:cNvSpPr/>
          <p:nvPr/>
        </p:nvSpPr>
        <p:spPr bwMode="auto">
          <a:xfrm>
            <a:off x="914400" y="329184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7500024" name="TextBox 10"/>
          <p:cNvSpPr txBox="1"/>
          <p:nvPr/>
        </p:nvSpPr>
        <p:spPr bwMode="auto">
          <a:xfrm>
            <a:off x="11887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GROWTH</a:t>
            </a:r>
            <a:endParaRPr/>
          </a:p>
        </p:txBody>
      </p:sp>
      <p:sp>
        <p:nvSpPr>
          <p:cNvPr id="1380503906" name="TextBox 11"/>
          <p:cNvSpPr txBox="1"/>
          <p:nvPr/>
        </p:nvSpPr>
        <p:spPr bwMode="auto">
          <a:xfrm>
            <a:off x="4572000" y="3291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Gujarat tourism growing at 12% CAGR</a:t>
            </a:r>
            <a:endParaRPr/>
          </a:p>
        </p:txBody>
      </p:sp>
      <p:sp>
        <p:nvSpPr>
          <p:cNvPr id="56193339" name="Rectangle 12"/>
          <p:cNvSpPr/>
          <p:nvPr/>
        </p:nvSpPr>
        <p:spPr bwMode="auto">
          <a:xfrm>
            <a:off x="914400" y="411480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7246539" name="TextBox 13"/>
          <p:cNvSpPr txBox="1"/>
          <p:nvPr/>
        </p:nvSpPr>
        <p:spPr bwMode="auto">
          <a:xfrm>
            <a:off x="11887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STRATEGIC</a:t>
            </a:r>
            <a:endParaRPr/>
          </a:p>
        </p:txBody>
      </p:sp>
      <p:sp>
        <p:nvSpPr>
          <p:cNvPr id="1286584181" name="TextBox 14"/>
          <p:cNvSpPr txBox="1"/>
          <p:nvPr/>
        </p:nvSpPr>
        <p:spPr bwMode="auto"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Gateway to Rann, near Mundra Port</a:t>
            </a:r>
            <a:endParaRPr/>
          </a:p>
        </p:txBody>
      </p:sp>
      <p:sp>
        <p:nvSpPr>
          <p:cNvPr id="1474246773" name="Rectangle 15"/>
          <p:cNvSpPr/>
          <p:nvPr/>
        </p:nvSpPr>
        <p:spPr bwMode="auto">
          <a:xfrm>
            <a:off x="914400" y="493776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907236" name="TextBox 16"/>
          <p:cNvSpPr txBox="1"/>
          <p:nvPr/>
        </p:nvSpPr>
        <p:spPr bwMode="auto">
          <a:xfrm>
            <a:off x="118872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CULTURE</a:t>
            </a:r>
            <a:endParaRPr/>
          </a:p>
        </p:txBody>
      </p:sp>
      <p:sp>
        <p:nvSpPr>
          <p:cNvPr id="872785919" name="TextBox 17"/>
          <p:cNvSpPr txBox="1"/>
          <p:nvPr/>
        </p:nvSpPr>
        <p:spPr bwMode="auto">
          <a:xfrm>
            <a:off x="457200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Dholavira, handicrafts, year-round tourism</a:t>
            </a:r>
            <a:endParaRPr/>
          </a:p>
        </p:txBody>
      </p:sp>
      <p:sp>
        <p:nvSpPr>
          <p:cNvPr id="436633389" name="TextBox 20"/>
          <p:cNvSpPr txBox="1"/>
          <p:nvPr/>
        </p:nvSpPr>
        <p:spPr bwMode="auto">
          <a:xfrm>
            <a:off x="8030368" y="6179978"/>
            <a:ext cx="402372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/>
              <a:t>Annual Gujarat Tourists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819500" name="Rectangle 1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7139973" name="TextBox 2"/>
          <p:cNvSpPr txBox="1"/>
          <p:nvPr/>
        </p:nvSpPr>
        <p:spPr bwMode="auto"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TARGET MARKET</a:t>
            </a:r>
            <a:endParaRPr/>
          </a:p>
        </p:txBody>
      </p:sp>
      <p:sp>
        <p:nvSpPr>
          <p:cNvPr id="18543748" name="Rectangle 3"/>
          <p:cNvSpPr/>
          <p:nvPr/>
        </p:nvSpPr>
        <p:spPr bwMode="auto">
          <a:xfrm>
            <a:off x="914400" y="1463040"/>
            <a:ext cx="50292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7043141" name="TextBox 4"/>
          <p:cNvSpPr txBox="1"/>
          <p:nvPr/>
        </p:nvSpPr>
        <p:spPr bwMode="auto">
          <a:xfrm>
            <a:off x="1097280" y="1691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TOURISTS &amp; BACKPACKERS</a:t>
            </a:r>
            <a:endParaRPr/>
          </a:p>
        </p:txBody>
      </p:sp>
      <p:sp>
        <p:nvSpPr>
          <p:cNvPr id="1982664647" name="Rectangle 5"/>
          <p:cNvSpPr/>
          <p:nvPr/>
        </p:nvSpPr>
        <p:spPr bwMode="auto">
          <a:xfrm>
            <a:off x="5943600" y="1463040"/>
            <a:ext cx="57607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9599540" name="TextBox 6"/>
          <p:cNvSpPr txBox="1"/>
          <p:nvPr/>
        </p:nvSpPr>
        <p:spPr bwMode="auto">
          <a:xfrm>
            <a:off x="612648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Rann Utsav visitors, sightseers, 18-45 years</a:t>
            </a:r>
            <a:endParaRPr/>
          </a:p>
        </p:txBody>
      </p:sp>
      <p:sp>
        <p:nvSpPr>
          <p:cNvPr id="1392550985" name="Rectangle 7"/>
          <p:cNvSpPr/>
          <p:nvPr/>
        </p:nvSpPr>
        <p:spPr bwMode="auto">
          <a:xfrm>
            <a:off x="914400" y="2468880"/>
            <a:ext cx="502920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1243220" name="TextBox 8"/>
          <p:cNvSpPr txBox="1"/>
          <p:nvPr/>
        </p:nvSpPr>
        <p:spPr bwMode="auto"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/>
              <a:t>TRAIN &amp; BUS TRAVELERS</a:t>
            </a:r>
            <a:endParaRPr/>
          </a:p>
        </p:txBody>
      </p:sp>
      <p:sp>
        <p:nvSpPr>
          <p:cNvPr id="943026650" name="Rectangle 9"/>
          <p:cNvSpPr/>
          <p:nvPr/>
        </p:nvSpPr>
        <p:spPr bwMode="auto">
          <a:xfrm>
            <a:off x="5943600" y="2468880"/>
            <a:ext cx="57607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30490" name="TextBox 10"/>
          <p:cNvSpPr txBox="1"/>
          <p:nvPr/>
        </p:nvSpPr>
        <p:spPr bwMode="auto">
          <a:xfrm>
            <a:off x="6126480" y="2697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Inter-city commuters, layover travelers</a:t>
            </a:r>
            <a:endParaRPr/>
          </a:p>
        </p:txBody>
      </p:sp>
      <p:sp>
        <p:nvSpPr>
          <p:cNvPr id="1408430767" name="Rectangle 11"/>
          <p:cNvSpPr/>
          <p:nvPr/>
        </p:nvSpPr>
        <p:spPr bwMode="auto">
          <a:xfrm>
            <a:off x="914400" y="3474720"/>
            <a:ext cx="50292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1505956" name="TextBox 12"/>
          <p:cNvSpPr txBox="1"/>
          <p:nvPr/>
        </p:nvSpPr>
        <p:spPr bwMode="auto">
          <a:xfrm>
            <a:off x="1097280" y="3703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STUDENTS</a:t>
            </a:r>
            <a:endParaRPr/>
          </a:p>
        </p:txBody>
      </p:sp>
      <p:sp>
        <p:nvSpPr>
          <p:cNvPr id="1634664301" name="Rectangle 13"/>
          <p:cNvSpPr/>
          <p:nvPr/>
        </p:nvSpPr>
        <p:spPr bwMode="auto">
          <a:xfrm>
            <a:off x="5943600" y="3474720"/>
            <a:ext cx="57607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7480648" name="TextBox 14"/>
          <p:cNvSpPr txBox="1"/>
          <p:nvPr/>
        </p:nvSpPr>
        <p:spPr bwMode="auto">
          <a:xfrm>
            <a:off x="6126480" y="3703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Budget-conscious, exam/interview travel</a:t>
            </a:r>
            <a:endParaRPr/>
          </a:p>
        </p:txBody>
      </p:sp>
      <p:sp>
        <p:nvSpPr>
          <p:cNvPr id="354199271" name="Rectangle 15"/>
          <p:cNvSpPr/>
          <p:nvPr/>
        </p:nvSpPr>
        <p:spPr bwMode="auto">
          <a:xfrm>
            <a:off x="914400" y="4480560"/>
            <a:ext cx="502920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265379" name="TextBox 16"/>
          <p:cNvSpPr txBox="1"/>
          <p:nvPr/>
        </p:nvSpPr>
        <p:spPr bwMode="auto">
          <a:xfrm>
            <a:off x="1097280" y="4709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/>
              <a:t>BUSINESS TRAVELERS</a:t>
            </a:r>
            <a:endParaRPr/>
          </a:p>
        </p:txBody>
      </p:sp>
      <p:sp>
        <p:nvSpPr>
          <p:cNvPr id="1235481496" name="Rectangle 17"/>
          <p:cNvSpPr/>
          <p:nvPr/>
        </p:nvSpPr>
        <p:spPr bwMode="auto">
          <a:xfrm>
            <a:off x="5943600" y="4480560"/>
            <a:ext cx="57607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256003" name="TextBox 18"/>
          <p:cNvSpPr txBox="1"/>
          <p:nvPr/>
        </p:nvSpPr>
        <p:spPr bwMode="auto">
          <a:xfrm>
            <a:off x="6126480" y="4709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Premium service, NFC preferred, 28-50 years</a:t>
            </a:r>
            <a:endParaRPr/>
          </a:p>
        </p:txBody>
      </p:sp>
      <p:sp>
        <p:nvSpPr>
          <p:cNvPr id="1066101636" name="Rectangle 19"/>
          <p:cNvSpPr/>
          <p:nvPr/>
        </p:nvSpPr>
        <p:spPr bwMode="auto">
          <a:xfrm>
            <a:off x="914400" y="5486400"/>
            <a:ext cx="50292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785538" name="TextBox 20"/>
          <p:cNvSpPr txBox="1"/>
          <p:nvPr/>
        </p:nvSpPr>
        <p:spPr bwMode="auto">
          <a:xfrm>
            <a:off x="1097280" y="5715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FORGOTTEN LUGGAGE</a:t>
            </a:r>
            <a:endParaRPr/>
          </a:p>
        </p:txBody>
      </p:sp>
      <p:sp>
        <p:nvSpPr>
          <p:cNvPr id="1918192679" name="Rectangle 21"/>
          <p:cNvSpPr/>
          <p:nvPr/>
        </p:nvSpPr>
        <p:spPr bwMode="auto">
          <a:xfrm>
            <a:off x="5943600" y="5486400"/>
            <a:ext cx="576072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511502" name="TextBox 22"/>
          <p:cNvSpPr txBox="1"/>
          <p:nvPr/>
        </p:nvSpPr>
        <p:spPr bwMode="auto">
          <a:xfrm>
            <a:off x="6126480" y="5715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High-value delivery service, all ages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758522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rPr/>
              <a:t>MARKET OPPORTUNITY</a:t>
            </a:r>
            <a:endParaRPr/>
          </a:p>
        </p:txBody>
      </p:sp>
      <p:sp>
        <p:nvSpPr>
          <p:cNvPr id="1370093274" name="Rectangle 2"/>
          <p:cNvSpPr/>
          <p:nvPr/>
        </p:nvSpPr>
        <p:spPr bwMode="auto">
          <a:xfrm>
            <a:off x="457200" y="1371600"/>
            <a:ext cx="3657600" cy="1828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3563970" name="TextBox 3"/>
          <p:cNvSpPr txBox="1"/>
          <p:nvPr/>
        </p:nvSpPr>
        <p:spPr bwMode="auto">
          <a:xfrm>
            <a:off x="45720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rPr/>
              <a:t>₹2,000+ Cr</a:t>
            </a:r>
            <a:endParaRPr/>
          </a:p>
        </p:txBody>
      </p:sp>
      <p:sp>
        <p:nvSpPr>
          <p:cNvPr id="547537697" name="TextBox 4"/>
          <p:cNvSpPr txBox="1"/>
          <p:nvPr/>
        </p:nvSpPr>
        <p:spPr bwMode="auto">
          <a:xfrm>
            <a:off x="4572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TAM</a:t>
            </a:r>
            <a:endParaRPr/>
          </a:p>
        </p:txBody>
      </p:sp>
      <p:sp>
        <p:nvSpPr>
          <p:cNvPr id="1383013273" name="TextBox 5"/>
          <p:cNvSpPr txBox="1"/>
          <p:nvPr/>
        </p:nvSpPr>
        <p:spPr bwMode="auto"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Montserrat"/>
              </a:defRPr>
            </a:pPr>
            <a:r>
              <a:rPr/>
              <a:t>Total Addressable</a:t>
            </a:r>
            <a:endParaRPr/>
          </a:p>
        </p:txBody>
      </p:sp>
      <p:sp>
        <p:nvSpPr>
          <p:cNvPr id="1882899340" name="Rectangle 6"/>
          <p:cNvSpPr/>
          <p:nvPr/>
        </p:nvSpPr>
        <p:spPr bwMode="auto">
          <a:xfrm>
            <a:off x="4297680" y="1371600"/>
            <a:ext cx="3657600" cy="1828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3599015" name="TextBox 7"/>
          <p:cNvSpPr txBox="1"/>
          <p:nvPr/>
        </p:nvSpPr>
        <p:spPr bwMode="auto">
          <a:xfrm>
            <a:off x="429768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ontserrat"/>
              </a:defRPr>
            </a:pPr>
            <a:r>
              <a:rPr/>
              <a:t>₹500 Cr</a:t>
            </a:r>
            <a:endParaRPr/>
          </a:p>
        </p:txBody>
      </p:sp>
      <p:sp>
        <p:nvSpPr>
          <p:cNvPr id="1734389058" name="TextBox 8"/>
          <p:cNvSpPr txBox="1"/>
          <p:nvPr/>
        </p:nvSpPr>
        <p:spPr bwMode="auto">
          <a:xfrm>
            <a:off x="429768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SAM</a:t>
            </a:r>
            <a:endParaRPr/>
          </a:p>
        </p:txBody>
      </p:sp>
      <p:sp>
        <p:nvSpPr>
          <p:cNvPr id="1056150414" name="TextBox 9"/>
          <p:cNvSpPr txBox="1"/>
          <p:nvPr/>
        </p:nvSpPr>
        <p:spPr bwMode="auto">
          <a:xfrm>
            <a:off x="429768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Montserrat"/>
              </a:defRPr>
            </a:pPr>
            <a:r>
              <a:rPr/>
              <a:t>Serviceable Market</a:t>
            </a:r>
            <a:endParaRPr/>
          </a:p>
        </p:txBody>
      </p:sp>
      <p:sp>
        <p:nvSpPr>
          <p:cNvPr id="552311875" name="Rectangle 10"/>
          <p:cNvSpPr/>
          <p:nvPr/>
        </p:nvSpPr>
        <p:spPr bwMode="auto">
          <a:xfrm>
            <a:off x="8138160" y="1371600"/>
            <a:ext cx="365760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8424972" name="TextBox 11"/>
          <p:cNvSpPr txBox="1"/>
          <p:nvPr/>
        </p:nvSpPr>
        <p:spPr bwMode="auto">
          <a:xfrm>
            <a:off x="813816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Montserrat"/>
              </a:defRPr>
            </a:pPr>
            <a:r>
              <a:rPr/>
              <a:t>₹36 Lakh</a:t>
            </a:r>
            <a:endParaRPr/>
          </a:p>
        </p:txBody>
      </p:sp>
      <p:sp>
        <p:nvSpPr>
          <p:cNvPr id="188762233" name="TextBox 12"/>
          <p:cNvSpPr txBox="1"/>
          <p:nvPr/>
        </p:nvSpPr>
        <p:spPr bwMode="auto">
          <a:xfrm>
            <a:off x="81381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rPr/>
              <a:t>SOM</a:t>
            </a:r>
            <a:endParaRPr/>
          </a:p>
        </p:txBody>
      </p:sp>
      <p:sp>
        <p:nvSpPr>
          <p:cNvPr id="877969752" name="TextBox 13"/>
          <p:cNvSpPr txBox="1"/>
          <p:nvPr/>
        </p:nvSpPr>
        <p:spPr bwMode="auto">
          <a:xfrm>
            <a:off x="813816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Year 1 Target</a:t>
            </a:r>
            <a:endParaRPr/>
          </a:p>
        </p:txBody>
      </p:sp>
      <p:sp>
        <p:nvSpPr>
          <p:cNvPr id="229189637" name="TextBox 14"/>
          <p:cNvSpPr txBox="1"/>
          <p:nvPr/>
        </p:nvSpPr>
        <p:spPr bwMode="auto">
          <a:xfrm>
            <a:off x="731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/>
              <a:t>GUJARAT:</a:t>
            </a:r>
            <a:br>
              <a:rPr/>
            </a:br>
            <a:r>
              <a:rPr/>
              <a:t>• 5.5 Cr domestic tourists</a:t>
            </a:r>
            <a:br>
              <a:rPr/>
            </a:br>
            <a:r>
              <a:rPr/>
              <a:t>• 5.2 Lakh foreign tourists</a:t>
            </a:r>
            <a:br>
              <a:rPr/>
            </a:br>
            <a:r>
              <a:rPr/>
              <a:t>• 12% CAGR growth</a:t>
            </a:r>
            <a:endParaRPr/>
          </a:p>
        </p:txBody>
      </p:sp>
      <p:sp>
        <p:nvSpPr>
          <p:cNvPr id="653987887" name="TextBox 15"/>
          <p:cNvSpPr txBox="1"/>
          <p:nvPr/>
        </p:nvSpPr>
        <p:spPr bwMode="auto">
          <a:xfrm>
            <a:off x="640080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/>
              <a:t>INDIA:</a:t>
            </a:r>
            <a:br>
              <a:rPr/>
            </a:br>
            <a:r>
              <a:rPr/>
              <a:t>• 2,400 Cr railway passengers</a:t>
            </a:r>
            <a:br>
              <a:rPr/>
            </a:br>
            <a:r>
              <a:rPr/>
              <a:t>• 15 Cr air passengers</a:t>
            </a:r>
            <a:br>
              <a:rPr/>
            </a:br>
            <a:r>
              <a:rPr/>
              <a:t>• ₹15 Lakh Cr tourism GDP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96624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BUSINESS MODEL</a:t>
            </a:r>
            <a:endParaRPr/>
          </a:p>
        </p:txBody>
      </p:sp>
      <p:sp>
        <p:nvSpPr>
          <p:cNvPr id="1800341019" name="Rectangle 2"/>
          <p:cNvSpPr/>
          <p:nvPr/>
        </p:nvSpPr>
        <p:spPr bwMode="auto">
          <a:xfrm>
            <a:off x="457200" y="1280160"/>
            <a:ext cx="3749039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7233761" name="TextBox 3"/>
          <p:cNvSpPr txBox="1"/>
          <p:nvPr/>
        </p:nvSpPr>
        <p:spPr bwMode="auto">
          <a:xfrm>
            <a:off x="457200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REVENUE STREAM</a:t>
            </a:r>
            <a:endParaRPr/>
          </a:p>
        </p:txBody>
      </p:sp>
      <p:sp>
        <p:nvSpPr>
          <p:cNvPr id="1484700276" name="Rectangle 4"/>
          <p:cNvSpPr/>
          <p:nvPr/>
        </p:nvSpPr>
        <p:spPr bwMode="auto">
          <a:xfrm>
            <a:off x="4206240" y="1280160"/>
            <a:ext cx="3749039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499538" name="TextBox 5"/>
          <p:cNvSpPr txBox="1"/>
          <p:nvPr/>
        </p:nvSpPr>
        <p:spPr bwMode="auto">
          <a:xfrm>
            <a:off x="4206240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MARGIN</a:t>
            </a:r>
            <a:endParaRPr/>
          </a:p>
        </p:txBody>
      </p:sp>
      <p:sp>
        <p:nvSpPr>
          <p:cNvPr id="753511481" name="Rectangle 6"/>
          <p:cNvSpPr/>
          <p:nvPr/>
        </p:nvSpPr>
        <p:spPr bwMode="auto">
          <a:xfrm>
            <a:off x="7955279" y="1280160"/>
            <a:ext cx="3749039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580358" name="TextBox 7"/>
          <p:cNvSpPr txBox="1"/>
          <p:nvPr/>
        </p:nvSpPr>
        <p:spPr bwMode="auto">
          <a:xfrm>
            <a:off x="7955279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PRICING</a:t>
            </a:r>
            <a:endParaRPr/>
          </a:p>
        </p:txBody>
      </p:sp>
      <p:sp>
        <p:nvSpPr>
          <p:cNvPr id="795746619" name="Rectangle 8"/>
          <p:cNvSpPr/>
          <p:nvPr/>
        </p:nvSpPr>
        <p:spPr bwMode="auto">
          <a:xfrm>
            <a:off x="457200" y="173736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899524" name="TextBox 9"/>
          <p:cNvSpPr txBox="1"/>
          <p:nvPr/>
        </p:nvSpPr>
        <p:spPr bwMode="auto">
          <a:xfrm>
            <a:off x="594360" y="1874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Montserrat"/>
              </a:defRPr>
            </a:pPr>
            <a:r>
              <a:rPr/>
              <a:t>STORAGE FEES</a:t>
            </a:r>
            <a:endParaRPr/>
          </a:p>
        </p:txBody>
      </p:sp>
      <p:sp>
        <p:nvSpPr>
          <p:cNvPr id="175278855" name="Rectangle 10"/>
          <p:cNvSpPr/>
          <p:nvPr/>
        </p:nvSpPr>
        <p:spPr bwMode="auto">
          <a:xfrm>
            <a:off x="4206240" y="173736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2862584" name="TextBox 11"/>
          <p:cNvSpPr txBox="1"/>
          <p:nvPr/>
        </p:nvSpPr>
        <p:spPr bwMode="auto">
          <a:xfrm>
            <a:off x="4343400" y="1874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30%</a:t>
            </a:r>
            <a:endParaRPr/>
          </a:p>
        </p:txBody>
      </p:sp>
      <p:sp>
        <p:nvSpPr>
          <p:cNvPr id="1157754771" name="Rectangle 12"/>
          <p:cNvSpPr/>
          <p:nvPr/>
        </p:nvSpPr>
        <p:spPr bwMode="auto">
          <a:xfrm>
            <a:off x="7955279" y="173736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794946" name="TextBox 13"/>
          <p:cNvSpPr txBox="1"/>
          <p:nvPr/>
        </p:nvSpPr>
        <p:spPr bwMode="auto">
          <a:xfrm>
            <a:off x="8092439" y="1874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₹50-200/booking</a:t>
            </a:r>
            <a:endParaRPr/>
          </a:p>
        </p:txBody>
      </p:sp>
      <p:sp>
        <p:nvSpPr>
          <p:cNvPr id="752247387" name="Rectangle 14"/>
          <p:cNvSpPr/>
          <p:nvPr/>
        </p:nvSpPr>
        <p:spPr bwMode="auto">
          <a:xfrm>
            <a:off x="457200" y="233172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2975135" name="TextBox 15"/>
          <p:cNvSpPr txBox="1"/>
          <p:nvPr/>
        </p:nvSpPr>
        <p:spPr bwMode="auto">
          <a:xfrm>
            <a:off x="59436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Montserrat"/>
              </a:defRPr>
            </a:pPr>
            <a:r>
              <a:rPr/>
              <a:t>DELIVERY FEES</a:t>
            </a:r>
            <a:endParaRPr/>
          </a:p>
        </p:txBody>
      </p:sp>
      <p:sp>
        <p:nvSpPr>
          <p:cNvPr id="1077381631" name="Rectangle 16"/>
          <p:cNvSpPr/>
          <p:nvPr/>
        </p:nvSpPr>
        <p:spPr bwMode="auto">
          <a:xfrm>
            <a:off x="4206240" y="233172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5425625" name="TextBox 17"/>
          <p:cNvSpPr txBox="1"/>
          <p:nvPr/>
        </p:nvSpPr>
        <p:spPr bwMode="auto">
          <a:xfrm>
            <a:off x="434340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20%</a:t>
            </a:r>
            <a:endParaRPr/>
          </a:p>
        </p:txBody>
      </p:sp>
      <p:sp>
        <p:nvSpPr>
          <p:cNvPr id="1580625866" name="Rectangle 18"/>
          <p:cNvSpPr/>
          <p:nvPr/>
        </p:nvSpPr>
        <p:spPr bwMode="auto">
          <a:xfrm>
            <a:off x="7955279" y="233172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800718" name="TextBox 19"/>
          <p:cNvSpPr txBox="1"/>
          <p:nvPr/>
        </p:nvSpPr>
        <p:spPr bwMode="auto">
          <a:xfrm>
            <a:off x="8092439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₹300-1,500</a:t>
            </a:r>
            <a:endParaRPr/>
          </a:p>
        </p:txBody>
      </p:sp>
      <p:sp>
        <p:nvSpPr>
          <p:cNvPr id="253873157" name="Rectangle 20"/>
          <p:cNvSpPr/>
          <p:nvPr/>
        </p:nvSpPr>
        <p:spPr bwMode="auto">
          <a:xfrm>
            <a:off x="457200" y="292608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6152367" name="TextBox 21"/>
          <p:cNvSpPr txBox="1"/>
          <p:nvPr/>
        </p:nvSpPr>
        <p:spPr bwMode="auto">
          <a:xfrm>
            <a:off x="59436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Montserrat"/>
              </a:defRPr>
            </a:pPr>
            <a:r>
              <a:rPr/>
              <a:t>NFC TOKENS</a:t>
            </a:r>
            <a:endParaRPr/>
          </a:p>
        </p:txBody>
      </p:sp>
      <p:sp>
        <p:nvSpPr>
          <p:cNvPr id="2039278579" name="Rectangle 22"/>
          <p:cNvSpPr/>
          <p:nvPr/>
        </p:nvSpPr>
        <p:spPr bwMode="auto">
          <a:xfrm>
            <a:off x="4206240" y="292608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51467" name="TextBox 23"/>
          <p:cNvSpPr txBox="1"/>
          <p:nvPr/>
        </p:nvSpPr>
        <p:spPr bwMode="auto">
          <a:xfrm>
            <a:off x="4343400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100%</a:t>
            </a:r>
            <a:endParaRPr/>
          </a:p>
        </p:txBody>
      </p:sp>
      <p:sp>
        <p:nvSpPr>
          <p:cNvPr id="792051950" name="Rectangle 24"/>
          <p:cNvSpPr/>
          <p:nvPr/>
        </p:nvSpPr>
        <p:spPr bwMode="auto">
          <a:xfrm>
            <a:off x="7955279" y="292608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9516" name="TextBox 25"/>
          <p:cNvSpPr txBox="1"/>
          <p:nvPr/>
        </p:nvSpPr>
        <p:spPr bwMode="auto">
          <a:xfrm>
            <a:off x="8092439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₹199 one-time</a:t>
            </a:r>
            <a:endParaRPr/>
          </a:p>
        </p:txBody>
      </p:sp>
      <p:sp>
        <p:nvSpPr>
          <p:cNvPr id="1193659295" name="Rectangle 26"/>
          <p:cNvSpPr/>
          <p:nvPr/>
        </p:nvSpPr>
        <p:spPr bwMode="auto">
          <a:xfrm>
            <a:off x="457200" y="352044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874286" name="TextBox 27"/>
          <p:cNvSpPr txBox="1"/>
          <p:nvPr/>
        </p:nvSpPr>
        <p:spPr bwMode="auto">
          <a:xfrm>
            <a:off x="59436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Montserrat"/>
              </a:defRPr>
            </a:pPr>
            <a:r>
              <a:rPr/>
              <a:t>KIOSK ADS</a:t>
            </a:r>
            <a:endParaRPr/>
          </a:p>
        </p:txBody>
      </p:sp>
      <p:sp>
        <p:nvSpPr>
          <p:cNvPr id="2138370540" name="Rectangle 28"/>
          <p:cNvSpPr/>
          <p:nvPr/>
        </p:nvSpPr>
        <p:spPr bwMode="auto">
          <a:xfrm>
            <a:off x="4206240" y="352044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290833" name="TextBox 29"/>
          <p:cNvSpPr txBox="1"/>
          <p:nvPr/>
        </p:nvSpPr>
        <p:spPr bwMode="auto">
          <a:xfrm>
            <a:off x="434340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100%</a:t>
            </a:r>
            <a:endParaRPr/>
          </a:p>
        </p:txBody>
      </p:sp>
      <p:sp>
        <p:nvSpPr>
          <p:cNvPr id="138076298" name="Rectangle 30"/>
          <p:cNvSpPr/>
          <p:nvPr/>
        </p:nvSpPr>
        <p:spPr bwMode="auto">
          <a:xfrm>
            <a:off x="7955279" y="3520440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2113339" name="TextBox 31"/>
          <p:cNvSpPr txBox="1"/>
          <p:nvPr/>
        </p:nvSpPr>
        <p:spPr bwMode="auto">
          <a:xfrm>
            <a:off x="8092439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₹5,000/month</a:t>
            </a:r>
            <a:endParaRPr/>
          </a:p>
        </p:txBody>
      </p:sp>
      <p:sp>
        <p:nvSpPr>
          <p:cNvPr id="847542532" name="Rectangle 32"/>
          <p:cNvSpPr/>
          <p:nvPr/>
        </p:nvSpPr>
        <p:spPr bwMode="auto">
          <a:xfrm>
            <a:off x="457200" y="411480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2839888" name="TextBox 33"/>
          <p:cNvSpPr txBox="1"/>
          <p:nvPr/>
        </p:nvSpPr>
        <p:spPr bwMode="auto">
          <a:xfrm>
            <a:off x="59436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Montserrat"/>
              </a:defRPr>
            </a:pPr>
            <a:r>
              <a:rPr/>
              <a:t>PARTNER SUBS</a:t>
            </a:r>
            <a:endParaRPr/>
          </a:p>
        </p:txBody>
      </p:sp>
      <p:sp>
        <p:nvSpPr>
          <p:cNvPr id="1680082764" name="Rectangle 34"/>
          <p:cNvSpPr/>
          <p:nvPr/>
        </p:nvSpPr>
        <p:spPr bwMode="auto">
          <a:xfrm>
            <a:off x="4206240" y="411480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25229" name="TextBox 35"/>
          <p:cNvSpPr txBox="1"/>
          <p:nvPr/>
        </p:nvSpPr>
        <p:spPr bwMode="auto">
          <a:xfrm>
            <a:off x="434340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100%</a:t>
            </a:r>
            <a:endParaRPr/>
          </a:p>
        </p:txBody>
      </p:sp>
      <p:sp>
        <p:nvSpPr>
          <p:cNvPr id="769941922" name="Rectangle 36"/>
          <p:cNvSpPr/>
          <p:nvPr/>
        </p:nvSpPr>
        <p:spPr bwMode="auto">
          <a:xfrm>
            <a:off x="7955279" y="4114800"/>
            <a:ext cx="3749039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146029" name="TextBox 37"/>
          <p:cNvSpPr txBox="1"/>
          <p:nvPr/>
        </p:nvSpPr>
        <p:spPr bwMode="auto">
          <a:xfrm>
            <a:off x="8092439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₹500/month</a:t>
            </a:r>
            <a:endParaRPr/>
          </a:p>
        </p:txBody>
      </p:sp>
      <p:sp>
        <p:nvSpPr>
          <p:cNvPr id="1721228098" name="Rectangle 38"/>
          <p:cNvSpPr/>
          <p:nvPr/>
        </p:nvSpPr>
        <p:spPr bwMode="auto">
          <a:xfrm>
            <a:off x="457200" y="5029200"/>
            <a:ext cx="548640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8375326" name="TextBox 39"/>
          <p:cNvSpPr txBox="1"/>
          <p:nvPr/>
        </p:nvSpPr>
        <p:spPr bwMode="auto">
          <a:xfrm>
            <a:off x="640080" y="5212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/>
              <a:t>STARTING AT ₹50</a:t>
            </a:r>
            <a:endParaRPr/>
          </a:p>
        </p:txBody>
      </p:sp>
      <p:sp>
        <p:nvSpPr>
          <p:cNvPr id="807535049" name="TextBox 40"/>
          <p:cNvSpPr txBox="1"/>
          <p:nvPr/>
        </p:nvSpPr>
        <p:spPr bwMode="auto">
          <a:xfrm>
            <a:off x="640080" y="5760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For 6 hours - Cheaper than railway lockers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793481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HOW IT WORKS</a:t>
            </a:r>
            <a:endParaRPr/>
          </a:p>
        </p:txBody>
      </p:sp>
      <p:sp>
        <p:nvSpPr>
          <p:cNvPr id="1555679142" name="TextBox 2"/>
          <p:cNvSpPr txBox="1"/>
          <p:nvPr/>
        </p:nvSpPr>
        <p:spPr bwMode="auto"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rPr/>
              <a:t>5 simple steps to freedom</a:t>
            </a:r>
            <a:endParaRPr/>
          </a:p>
        </p:txBody>
      </p:sp>
      <p:sp>
        <p:nvSpPr>
          <p:cNvPr id="2060963854" name="Rectangle 3"/>
          <p:cNvSpPr/>
          <p:nvPr/>
        </p:nvSpPr>
        <p:spPr bwMode="auto">
          <a:xfrm>
            <a:off x="274320" y="1828800"/>
            <a:ext cx="2194560" cy="3474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372015" name="TextBox 4"/>
          <p:cNvSpPr txBox="1"/>
          <p:nvPr/>
        </p:nvSpPr>
        <p:spPr bwMode="auto">
          <a:xfrm>
            <a:off x="27432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rPr/>
              <a:t>01</a:t>
            </a:r>
            <a:endParaRPr/>
          </a:p>
        </p:txBody>
      </p:sp>
      <p:sp>
        <p:nvSpPr>
          <p:cNvPr id="1751401665" name="TextBox 5"/>
          <p:cNvSpPr txBox="1"/>
          <p:nvPr/>
        </p:nvSpPr>
        <p:spPr bwMode="auto">
          <a:xfrm>
            <a:off x="27432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FIND</a:t>
            </a:r>
            <a:endParaRPr/>
          </a:p>
        </p:txBody>
      </p:sp>
      <p:sp>
        <p:nvSpPr>
          <p:cNvPr id="120576024" name="TextBox 6"/>
          <p:cNvSpPr txBox="1"/>
          <p:nvPr/>
        </p:nvSpPr>
        <p:spPr bwMode="auto">
          <a:xfrm>
            <a:off x="27432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Open app</a:t>
            </a:r>
            <a:br>
              <a:rPr/>
            </a:br>
            <a:r>
              <a:rPr/>
              <a:t>Locate point</a:t>
            </a:r>
            <a:endParaRPr/>
          </a:p>
        </p:txBody>
      </p:sp>
      <p:sp>
        <p:nvSpPr>
          <p:cNvPr id="947583771" name="Rectangle 7"/>
          <p:cNvSpPr/>
          <p:nvPr/>
        </p:nvSpPr>
        <p:spPr bwMode="auto">
          <a:xfrm>
            <a:off x="2651760" y="1828800"/>
            <a:ext cx="2194560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421839" name="TextBox 8"/>
          <p:cNvSpPr txBox="1"/>
          <p:nvPr/>
        </p:nvSpPr>
        <p:spPr bwMode="auto">
          <a:xfrm>
            <a:off x="265176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rPr/>
              <a:t>02</a:t>
            </a:r>
            <a:endParaRPr/>
          </a:p>
        </p:txBody>
      </p:sp>
      <p:sp>
        <p:nvSpPr>
          <p:cNvPr id="1981435952" name="TextBox 9"/>
          <p:cNvSpPr txBox="1"/>
          <p:nvPr/>
        </p:nvSpPr>
        <p:spPr bwMode="auto">
          <a:xfrm>
            <a:off x="265176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BOOK</a:t>
            </a:r>
            <a:endParaRPr/>
          </a:p>
        </p:txBody>
      </p:sp>
      <p:sp>
        <p:nvSpPr>
          <p:cNvPr id="1569210704" name="TextBox 10"/>
          <p:cNvSpPr txBox="1"/>
          <p:nvPr/>
        </p:nvSpPr>
        <p:spPr bwMode="auto">
          <a:xfrm>
            <a:off x="265176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Select slot</a:t>
            </a:r>
            <a:br>
              <a:rPr/>
            </a:br>
            <a:r>
              <a:rPr/>
              <a:t>Pay via UPI</a:t>
            </a:r>
            <a:endParaRPr/>
          </a:p>
        </p:txBody>
      </p:sp>
      <p:sp>
        <p:nvSpPr>
          <p:cNvPr id="670182238" name="Rectangle 11"/>
          <p:cNvSpPr/>
          <p:nvPr/>
        </p:nvSpPr>
        <p:spPr bwMode="auto">
          <a:xfrm>
            <a:off x="5029200" y="1828800"/>
            <a:ext cx="2194560" cy="3474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5628343" name="TextBox 12"/>
          <p:cNvSpPr txBox="1"/>
          <p:nvPr/>
        </p:nvSpPr>
        <p:spPr bwMode="auto">
          <a:xfrm>
            <a:off x="502920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rPr/>
              <a:t>03</a:t>
            </a:r>
            <a:endParaRPr/>
          </a:p>
        </p:txBody>
      </p:sp>
      <p:sp>
        <p:nvSpPr>
          <p:cNvPr id="71598475" name="TextBox 13"/>
          <p:cNvSpPr txBox="1"/>
          <p:nvPr/>
        </p:nvSpPr>
        <p:spPr bwMode="auto">
          <a:xfrm>
            <a:off x="502920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DROP</a:t>
            </a:r>
            <a:endParaRPr/>
          </a:p>
        </p:txBody>
      </p:sp>
      <p:sp>
        <p:nvSpPr>
          <p:cNvPr id="48523938" name="TextBox 14"/>
          <p:cNvSpPr txBox="1"/>
          <p:nvPr/>
        </p:nvSpPr>
        <p:spPr bwMode="auto">
          <a:xfrm>
            <a:off x="502920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Leave bags</a:t>
            </a:r>
            <a:br>
              <a:rPr/>
            </a:br>
            <a:r>
              <a:rPr/>
              <a:t>Get OTP</a:t>
            </a:r>
            <a:endParaRPr/>
          </a:p>
        </p:txBody>
      </p:sp>
      <p:sp>
        <p:nvSpPr>
          <p:cNvPr id="1913996999" name="Rectangle 15"/>
          <p:cNvSpPr/>
          <p:nvPr/>
        </p:nvSpPr>
        <p:spPr bwMode="auto">
          <a:xfrm>
            <a:off x="7406640" y="1828800"/>
            <a:ext cx="2194560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9434334" name="TextBox 16"/>
          <p:cNvSpPr txBox="1"/>
          <p:nvPr/>
        </p:nvSpPr>
        <p:spPr bwMode="auto">
          <a:xfrm>
            <a:off x="740664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rPr/>
              <a:t>04</a:t>
            </a:r>
            <a:endParaRPr/>
          </a:p>
        </p:txBody>
      </p:sp>
      <p:sp>
        <p:nvSpPr>
          <p:cNvPr id="1097036596" name="TextBox 17"/>
          <p:cNvSpPr txBox="1"/>
          <p:nvPr/>
        </p:nvSpPr>
        <p:spPr bwMode="auto">
          <a:xfrm>
            <a:off x="740664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RETRIEVE</a:t>
            </a:r>
            <a:endParaRPr/>
          </a:p>
        </p:txBody>
      </p:sp>
      <p:sp>
        <p:nvSpPr>
          <p:cNvPr id="607858664" name="TextBox 18"/>
          <p:cNvSpPr txBox="1"/>
          <p:nvPr/>
        </p:nvSpPr>
        <p:spPr bwMode="auto">
          <a:xfrm>
            <a:off x="7406640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Show token</a:t>
            </a:r>
            <a:br>
              <a:rPr/>
            </a:br>
            <a:r>
              <a:rPr/>
              <a:t>Collect bags</a:t>
            </a:r>
            <a:endParaRPr/>
          </a:p>
        </p:txBody>
      </p:sp>
      <p:sp>
        <p:nvSpPr>
          <p:cNvPr id="1689591584" name="Rectangle 19"/>
          <p:cNvSpPr/>
          <p:nvPr/>
        </p:nvSpPr>
        <p:spPr bwMode="auto">
          <a:xfrm>
            <a:off x="9784079" y="1828800"/>
            <a:ext cx="2194560" cy="3474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5359883" name="TextBox 20"/>
          <p:cNvSpPr txBox="1"/>
          <p:nvPr/>
        </p:nvSpPr>
        <p:spPr bwMode="auto">
          <a:xfrm>
            <a:off x="9784079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rPr/>
              <a:t>05</a:t>
            </a:r>
            <a:endParaRPr/>
          </a:p>
        </p:txBody>
      </p:sp>
      <p:sp>
        <p:nvSpPr>
          <p:cNvPr id="316331510" name="TextBox 21"/>
          <p:cNvSpPr txBox="1"/>
          <p:nvPr/>
        </p:nvSpPr>
        <p:spPr bwMode="auto">
          <a:xfrm>
            <a:off x="9784079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DELIVER</a:t>
            </a:r>
            <a:endParaRPr/>
          </a:p>
        </p:txBody>
      </p:sp>
      <p:sp>
        <p:nvSpPr>
          <p:cNvPr id="290893428" name="TextBox 22"/>
          <p:cNvSpPr txBox="1"/>
          <p:nvPr/>
        </p:nvSpPr>
        <p:spPr bwMode="auto">
          <a:xfrm>
            <a:off x="9784079" y="3200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rPr/>
              <a:t>Forgot bag?</a:t>
            </a:r>
            <a:br>
              <a:rPr/>
            </a:br>
            <a:r>
              <a:rPr/>
              <a:t>We courier it!</a:t>
            </a:r>
            <a:endParaRPr/>
          </a:p>
        </p:txBody>
      </p:sp>
      <p:sp>
        <p:nvSpPr>
          <p:cNvPr id="1886884940" name="Rectangle 23"/>
          <p:cNvSpPr/>
          <p:nvPr/>
        </p:nvSpPr>
        <p:spPr bwMode="auto">
          <a:xfrm>
            <a:off x="457200" y="5669280"/>
            <a:ext cx="11277295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5820419" name="TextBox 24"/>
          <p:cNvSpPr txBox="1"/>
          <p:nvPr/>
        </p:nvSpPr>
        <p:spPr bwMode="auto"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Average drop time: Under 2 minutes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358791" name="TextBox 1"/>
          <p:cNvSpPr txBox="1"/>
          <p:nvPr/>
        </p:nvSpPr>
        <p:spPr bwMode="auto"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rPr/>
              <a:t>TECHNOLOGY</a:t>
            </a:r>
            <a:endParaRPr/>
          </a:p>
        </p:txBody>
      </p:sp>
      <p:sp>
        <p:nvSpPr>
          <p:cNvPr id="1475638848" name="TextBox 2"/>
          <p:cNvSpPr txBox="1"/>
          <p:nvPr/>
        </p:nvSpPr>
        <p:spPr bwMode="auto"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rPr/>
              <a:t>Built for speed, security &amp; scale</a:t>
            </a:r>
            <a:endParaRPr/>
          </a:p>
        </p:txBody>
      </p:sp>
      <p:sp>
        <p:nvSpPr>
          <p:cNvPr id="37283979" name="Rectangle 3"/>
          <p:cNvSpPr/>
          <p:nvPr/>
        </p:nvSpPr>
        <p:spPr bwMode="auto">
          <a:xfrm>
            <a:off x="457200" y="2103120"/>
            <a:ext cx="356616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9872543" name="Rectangle 4"/>
          <p:cNvSpPr/>
          <p:nvPr/>
        </p:nvSpPr>
        <p:spPr bwMode="auto">
          <a:xfrm>
            <a:off x="457200" y="2103120"/>
            <a:ext cx="356616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478553" name="TextBox 5"/>
          <p:cNvSpPr txBox="1"/>
          <p:nvPr/>
        </p:nvSpPr>
        <p:spPr bwMode="auto">
          <a:xfrm>
            <a:off x="6400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PAYMENTS</a:t>
            </a:r>
            <a:endParaRPr/>
          </a:p>
        </p:txBody>
      </p:sp>
      <p:sp>
        <p:nvSpPr>
          <p:cNvPr id="389423298" name="TextBox 6"/>
          <p:cNvSpPr txBox="1"/>
          <p:nvPr/>
        </p:nvSpPr>
        <p:spPr bwMode="auto">
          <a:xfrm>
            <a:off x="640080" y="29260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• UPI (GPay, PhonePe)</a:t>
            </a:r>
            <a:br>
              <a:rPr/>
            </a:br>
            <a:r>
              <a:rPr/>
              <a:t>• Credit &amp; Debit Cards</a:t>
            </a:r>
            <a:br>
              <a:rPr/>
            </a:br>
            <a:r>
              <a:rPr/>
              <a:t>• NFC Contactless</a:t>
            </a:r>
            <a:br>
              <a:rPr/>
            </a:br>
            <a:r>
              <a:rPr/>
              <a:t>• Wallet Integration</a:t>
            </a:r>
            <a:endParaRPr/>
          </a:p>
        </p:txBody>
      </p:sp>
      <p:sp>
        <p:nvSpPr>
          <p:cNvPr id="1717756278" name="Rectangle 7"/>
          <p:cNvSpPr/>
          <p:nvPr/>
        </p:nvSpPr>
        <p:spPr bwMode="auto">
          <a:xfrm>
            <a:off x="4297680" y="2103120"/>
            <a:ext cx="356616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842962" name="Rectangle 8"/>
          <p:cNvSpPr/>
          <p:nvPr/>
        </p:nvSpPr>
        <p:spPr bwMode="auto">
          <a:xfrm>
            <a:off x="4297680" y="2103120"/>
            <a:ext cx="356616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871142" name="TextBox 9"/>
          <p:cNvSpPr txBox="1"/>
          <p:nvPr/>
        </p:nvSpPr>
        <p:spPr bwMode="auto">
          <a:xfrm>
            <a:off x="448056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SECURITY</a:t>
            </a:r>
            <a:endParaRPr/>
          </a:p>
        </p:txBody>
      </p:sp>
      <p:sp>
        <p:nvSpPr>
          <p:cNvPr id="1332292243" name="TextBox 10"/>
          <p:cNvSpPr txBox="1"/>
          <p:nvPr/>
        </p:nvSpPr>
        <p:spPr bwMode="auto">
          <a:xfrm>
            <a:off x="4480560" y="29260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• OTP Verification</a:t>
            </a:r>
            <a:br>
              <a:rPr/>
            </a:br>
            <a:r>
              <a:rPr/>
              <a:t>• NFC Token Access</a:t>
            </a:r>
            <a:br>
              <a:rPr/>
            </a:br>
            <a:r>
              <a:rPr/>
              <a:t>• End-to-End Encryption</a:t>
            </a:r>
            <a:br>
              <a:rPr/>
            </a:br>
            <a:r>
              <a:rPr/>
              <a:t>• Verified Partners</a:t>
            </a:r>
            <a:endParaRPr/>
          </a:p>
        </p:txBody>
      </p:sp>
      <p:sp>
        <p:nvSpPr>
          <p:cNvPr id="1006752347" name="Rectangle 11"/>
          <p:cNvSpPr/>
          <p:nvPr/>
        </p:nvSpPr>
        <p:spPr bwMode="auto">
          <a:xfrm>
            <a:off x="8138160" y="2103120"/>
            <a:ext cx="356616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3948972" name="Rectangle 12"/>
          <p:cNvSpPr/>
          <p:nvPr/>
        </p:nvSpPr>
        <p:spPr bwMode="auto">
          <a:xfrm>
            <a:off x="8138160" y="2103120"/>
            <a:ext cx="356616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143536" name="TextBox 13"/>
          <p:cNvSpPr txBox="1"/>
          <p:nvPr/>
        </p:nvSpPr>
        <p:spPr bwMode="auto">
          <a:xfrm>
            <a:off x="8321039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PLATFORM</a:t>
            </a:r>
            <a:endParaRPr/>
          </a:p>
        </p:txBody>
      </p:sp>
      <p:sp>
        <p:nvSpPr>
          <p:cNvPr id="1912435529" name="TextBox 14"/>
          <p:cNvSpPr txBox="1"/>
          <p:nvPr/>
        </p:nvSpPr>
        <p:spPr bwMode="auto">
          <a:xfrm>
            <a:off x="8321039" y="29260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• iOS &amp; Android App</a:t>
            </a:r>
            <a:br>
              <a:rPr/>
            </a:br>
            <a:r>
              <a:rPr/>
              <a:t>• Self-Service Kiosks</a:t>
            </a:r>
            <a:br>
              <a:rPr/>
            </a:br>
            <a:r>
              <a:rPr/>
              <a:t>• Partner Dashboard</a:t>
            </a:r>
            <a:br>
              <a:rPr/>
            </a:br>
            <a:r>
              <a:rPr/>
              <a:t>• Real-time Analytics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833036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WHY BAGDROP WINS</a:t>
            </a:r>
            <a:endParaRPr/>
          </a:p>
        </p:txBody>
      </p:sp>
      <p:sp>
        <p:nvSpPr>
          <p:cNvPr id="2110546222" name="Rectangle 2"/>
          <p:cNvSpPr/>
          <p:nvPr/>
        </p:nvSpPr>
        <p:spPr bwMode="auto">
          <a:xfrm>
            <a:off x="457200" y="1280160"/>
            <a:ext cx="36576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3930371" name="TextBox 3"/>
          <p:cNvSpPr txBox="1"/>
          <p:nvPr/>
        </p:nvSpPr>
        <p:spPr bwMode="auto">
          <a:xfrm>
            <a:off x="45720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FEATURE</a:t>
            </a:r>
            <a:endParaRPr/>
          </a:p>
        </p:txBody>
      </p:sp>
      <p:sp>
        <p:nvSpPr>
          <p:cNvPr id="288245345" name="Rectangle 4"/>
          <p:cNvSpPr/>
          <p:nvPr/>
        </p:nvSpPr>
        <p:spPr bwMode="auto">
          <a:xfrm>
            <a:off x="4114800" y="1280160"/>
            <a:ext cx="36576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2492467" name="TextBox 5"/>
          <p:cNvSpPr txBox="1"/>
          <p:nvPr/>
        </p:nvSpPr>
        <p:spPr bwMode="auto">
          <a:xfrm>
            <a:off x="411480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BAGDROP</a:t>
            </a:r>
            <a:endParaRPr/>
          </a:p>
        </p:txBody>
      </p:sp>
      <p:sp>
        <p:nvSpPr>
          <p:cNvPr id="1147758194" name="Rectangle 6"/>
          <p:cNvSpPr/>
          <p:nvPr/>
        </p:nvSpPr>
        <p:spPr bwMode="auto">
          <a:xfrm>
            <a:off x="7772400" y="1280160"/>
            <a:ext cx="3931920" cy="4572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6907848" name="TextBox 7"/>
          <p:cNvSpPr txBox="1"/>
          <p:nvPr/>
        </p:nvSpPr>
        <p:spPr bwMode="auto">
          <a:xfrm>
            <a:off x="7772400" y="13533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/>
              <a:t>COMPETITORS</a:t>
            </a:r>
            <a:endParaRPr/>
          </a:p>
        </p:txBody>
      </p:sp>
      <p:sp>
        <p:nvSpPr>
          <p:cNvPr id="633698450" name="Rectangle 8"/>
          <p:cNvSpPr/>
          <p:nvPr/>
        </p:nvSpPr>
        <p:spPr bwMode="auto">
          <a:xfrm>
            <a:off x="457200" y="173736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676272" name="TextBox 9"/>
          <p:cNvSpPr txBox="1"/>
          <p:nvPr/>
        </p:nvSpPr>
        <p:spPr bwMode="auto">
          <a:xfrm>
            <a:off x="64008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Pricing</a:t>
            </a:r>
            <a:endParaRPr/>
          </a:p>
        </p:txBody>
      </p:sp>
      <p:sp>
        <p:nvSpPr>
          <p:cNvPr id="1962673863" name="Rectangle 10"/>
          <p:cNvSpPr/>
          <p:nvPr/>
        </p:nvSpPr>
        <p:spPr bwMode="auto">
          <a:xfrm>
            <a:off x="4114800" y="173736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3503402" name="TextBox 11"/>
          <p:cNvSpPr txBox="1"/>
          <p:nvPr/>
        </p:nvSpPr>
        <p:spPr bwMode="auto">
          <a:xfrm>
            <a:off x="41148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Montserrat"/>
              </a:defRPr>
            </a:pPr>
            <a:r>
              <a:rPr/>
              <a:t>₹50 for 6 hours</a:t>
            </a:r>
            <a:endParaRPr/>
          </a:p>
        </p:txBody>
      </p:sp>
      <p:sp>
        <p:nvSpPr>
          <p:cNvPr id="158710914" name="Rectangle 12"/>
          <p:cNvSpPr/>
          <p:nvPr/>
        </p:nvSpPr>
        <p:spPr bwMode="auto">
          <a:xfrm>
            <a:off x="7772400" y="1737360"/>
            <a:ext cx="39319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393313" name="TextBox 13"/>
          <p:cNvSpPr txBox="1"/>
          <p:nvPr/>
        </p:nvSpPr>
        <p:spPr bwMode="auto">
          <a:xfrm>
            <a:off x="7772400" y="18470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₹100+/day</a:t>
            </a:r>
            <a:endParaRPr/>
          </a:p>
        </p:txBody>
      </p:sp>
      <p:sp>
        <p:nvSpPr>
          <p:cNvPr id="639654277" name="Rectangle 14"/>
          <p:cNvSpPr/>
          <p:nvPr/>
        </p:nvSpPr>
        <p:spPr bwMode="auto">
          <a:xfrm>
            <a:off x="457200" y="22860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3075370" name="TextBox 15"/>
          <p:cNvSpPr txBox="1"/>
          <p:nvPr/>
        </p:nvSpPr>
        <p:spPr bwMode="auto">
          <a:xfrm>
            <a:off x="640080" y="23957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Security</a:t>
            </a:r>
            <a:endParaRPr/>
          </a:p>
        </p:txBody>
      </p:sp>
      <p:sp>
        <p:nvSpPr>
          <p:cNvPr id="298394699" name="Rectangle 16"/>
          <p:cNvSpPr/>
          <p:nvPr/>
        </p:nvSpPr>
        <p:spPr bwMode="auto">
          <a:xfrm>
            <a:off x="4114800" y="22860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6208021" name="TextBox 17"/>
          <p:cNvSpPr txBox="1"/>
          <p:nvPr/>
        </p:nvSpPr>
        <p:spPr bwMode="auto">
          <a:xfrm>
            <a:off x="4114800" y="2395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Montserrat"/>
              </a:defRPr>
            </a:pPr>
            <a:r>
              <a:rPr/>
              <a:t>OTP / NFC Tokens</a:t>
            </a:r>
            <a:endParaRPr/>
          </a:p>
        </p:txBody>
      </p:sp>
      <p:sp>
        <p:nvSpPr>
          <p:cNvPr id="1958123777" name="Rectangle 18"/>
          <p:cNvSpPr/>
          <p:nvPr/>
        </p:nvSpPr>
        <p:spPr bwMode="auto">
          <a:xfrm>
            <a:off x="7772400" y="22860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2374203" name="TextBox 19"/>
          <p:cNvSpPr txBox="1"/>
          <p:nvPr/>
        </p:nvSpPr>
        <p:spPr bwMode="auto">
          <a:xfrm>
            <a:off x="7772400" y="2395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Physical Keys</a:t>
            </a:r>
            <a:endParaRPr/>
          </a:p>
        </p:txBody>
      </p:sp>
      <p:sp>
        <p:nvSpPr>
          <p:cNvPr id="1118798614" name="Rectangle 20"/>
          <p:cNvSpPr/>
          <p:nvPr/>
        </p:nvSpPr>
        <p:spPr bwMode="auto">
          <a:xfrm>
            <a:off x="457200" y="2834639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0356647" name="TextBox 21"/>
          <p:cNvSpPr txBox="1"/>
          <p:nvPr/>
        </p:nvSpPr>
        <p:spPr bwMode="auto">
          <a:xfrm>
            <a:off x="640080" y="294436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Payments</a:t>
            </a:r>
            <a:endParaRPr/>
          </a:p>
        </p:txBody>
      </p:sp>
      <p:sp>
        <p:nvSpPr>
          <p:cNvPr id="969650159" name="Rectangle 22"/>
          <p:cNvSpPr/>
          <p:nvPr/>
        </p:nvSpPr>
        <p:spPr bwMode="auto">
          <a:xfrm>
            <a:off x="4114800" y="2834639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3034208" name="TextBox 23"/>
          <p:cNvSpPr txBox="1"/>
          <p:nvPr/>
        </p:nvSpPr>
        <p:spPr bwMode="auto">
          <a:xfrm>
            <a:off x="4114800" y="294436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Montserrat"/>
              </a:defRPr>
            </a:pPr>
            <a:r>
              <a:rPr/>
              <a:t>UPI / Card / NFC</a:t>
            </a:r>
            <a:endParaRPr/>
          </a:p>
        </p:txBody>
      </p:sp>
      <p:sp>
        <p:nvSpPr>
          <p:cNvPr id="901927409" name="Rectangle 24"/>
          <p:cNvSpPr/>
          <p:nvPr/>
        </p:nvSpPr>
        <p:spPr bwMode="auto">
          <a:xfrm>
            <a:off x="7772400" y="2834639"/>
            <a:ext cx="39319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3094631" name="TextBox 25"/>
          <p:cNvSpPr txBox="1"/>
          <p:nvPr/>
        </p:nvSpPr>
        <p:spPr bwMode="auto">
          <a:xfrm>
            <a:off x="7772400" y="294436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Cash Only</a:t>
            </a:r>
            <a:endParaRPr/>
          </a:p>
        </p:txBody>
      </p:sp>
      <p:sp>
        <p:nvSpPr>
          <p:cNvPr id="746786006" name="Rectangle 26"/>
          <p:cNvSpPr/>
          <p:nvPr/>
        </p:nvSpPr>
        <p:spPr bwMode="auto">
          <a:xfrm>
            <a:off x="457200" y="3383279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6993132" name="TextBox 27"/>
          <p:cNvSpPr txBox="1"/>
          <p:nvPr/>
        </p:nvSpPr>
        <p:spPr bwMode="auto">
          <a:xfrm>
            <a:off x="640080" y="3493007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Delivery</a:t>
            </a:r>
            <a:endParaRPr/>
          </a:p>
        </p:txBody>
      </p:sp>
      <p:sp>
        <p:nvSpPr>
          <p:cNvPr id="1383302132" name="Rectangle 28"/>
          <p:cNvSpPr/>
          <p:nvPr/>
        </p:nvSpPr>
        <p:spPr bwMode="auto">
          <a:xfrm>
            <a:off x="4114800" y="3383279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10516" name="TextBox 29"/>
          <p:cNvSpPr txBox="1"/>
          <p:nvPr/>
        </p:nvSpPr>
        <p:spPr bwMode="auto">
          <a:xfrm>
            <a:off x="4114800" y="34930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4A853"/>
                </a:solidFill>
                <a:latin typeface="Montserrat"/>
              </a:defRPr>
            </a:pPr>
            <a:r>
              <a:rPr/>
              <a:t>YES - Nationwide</a:t>
            </a:r>
            <a:endParaRPr/>
          </a:p>
        </p:txBody>
      </p:sp>
      <p:sp>
        <p:nvSpPr>
          <p:cNvPr id="1171633900" name="Rectangle 30"/>
          <p:cNvSpPr/>
          <p:nvPr/>
        </p:nvSpPr>
        <p:spPr bwMode="auto">
          <a:xfrm>
            <a:off x="7772400" y="3383279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9934464" name="TextBox 31"/>
          <p:cNvSpPr txBox="1"/>
          <p:nvPr/>
        </p:nvSpPr>
        <p:spPr bwMode="auto">
          <a:xfrm>
            <a:off x="7772400" y="349300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NO</a:t>
            </a:r>
            <a:endParaRPr/>
          </a:p>
        </p:txBody>
      </p:sp>
      <p:sp>
        <p:nvSpPr>
          <p:cNvPr id="223565612" name="Rectangle 32"/>
          <p:cNvSpPr/>
          <p:nvPr/>
        </p:nvSpPr>
        <p:spPr bwMode="auto">
          <a:xfrm>
            <a:off x="457200" y="393192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7605730" name="TextBox 33"/>
          <p:cNvSpPr txBox="1"/>
          <p:nvPr/>
        </p:nvSpPr>
        <p:spPr bwMode="auto">
          <a:xfrm>
            <a:off x="640080" y="40416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Booking</a:t>
            </a:r>
            <a:endParaRPr/>
          </a:p>
        </p:txBody>
      </p:sp>
      <p:sp>
        <p:nvSpPr>
          <p:cNvPr id="845294301" name="Rectangle 34"/>
          <p:cNvSpPr/>
          <p:nvPr/>
        </p:nvSpPr>
        <p:spPr bwMode="auto">
          <a:xfrm>
            <a:off x="4114800" y="3931920"/>
            <a:ext cx="36576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5292686" name="TextBox 35"/>
          <p:cNvSpPr txBox="1"/>
          <p:nvPr/>
        </p:nvSpPr>
        <p:spPr bwMode="auto">
          <a:xfrm>
            <a:off x="4114800" y="4041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Montserrat"/>
              </a:defRPr>
            </a:pPr>
            <a:r>
              <a:rPr/>
              <a:t>App-based</a:t>
            </a:r>
            <a:endParaRPr/>
          </a:p>
        </p:txBody>
      </p:sp>
      <p:sp>
        <p:nvSpPr>
          <p:cNvPr id="808230825" name="Rectangle 36"/>
          <p:cNvSpPr/>
          <p:nvPr/>
        </p:nvSpPr>
        <p:spPr bwMode="auto">
          <a:xfrm>
            <a:off x="7772400" y="3931920"/>
            <a:ext cx="39319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818486" name="TextBox 37"/>
          <p:cNvSpPr txBox="1"/>
          <p:nvPr/>
        </p:nvSpPr>
        <p:spPr bwMode="auto">
          <a:xfrm>
            <a:off x="7772400" y="40416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In-person</a:t>
            </a:r>
            <a:endParaRPr/>
          </a:p>
        </p:txBody>
      </p:sp>
      <p:sp>
        <p:nvSpPr>
          <p:cNvPr id="1668602318" name="Rectangle 38"/>
          <p:cNvSpPr/>
          <p:nvPr/>
        </p:nvSpPr>
        <p:spPr bwMode="auto">
          <a:xfrm>
            <a:off x="457200" y="44805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7949065" name="TextBox 39"/>
          <p:cNvSpPr txBox="1"/>
          <p:nvPr/>
        </p:nvSpPr>
        <p:spPr bwMode="auto">
          <a:xfrm>
            <a:off x="640080" y="4590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2828"/>
                </a:solidFill>
                <a:latin typeface="Montserrat"/>
              </a:defRPr>
            </a:pPr>
            <a:r>
              <a:rPr/>
              <a:t>Support</a:t>
            </a:r>
            <a:endParaRPr/>
          </a:p>
        </p:txBody>
      </p:sp>
      <p:sp>
        <p:nvSpPr>
          <p:cNvPr id="755867476" name="Rectangle 40"/>
          <p:cNvSpPr/>
          <p:nvPr/>
        </p:nvSpPr>
        <p:spPr bwMode="auto">
          <a:xfrm>
            <a:off x="4114800" y="44805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29731" name="TextBox 41"/>
          <p:cNvSpPr txBox="1"/>
          <p:nvPr/>
        </p:nvSpPr>
        <p:spPr bwMode="auto">
          <a:xfrm>
            <a:off x="4114800" y="4590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Montserrat"/>
              </a:defRPr>
            </a:pPr>
            <a:r>
              <a:rPr/>
              <a:t>24/7 Available</a:t>
            </a:r>
            <a:endParaRPr/>
          </a:p>
        </p:txBody>
      </p:sp>
      <p:sp>
        <p:nvSpPr>
          <p:cNvPr id="1901579746" name="Rectangle 42"/>
          <p:cNvSpPr/>
          <p:nvPr/>
        </p:nvSpPr>
        <p:spPr bwMode="auto">
          <a:xfrm>
            <a:off x="7772400" y="448056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669349" name="TextBox 43"/>
          <p:cNvSpPr txBox="1"/>
          <p:nvPr/>
        </p:nvSpPr>
        <p:spPr bwMode="auto">
          <a:xfrm>
            <a:off x="7772400" y="45902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878"/>
                </a:solidFill>
                <a:latin typeface="Montserrat"/>
              </a:defRPr>
            </a:pPr>
            <a:r>
              <a:rPr/>
              <a:t>Limited Hours</a:t>
            </a:r>
            <a:endParaRPr/>
          </a:p>
        </p:txBody>
      </p:sp>
      <p:sp>
        <p:nvSpPr>
          <p:cNvPr id="1048409404" name="Rectangle 44"/>
          <p:cNvSpPr/>
          <p:nvPr/>
        </p:nvSpPr>
        <p:spPr bwMode="auto">
          <a:xfrm>
            <a:off x="457200" y="5212080"/>
            <a:ext cx="11277295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532947" name="TextBox 45"/>
          <p:cNvSpPr txBox="1"/>
          <p:nvPr/>
        </p:nvSpPr>
        <p:spPr bwMode="auto">
          <a:xfrm>
            <a:off x="914400" y="5349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UNIQUE USP: Forgotten luggage delivery - NO COMPETITOR offers this!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16009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 Black"/>
              </a:defRPr>
            </a:pPr>
            <a:r>
              <a:rPr/>
              <a:t>FINANCIAL PROJECTIONS</a:t>
            </a:r>
            <a:endParaRPr/>
          </a:p>
        </p:txBody>
      </p:sp>
      <p:sp>
        <p:nvSpPr>
          <p:cNvPr id="1644673324" name="Rectangle 2"/>
          <p:cNvSpPr/>
          <p:nvPr/>
        </p:nvSpPr>
        <p:spPr bwMode="auto">
          <a:xfrm>
            <a:off x="457200" y="1188720"/>
            <a:ext cx="3657600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8439332" name="TextBox 3"/>
          <p:cNvSpPr txBox="1"/>
          <p:nvPr/>
        </p:nvSpPr>
        <p:spPr bwMode="auto"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YEAR 1</a:t>
            </a:r>
            <a:endParaRPr/>
          </a:p>
        </p:txBody>
      </p:sp>
      <p:sp>
        <p:nvSpPr>
          <p:cNvPr id="391905331" name="TextBox 4"/>
          <p:cNvSpPr txBox="1"/>
          <p:nvPr/>
        </p:nvSpPr>
        <p:spPr bwMode="auto"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  <a:latin typeface="Montserrat"/>
              </a:defRPr>
            </a:pPr>
            <a:r>
              <a:rPr/>
              <a:t>₹36.8L</a:t>
            </a:r>
            <a:endParaRPr/>
          </a:p>
        </p:txBody>
      </p:sp>
      <p:sp>
        <p:nvSpPr>
          <p:cNvPr id="795884249" name="TextBox 5"/>
          <p:cNvSpPr txBox="1"/>
          <p:nvPr/>
        </p:nvSpPr>
        <p:spPr bwMode="auto">
          <a:xfrm>
            <a:off x="4572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Montserrat"/>
              </a:defRPr>
            </a:pPr>
            <a:r>
              <a:rPr/>
              <a:t>1.32L bookings</a:t>
            </a:r>
            <a:endParaRPr/>
          </a:p>
        </p:txBody>
      </p:sp>
      <p:sp>
        <p:nvSpPr>
          <p:cNvPr id="800873953" name="Rectangle 6"/>
          <p:cNvSpPr/>
          <p:nvPr/>
        </p:nvSpPr>
        <p:spPr bwMode="auto">
          <a:xfrm>
            <a:off x="4297680" y="1188720"/>
            <a:ext cx="3657600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758332" name="TextBox 7"/>
          <p:cNvSpPr txBox="1"/>
          <p:nvPr/>
        </p:nvSpPr>
        <p:spPr bwMode="auto"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YEAR 2</a:t>
            </a:r>
            <a:endParaRPr/>
          </a:p>
        </p:txBody>
      </p:sp>
      <p:sp>
        <p:nvSpPr>
          <p:cNvPr id="253967126" name="TextBox 8"/>
          <p:cNvSpPr txBox="1"/>
          <p:nvPr/>
        </p:nvSpPr>
        <p:spPr bwMode="auto">
          <a:xfrm>
            <a:off x="429768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00"/>
                </a:solidFill>
                <a:latin typeface="Montserrat"/>
              </a:defRPr>
            </a:pPr>
            <a:r>
              <a:rPr/>
              <a:t>₹1.27 Cr</a:t>
            </a:r>
            <a:endParaRPr/>
          </a:p>
        </p:txBody>
      </p:sp>
      <p:sp>
        <p:nvSpPr>
          <p:cNvPr id="1641156541" name="TextBox 9"/>
          <p:cNvSpPr txBox="1"/>
          <p:nvPr/>
        </p:nvSpPr>
        <p:spPr bwMode="auto">
          <a:xfrm>
            <a:off x="429768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Montserrat"/>
              </a:defRPr>
            </a:pPr>
            <a:r>
              <a:rPr/>
              <a:t>5L bookings</a:t>
            </a:r>
            <a:endParaRPr/>
          </a:p>
        </p:txBody>
      </p:sp>
      <p:sp>
        <p:nvSpPr>
          <p:cNvPr id="699017024" name="Rectangle 10"/>
          <p:cNvSpPr/>
          <p:nvPr/>
        </p:nvSpPr>
        <p:spPr bwMode="auto">
          <a:xfrm>
            <a:off x="8138160" y="1188720"/>
            <a:ext cx="365760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8462980" name="TextBox 11"/>
          <p:cNvSpPr txBox="1"/>
          <p:nvPr/>
        </p:nvSpPr>
        <p:spPr bwMode="auto"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rPr/>
              <a:t>YEAR 3</a:t>
            </a:r>
            <a:endParaRPr/>
          </a:p>
        </p:txBody>
      </p:sp>
      <p:sp>
        <p:nvSpPr>
          <p:cNvPr id="1143255600" name="TextBox 12"/>
          <p:cNvSpPr txBox="1"/>
          <p:nvPr/>
        </p:nvSpPr>
        <p:spPr bwMode="auto">
          <a:xfrm>
            <a:off x="813816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Montserrat"/>
              </a:defRPr>
            </a:pPr>
            <a:r>
              <a:rPr/>
              <a:t>₹3.82 Cr</a:t>
            </a:r>
            <a:endParaRPr/>
          </a:p>
        </p:txBody>
      </p:sp>
      <p:sp>
        <p:nvSpPr>
          <p:cNvPr id="171044770" name="TextBox 13"/>
          <p:cNvSpPr txBox="1"/>
          <p:nvPr/>
        </p:nvSpPr>
        <p:spPr bwMode="auto">
          <a:xfrm>
            <a:off x="813816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15L bookings</a:t>
            </a:r>
            <a:endParaRPr/>
          </a:p>
        </p:txBody>
      </p:sp>
      <p:sp>
        <p:nvSpPr>
          <p:cNvPr id="1418274197" name="TextBox 14"/>
          <p:cNvSpPr txBox="1"/>
          <p:nvPr/>
        </p:nvSpPr>
        <p:spPr bwMode="auto"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YEAR 1 MONTHLY GROWTH</a:t>
            </a:r>
            <a:endParaRPr/>
          </a:p>
        </p:txBody>
      </p:sp>
      <p:sp>
        <p:nvSpPr>
          <p:cNvPr id="1287455697" name="Rectangle 15"/>
          <p:cNvSpPr/>
          <p:nvPr/>
        </p:nvSpPr>
        <p:spPr bwMode="auto">
          <a:xfrm>
            <a:off x="457200" y="33832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3765058" name="TextBox 16"/>
          <p:cNvSpPr txBox="1"/>
          <p:nvPr/>
        </p:nvSpPr>
        <p:spPr bwMode="auto">
          <a:xfrm>
            <a:off x="457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M1</a:t>
            </a:r>
            <a:endParaRPr/>
          </a:p>
        </p:txBody>
      </p:sp>
      <p:sp>
        <p:nvSpPr>
          <p:cNvPr id="531908687" name="TextBox 17"/>
          <p:cNvSpPr txBox="1"/>
          <p:nvPr/>
        </p:nvSpPr>
        <p:spPr bwMode="auto">
          <a:xfrm>
            <a:off x="45720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rPr/>
              <a:t>500 bookings</a:t>
            </a:r>
            <a:endParaRPr/>
          </a:p>
        </p:txBody>
      </p:sp>
      <p:sp>
        <p:nvSpPr>
          <p:cNvPr id="1191178111" name="TextBox 18"/>
          <p:cNvSpPr txBox="1"/>
          <p:nvPr/>
        </p:nvSpPr>
        <p:spPr bwMode="auto">
          <a:xfrm>
            <a:off x="4572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₹9K</a:t>
            </a:r>
            <a:endParaRPr/>
          </a:p>
        </p:txBody>
      </p:sp>
      <p:sp>
        <p:nvSpPr>
          <p:cNvPr id="1149091628" name="Rectangle 19"/>
          <p:cNvSpPr/>
          <p:nvPr/>
        </p:nvSpPr>
        <p:spPr bwMode="auto">
          <a:xfrm>
            <a:off x="2743200" y="33832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261855" name="TextBox 20"/>
          <p:cNvSpPr txBox="1"/>
          <p:nvPr/>
        </p:nvSpPr>
        <p:spPr bwMode="auto">
          <a:xfrm>
            <a:off x="2743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M3</a:t>
            </a:r>
            <a:endParaRPr/>
          </a:p>
        </p:txBody>
      </p:sp>
      <p:sp>
        <p:nvSpPr>
          <p:cNvPr id="1699428755" name="TextBox 21"/>
          <p:cNvSpPr txBox="1"/>
          <p:nvPr/>
        </p:nvSpPr>
        <p:spPr bwMode="auto">
          <a:xfrm>
            <a:off x="274320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rPr/>
              <a:t>2K bookings</a:t>
            </a:r>
            <a:endParaRPr/>
          </a:p>
        </p:txBody>
      </p:sp>
      <p:sp>
        <p:nvSpPr>
          <p:cNvPr id="293786346" name="TextBox 22"/>
          <p:cNvSpPr txBox="1"/>
          <p:nvPr/>
        </p:nvSpPr>
        <p:spPr bwMode="auto">
          <a:xfrm>
            <a:off x="27432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₹39K</a:t>
            </a:r>
            <a:endParaRPr/>
          </a:p>
        </p:txBody>
      </p:sp>
      <p:sp>
        <p:nvSpPr>
          <p:cNvPr id="102905600" name="Rectangle 23"/>
          <p:cNvSpPr/>
          <p:nvPr/>
        </p:nvSpPr>
        <p:spPr bwMode="auto">
          <a:xfrm>
            <a:off x="5029200" y="33832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797595" name="TextBox 24"/>
          <p:cNvSpPr txBox="1"/>
          <p:nvPr/>
        </p:nvSpPr>
        <p:spPr bwMode="auto">
          <a:xfrm>
            <a:off x="5029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M6</a:t>
            </a:r>
            <a:endParaRPr/>
          </a:p>
        </p:txBody>
      </p:sp>
      <p:sp>
        <p:nvSpPr>
          <p:cNvPr id="800736834" name="TextBox 25"/>
          <p:cNvSpPr txBox="1"/>
          <p:nvPr/>
        </p:nvSpPr>
        <p:spPr bwMode="auto">
          <a:xfrm>
            <a:off x="502920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rPr/>
              <a:t>7.5K bookings</a:t>
            </a:r>
            <a:endParaRPr/>
          </a:p>
        </p:txBody>
      </p:sp>
      <p:sp>
        <p:nvSpPr>
          <p:cNvPr id="572524016" name="TextBox 26"/>
          <p:cNvSpPr txBox="1"/>
          <p:nvPr/>
        </p:nvSpPr>
        <p:spPr bwMode="auto">
          <a:xfrm>
            <a:off x="50292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₹1.57L</a:t>
            </a:r>
            <a:endParaRPr/>
          </a:p>
        </p:txBody>
      </p:sp>
      <p:sp>
        <p:nvSpPr>
          <p:cNvPr id="30942288" name="Rectangle 27"/>
          <p:cNvSpPr/>
          <p:nvPr/>
        </p:nvSpPr>
        <p:spPr bwMode="auto">
          <a:xfrm>
            <a:off x="7315200" y="3383280"/>
            <a:ext cx="21031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5659099" name="TextBox 28"/>
          <p:cNvSpPr txBox="1"/>
          <p:nvPr/>
        </p:nvSpPr>
        <p:spPr bwMode="auto">
          <a:xfrm>
            <a:off x="7315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rPr/>
              <a:t>M9</a:t>
            </a:r>
            <a:endParaRPr/>
          </a:p>
        </p:txBody>
      </p:sp>
      <p:sp>
        <p:nvSpPr>
          <p:cNvPr id="143031021" name="TextBox 29"/>
          <p:cNvSpPr txBox="1"/>
          <p:nvPr/>
        </p:nvSpPr>
        <p:spPr bwMode="auto">
          <a:xfrm>
            <a:off x="731520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Montserrat"/>
              </a:defRPr>
            </a:pPr>
            <a:r>
              <a:rPr/>
              <a:t>15K bookings</a:t>
            </a:r>
            <a:endParaRPr/>
          </a:p>
        </p:txBody>
      </p:sp>
      <p:sp>
        <p:nvSpPr>
          <p:cNvPr id="647584215" name="TextBox 30"/>
          <p:cNvSpPr txBox="1"/>
          <p:nvPr/>
        </p:nvSpPr>
        <p:spPr bwMode="auto">
          <a:xfrm>
            <a:off x="73152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₹3.6L</a:t>
            </a:r>
            <a:endParaRPr/>
          </a:p>
        </p:txBody>
      </p:sp>
      <p:sp>
        <p:nvSpPr>
          <p:cNvPr id="1415975062" name="Rectangle 31"/>
          <p:cNvSpPr/>
          <p:nvPr/>
        </p:nvSpPr>
        <p:spPr bwMode="auto">
          <a:xfrm>
            <a:off x="9601200" y="3383280"/>
            <a:ext cx="21031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9226022" name="TextBox 32"/>
          <p:cNvSpPr txBox="1"/>
          <p:nvPr/>
        </p:nvSpPr>
        <p:spPr bwMode="auto">
          <a:xfrm>
            <a:off x="9601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rPr/>
              <a:t>M12</a:t>
            </a:r>
            <a:endParaRPr/>
          </a:p>
        </p:txBody>
      </p:sp>
      <p:sp>
        <p:nvSpPr>
          <p:cNvPr id="1941352896" name="TextBox 33"/>
          <p:cNvSpPr txBox="1"/>
          <p:nvPr/>
        </p:nvSpPr>
        <p:spPr bwMode="auto">
          <a:xfrm>
            <a:off x="960120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ontserrat"/>
              </a:defRPr>
            </a:pPr>
            <a:r>
              <a:rPr/>
              <a:t>30K bookings</a:t>
            </a:r>
            <a:endParaRPr/>
          </a:p>
        </p:txBody>
      </p:sp>
      <p:sp>
        <p:nvSpPr>
          <p:cNvPr id="1609145368" name="TextBox 34"/>
          <p:cNvSpPr txBox="1"/>
          <p:nvPr/>
        </p:nvSpPr>
        <p:spPr bwMode="auto">
          <a:xfrm>
            <a:off x="9601200" y="4297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₹7.65L</a:t>
            </a:r>
            <a:endParaRPr/>
          </a:p>
        </p:txBody>
      </p:sp>
      <p:sp>
        <p:nvSpPr>
          <p:cNvPr id="974826807" name="Rectangle 35"/>
          <p:cNvSpPr/>
          <p:nvPr/>
        </p:nvSpPr>
        <p:spPr bwMode="auto">
          <a:xfrm>
            <a:off x="457200" y="5303520"/>
            <a:ext cx="5486400" cy="7315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4533770" name="TextBox 36"/>
          <p:cNvSpPr txBox="1"/>
          <p:nvPr/>
        </p:nvSpPr>
        <p:spPr bwMode="auto">
          <a:xfrm>
            <a:off x="640080" y="5440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/>
              <a:t>BREAK-EVEN: Month 10-11 | Profitable from Q4</a:t>
            </a:r>
            <a:endParaRPr/>
          </a:p>
        </p:txBody>
      </p:sp>
      <p:sp>
        <p:nvSpPr>
          <p:cNvPr id="131999419" name="Rectangle 37"/>
          <p:cNvSpPr/>
          <p:nvPr/>
        </p:nvSpPr>
        <p:spPr bwMode="auto">
          <a:xfrm>
            <a:off x="6400800" y="5303520"/>
            <a:ext cx="5303520" cy="731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2276720" name="TextBox 38"/>
          <p:cNvSpPr txBox="1"/>
          <p:nvPr/>
        </p:nvSpPr>
        <p:spPr bwMode="auto">
          <a:xfrm>
            <a:off x="6583680" y="5440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Montserrat"/>
              </a:defRPr>
            </a:pPr>
            <a:r>
              <a:rPr/>
              <a:t>TEAM: 8 → 25 → 60 people (Y1 → Y3)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284277" name="TextBox 1"/>
          <p:cNvSpPr txBox="1"/>
          <p:nvPr/>
        </p:nvSpPr>
        <p:spPr bwMode="auto"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rPr/>
              <a:t>THE ASK</a:t>
            </a:r>
            <a:endParaRPr/>
          </a:p>
        </p:txBody>
      </p:sp>
      <p:sp>
        <p:nvSpPr>
          <p:cNvPr id="1345382938" name="TextBox 2"/>
          <p:cNvSpPr txBox="1"/>
          <p:nvPr/>
        </p:nvSpPr>
        <p:spPr bwMode="auto">
          <a:xfrm>
            <a:off x="73152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D700"/>
                </a:solidFill>
                <a:latin typeface="Arial Black"/>
              </a:defRPr>
            </a:pPr>
            <a:r>
              <a:rPr/>
              <a:t>₹36 LAKH</a:t>
            </a:r>
            <a:endParaRPr/>
          </a:p>
        </p:txBody>
      </p:sp>
      <p:sp>
        <p:nvSpPr>
          <p:cNvPr id="1173778418" name="TextBox 3"/>
          <p:cNvSpPr txBox="1"/>
          <p:nvPr/>
        </p:nvSpPr>
        <p:spPr bwMode="auto">
          <a:xfrm>
            <a:off x="73152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rPr/>
              <a:t>SEED FUNDING (~$43K USD)</a:t>
            </a:r>
            <a:endParaRPr/>
          </a:p>
        </p:txBody>
      </p:sp>
      <p:sp>
        <p:nvSpPr>
          <p:cNvPr id="1632924564" name="TextBox 4"/>
          <p:cNvSpPr txBox="1"/>
          <p:nvPr/>
        </p:nvSpPr>
        <p:spPr bwMode="auto">
          <a:xfrm>
            <a:off x="6400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Tech Development</a:t>
            </a:r>
            <a:endParaRPr/>
          </a:p>
        </p:txBody>
      </p:sp>
      <p:sp>
        <p:nvSpPr>
          <p:cNvPr id="365054464" name="TextBox 5"/>
          <p:cNvSpPr txBox="1"/>
          <p:nvPr/>
        </p:nvSpPr>
        <p:spPr bwMode="auto">
          <a:xfrm>
            <a:off x="9875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₹5 Lakh</a:t>
            </a:r>
            <a:endParaRPr/>
          </a:p>
        </p:txBody>
      </p:sp>
      <p:sp>
        <p:nvSpPr>
          <p:cNvPr id="1154513762" name="TextBox 6"/>
          <p:cNvSpPr txBox="1"/>
          <p:nvPr/>
        </p:nvSpPr>
        <p:spPr bwMode="auto">
          <a:xfrm>
            <a:off x="64008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6-Month Runway</a:t>
            </a:r>
            <a:endParaRPr/>
          </a:p>
        </p:txBody>
      </p:sp>
      <p:sp>
        <p:nvSpPr>
          <p:cNvPr id="867450280" name="TextBox 7"/>
          <p:cNvSpPr txBox="1"/>
          <p:nvPr/>
        </p:nvSpPr>
        <p:spPr bwMode="auto">
          <a:xfrm>
            <a:off x="9875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₹18 Lakh</a:t>
            </a:r>
            <a:endParaRPr/>
          </a:p>
        </p:txBody>
      </p:sp>
      <p:sp>
        <p:nvSpPr>
          <p:cNvPr id="230043284" name="TextBox 8"/>
          <p:cNvSpPr txBox="1"/>
          <p:nvPr/>
        </p:nvSpPr>
        <p:spPr bwMode="auto">
          <a:xfrm>
            <a:off x="64008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Marketing</a:t>
            </a:r>
            <a:endParaRPr/>
          </a:p>
        </p:txBody>
      </p:sp>
      <p:sp>
        <p:nvSpPr>
          <p:cNvPr id="114804971" name="TextBox 9"/>
          <p:cNvSpPr txBox="1"/>
          <p:nvPr/>
        </p:nvSpPr>
        <p:spPr bwMode="auto">
          <a:xfrm>
            <a:off x="98755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₹6.5 Lakh</a:t>
            </a:r>
            <a:endParaRPr/>
          </a:p>
        </p:txBody>
      </p:sp>
      <p:sp>
        <p:nvSpPr>
          <p:cNvPr id="1303663877" name="TextBox 10"/>
          <p:cNvSpPr txBox="1"/>
          <p:nvPr/>
        </p:nvSpPr>
        <p:spPr bwMode="auto">
          <a:xfrm>
            <a:off x="64008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Equipment</a:t>
            </a:r>
            <a:endParaRPr/>
          </a:p>
        </p:txBody>
      </p:sp>
      <p:sp>
        <p:nvSpPr>
          <p:cNvPr id="883877079" name="TextBox 11"/>
          <p:cNvSpPr txBox="1"/>
          <p:nvPr/>
        </p:nvSpPr>
        <p:spPr bwMode="auto">
          <a:xfrm>
            <a:off x="9875520" y="3291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₹3 Lakh</a:t>
            </a:r>
            <a:endParaRPr/>
          </a:p>
        </p:txBody>
      </p:sp>
      <p:sp>
        <p:nvSpPr>
          <p:cNvPr id="624640875" name="TextBox 12"/>
          <p:cNvSpPr txBox="1"/>
          <p:nvPr/>
        </p:nvSpPr>
        <p:spPr bwMode="auto">
          <a:xfrm>
            <a:off x="64008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Contingency</a:t>
            </a:r>
            <a:endParaRPr/>
          </a:p>
        </p:txBody>
      </p:sp>
      <p:sp>
        <p:nvSpPr>
          <p:cNvPr id="2145894780" name="TextBox 13"/>
          <p:cNvSpPr txBox="1"/>
          <p:nvPr/>
        </p:nvSpPr>
        <p:spPr bwMode="auto">
          <a:xfrm>
            <a:off x="9875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₹3.25 Lakh</a:t>
            </a:r>
            <a:endParaRPr/>
          </a:p>
        </p:txBody>
      </p:sp>
      <p:sp>
        <p:nvSpPr>
          <p:cNvPr id="692421684" name="Rectangle 14"/>
          <p:cNvSpPr/>
          <p:nvPr/>
        </p:nvSpPr>
        <p:spPr bwMode="auto">
          <a:xfrm>
            <a:off x="457200" y="4114800"/>
            <a:ext cx="502920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411212" name="TextBox 15"/>
          <p:cNvSpPr txBox="1"/>
          <p:nvPr/>
        </p:nvSpPr>
        <p:spPr bwMode="auto">
          <a:xfrm>
            <a:off x="64008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EXPECTED RETURNS</a:t>
            </a:r>
            <a:endParaRPr/>
          </a:p>
        </p:txBody>
      </p:sp>
      <p:sp>
        <p:nvSpPr>
          <p:cNvPr id="94166971" name="TextBox 16"/>
          <p:cNvSpPr txBox="1"/>
          <p:nvPr/>
        </p:nvSpPr>
        <p:spPr bwMode="auto">
          <a:xfrm>
            <a:off x="640080" y="4846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rPr/>
              <a:t>5-10x for seed investors</a:t>
            </a:r>
            <a:endParaRPr/>
          </a:p>
        </p:txBody>
      </p:sp>
      <p:sp>
        <p:nvSpPr>
          <p:cNvPr id="566445157" name="Rectangle 17"/>
          <p:cNvSpPr/>
          <p:nvPr/>
        </p:nvSpPr>
        <p:spPr bwMode="auto">
          <a:xfrm>
            <a:off x="457200" y="5669280"/>
            <a:ext cx="11277295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1699549" name="TextBox 18"/>
          <p:cNvSpPr txBox="1"/>
          <p:nvPr/>
        </p:nvSpPr>
        <p:spPr bwMode="auto">
          <a:xfrm>
            <a:off x="914400" y="58064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Target Valuation: ₹50+ Crore by Year 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73460" name="Rectangle 1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530262" name="TextBox 2"/>
          <p:cNvSpPr txBox="1"/>
          <p:nvPr/>
        </p:nvSpPr>
        <p:spPr bwMode="auto"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TEAM STRUCTURE</a:t>
            </a:r>
            <a:endParaRPr/>
          </a:p>
        </p:txBody>
      </p:sp>
      <p:sp>
        <p:nvSpPr>
          <p:cNvPr id="1516750537" name="Rectangle 3"/>
          <p:cNvSpPr/>
          <p:nvPr/>
        </p:nvSpPr>
        <p:spPr bwMode="auto">
          <a:xfrm>
            <a:off x="914400" y="1463040"/>
            <a:ext cx="365760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676830" name="TextBox 4"/>
          <p:cNvSpPr txBox="1"/>
          <p:nvPr/>
        </p:nvSpPr>
        <p:spPr bwMode="auto">
          <a:xfrm>
            <a:off x="109728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CEO / FOUNDER</a:t>
            </a:r>
            <a:endParaRPr/>
          </a:p>
        </p:txBody>
      </p:sp>
      <p:sp>
        <p:nvSpPr>
          <p:cNvPr id="1164069219" name="Rectangle 5"/>
          <p:cNvSpPr/>
          <p:nvPr/>
        </p:nvSpPr>
        <p:spPr bwMode="auto">
          <a:xfrm>
            <a:off x="4572000" y="146304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260911" name="TextBox 6"/>
          <p:cNvSpPr txBox="1"/>
          <p:nvPr/>
        </p:nvSpPr>
        <p:spPr bwMode="auto">
          <a:xfrm>
            <a:off x="4754880" y="16916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Strategy, vision, investor relations</a:t>
            </a:r>
            <a:endParaRPr/>
          </a:p>
        </p:txBody>
      </p:sp>
      <p:sp>
        <p:nvSpPr>
          <p:cNvPr id="1620592260" name="Rectangle 7"/>
          <p:cNvSpPr/>
          <p:nvPr/>
        </p:nvSpPr>
        <p:spPr bwMode="auto">
          <a:xfrm>
            <a:off x="914400" y="2377440"/>
            <a:ext cx="365760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316025" name="TextBox 8"/>
          <p:cNvSpPr txBox="1"/>
          <p:nvPr/>
        </p:nvSpPr>
        <p:spPr bwMode="auto">
          <a:xfrm>
            <a:off x="109728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CTO</a:t>
            </a:r>
            <a:endParaRPr/>
          </a:p>
        </p:txBody>
      </p:sp>
      <p:sp>
        <p:nvSpPr>
          <p:cNvPr id="1835451441" name="Rectangle 9"/>
          <p:cNvSpPr/>
          <p:nvPr/>
        </p:nvSpPr>
        <p:spPr bwMode="auto">
          <a:xfrm>
            <a:off x="4572000" y="237744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173591" name="TextBox 10"/>
          <p:cNvSpPr txBox="1"/>
          <p:nvPr/>
        </p:nvSpPr>
        <p:spPr bwMode="auto">
          <a:xfrm>
            <a:off x="4754880" y="26060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App development, tech infrastructure</a:t>
            </a:r>
            <a:endParaRPr/>
          </a:p>
        </p:txBody>
      </p:sp>
      <p:sp>
        <p:nvSpPr>
          <p:cNvPr id="818837013" name="Rectangle 11"/>
          <p:cNvSpPr/>
          <p:nvPr/>
        </p:nvSpPr>
        <p:spPr bwMode="auto">
          <a:xfrm>
            <a:off x="914400" y="3291840"/>
            <a:ext cx="365760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487606" name="TextBox 12"/>
          <p:cNvSpPr txBox="1"/>
          <p:nvPr/>
        </p:nvSpPr>
        <p:spPr bwMode="auto">
          <a:xfrm>
            <a:off x="109728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OPERATIONS MGR</a:t>
            </a:r>
            <a:endParaRPr/>
          </a:p>
        </p:txBody>
      </p:sp>
      <p:sp>
        <p:nvSpPr>
          <p:cNvPr id="20734787" name="Rectangle 13"/>
          <p:cNvSpPr/>
          <p:nvPr/>
        </p:nvSpPr>
        <p:spPr bwMode="auto">
          <a:xfrm>
            <a:off x="4572000" y="329184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1780163" name="TextBox 14"/>
          <p:cNvSpPr txBox="1"/>
          <p:nvPr/>
        </p:nvSpPr>
        <p:spPr bwMode="auto">
          <a:xfrm>
            <a:off x="4754880" y="35204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Partner onboarding, quality control</a:t>
            </a:r>
            <a:endParaRPr/>
          </a:p>
        </p:txBody>
      </p:sp>
      <p:sp>
        <p:nvSpPr>
          <p:cNvPr id="1966868637" name="Rectangle 15"/>
          <p:cNvSpPr/>
          <p:nvPr/>
        </p:nvSpPr>
        <p:spPr bwMode="auto">
          <a:xfrm>
            <a:off x="914400" y="4206240"/>
            <a:ext cx="365760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989605" name="TextBox 16"/>
          <p:cNvSpPr txBox="1"/>
          <p:nvPr/>
        </p:nvSpPr>
        <p:spPr bwMode="auto">
          <a:xfrm>
            <a:off x="1097280" y="4434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LOGISTICS</a:t>
            </a:r>
            <a:endParaRPr/>
          </a:p>
        </p:txBody>
      </p:sp>
      <p:sp>
        <p:nvSpPr>
          <p:cNvPr id="353766260" name="Rectangle 17"/>
          <p:cNvSpPr/>
          <p:nvPr/>
        </p:nvSpPr>
        <p:spPr bwMode="auto">
          <a:xfrm>
            <a:off x="4572000" y="420624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905909" name="TextBox 18"/>
          <p:cNvSpPr txBox="1"/>
          <p:nvPr/>
        </p:nvSpPr>
        <p:spPr bwMode="auto">
          <a:xfrm>
            <a:off x="4754880" y="44348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Delivery partners, courier management</a:t>
            </a:r>
            <a:endParaRPr/>
          </a:p>
        </p:txBody>
      </p:sp>
      <p:sp>
        <p:nvSpPr>
          <p:cNvPr id="12323455" name="Rectangle 19"/>
          <p:cNvSpPr/>
          <p:nvPr/>
        </p:nvSpPr>
        <p:spPr bwMode="auto">
          <a:xfrm>
            <a:off x="914400" y="5120640"/>
            <a:ext cx="365760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2782733" name="TextBox 20"/>
          <p:cNvSpPr txBox="1"/>
          <p:nvPr/>
        </p:nvSpPr>
        <p:spPr bwMode="auto">
          <a:xfrm>
            <a:off x="1097280" y="5349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SUPPORT LEAD</a:t>
            </a:r>
            <a:endParaRPr/>
          </a:p>
        </p:txBody>
      </p:sp>
      <p:sp>
        <p:nvSpPr>
          <p:cNvPr id="434894575" name="Rectangle 21"/>
          <p:cNvSpPr/>
          <p:nvPr/>
        </p:nvSpPr>
        <p:spPr bwMode="auto">
          <a:xfrm>
            <a:off x="4572000" y="512064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3669089" name="TextBox 22"/>
          <p:cNvSpPr txBox="1"/>
          <p:nvPr/>
        </p:nvSpPr>
        <p:spPr bwMode="auto">
          <a:xfrm>
            <a:off x="4754880" y="53492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Montserrat"/>
              </a:defRPr>
            </a:pPr>
            <a:r>
              <a:rPr/>
              <a:t>24/7 phone &amp; app support</a:t>
            </a:r>
            <a:endParaRPr/>
          </a:p>
        </p:txBody>
      </p:sp>
      <p:sp>
        <p:nvSpPr>
          <p:cNvPr id="1265462358" name="Rectangle 23"/>
          <p:cNvSpPr/>
          <p:nvPr/>
        </p:nvSpPr>
        <p:spPr bwMode="auto">
          <a:xfrm>
            <a:off x="914400" y="6217920"/>
            <a:ext cx="32004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8099432" name="TextBox 24"/>
          <p:cNvSpPr txBox="1"/>
          <p:nvPr/>
        </p:nvSpPr>
        <p:spPr bwMode="auto">
          <a:xfrm>
            <a:off x="9144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ontserrat"/>
              </a:defRPr>
            </a:pPr>
            <a:r>
              <a:rPr/>
              <a:t>8 Team Members by Year 1</a:t>
            </a:r>
            <a:endParaRPr/>
          </a:p>
        </p:txBody>
      </p:sp>
      <p:sp>
        <p:nvSpPr>
          <p:cNvPr id="342108992" name="Rectangle 25"/>
          <p:cNvSpPr/>
          <p:nvPr/>
        </p:nvSpPr>
        <p:spPr bwMode="auto">
          <a:xfrm>
            <a:off x="4572000" y="6217920"/>
            <a:ext cx="32004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6418024" name="TextBox 26"/>
          <p:cNvSpPr txBox="1"/>
          <p:nvPr/>
        </p:nvSpPr>
        <p:spPr bwMode="auto">
          <a:xfrm>
            <a:off x="4572000" y="6263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ontserrat"/>
              </a:defRPr>
            </a:pPr>
            <a:r>
              <a:rPr/>
              <a:t>HQ: Kutch, Gujarat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092239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Arial Black"/>
              </a:defRPr>
            </a:pPr>
            <a:r>
              <a:rPr/>
              <a:t>MARKETING STRATEGY</a:t>
            </a:r>
            <a:endParaRPr/>
          </a:p>
        </p:txBody>
      </p:sp>
      <p:sp>
        <p:nvSpPr>
          <p:cNvPr id="1260648261" name="Rectangle 2"/>
          <p:cNvSpPr/>
          <p:nvPr/>
        </p:nvSpPr>
        <p:spPr bwMode="auto">
          <a:xfrm>
            <a:off x="457200" y="1280160"/>
            <a:ext cx="365760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841817" name="TextBox 3"/>
          <p:cNvSpPr txBox="1"/>
          <p:nvPr/>
        </p:nvSpPr>
        <p:spPr bwMode="auto"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DIGITAL ADS</a:t>
            </a:r>
            <a:endParaRPr/>
          </a:p>
        </p:txBody>
      </p:sp>
      <p:sp>
        <p:nvSpPr>
          <p:cNvPr id="1540739184" name="TextBox 4"/>
          <p:cNvSpPr txBox="1"/>
          <p:nvPr/>
        </p:nvSpPr>
        <p:spPr bwMode="auto">
          <a:xfrm>
            <a:off x="64008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Instagram, Facebook, Google</a:t>
            </a:r>
            <a:endParaRPr/>
          </a:p>
        </p:txBody>
      </p:sp>
      <p:sp>
        <p:nvSpPr>
          <p:cNvPr id="1407298459" name="TextBox 5"/>
          <p:cNvSpPr txBox="1"/>
          <p:nvPr/>
        </p:nvSpPr>
        <p:spPr bwMode="auto">
          <a:xfrm>
            <a:off x="64008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ontserrat"/>
              </a:defRPr>
            </a:pPr>
            <a:r>
              <a:rPr/>
              <a:t>₹55K/mo</a:t>
            </a:r>
            <a:endParaRPr/>
          </a:p>
        </p:txBody>
      </p:sp>
      <p:sp>
        <p:nvSpPr>
          <p:cNvPr id="305795524" name="Rectangle 6"/>
          <p:cNvSpPr/>
          <p:nvPr/>
        </p:nvSpPr>
        <p:spPr bwMode="auto">
          <a:xfrm>
            <a:off x="4297680" y="1280160"/>
            <a:ext cx="365760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5016742" name="TextBox 7"/>
          <p:cNvSpPr txBox="1"/>
          <p:nvPr/>
        </p:nvSpPr>
        <p:spPr bwMode="auto"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INFLUENCERS</a:t>
            </a:r>
            <a:endParaRPr/>
          </a:p>
        </p:txBody>
      </p:sp>
      <p:sp>
        <p:nvSpPr>
          <p:cNvPr id="53477421" name="TextBox 8"/>
          <p:cNvSpPr txBox="1"/>
          <p:nvPr/>
        </p:nvSpPr>
        <p:spPr bwMode="auto">
          <a:xfrm>
            <a:off x="448056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/>
              <a:t>Travel vloggers, creators</a:t>
            </a:r>
            <a:endParaRPr/>
          </a:p>
        </p:txBody>
      </p:sp>
      <p:sp>
        <p:nvSpPr>
          <p:cNvPr id="2105721607" name="TextBox 9"/>
          <p:cNvSpPr txBox="1"/>
          <p:nvPr/>
        </p:nvSpPr>
        <p:spPr bwMode="auto">
          <a:xfrm>
            <a:off x="448056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₹30K/mo</a:t>
            </a:r>
            <a:endParaRPr/>
          </a:p>
        </p:txBody>
      </p:sp>
      <p:sp>
        <p:nvSpPr>
          <p:cNvPr id="383713595" name="Rectangle 10"/>
          <p:cNvSpPr/>
          <p:nvPr/>
        </p:nvSpPr>
        <p:spPr bwMode="auto">
          <a:xfrm>
            <a:off x="8138160" y="1280160"/>
            <a:ext cx="365760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222319" name="TextBox 11"/>
          <p:cNvSpPr txBox="1"/>
          <p:nvPr/>
        </p:nvSpPr>
        <p:spPr bwMode="auto">
          <a:xfrm>
            <a:off x="8321039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TRANSIT HUBS</a:t>
            </a:r>
            <a:endParaRPr/>
          </a:p>
        </p:txBody>
      </p:sp>
      <p:sp>
        <p:nvSpPr>
          <p:cNvPr id="2115670671" name="TextBox 12"/>
          <p:cNvSpPr txBox="1"/>
          <p:nvPr/>
        </p:nvSpPr>
        <p:spPr bwMode="auto">
          <a:xfrm>
            <a:off x="832103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Stations, airports, flyers</a:t>
            </a:r>
            <a:endParaRPr/>
          </a:p>
        </p:txBody>
      </p:sp>
      <p:sp>
        <p:nvSpPr>
          <p:cNvPr id="631593060" name="TextBox 13"/>
          <p:cNvSpPr txBox="1"/>
          <p:nvPr/>
        </p:nvSpPr>
        <p:spPr bwMode="auto">
          <a:xfrm>
            <a:off x="8321039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ontserrat"/>
              </a:defRPr>
            </a:pPr>
            <a:r>
              <a:rPr/>
              <a:t>₹25K/mo</a:t>
            </a:r>
            <a:endParaRPr/>
          </a:p>
        </p:txBody>
      </p:sp>
      <p:sp>
        <p:nvSpPr>
          <p:cNvPr id="2009558953" name="Rectangle 14"/>
          <p:cNvSpPr/>
          <p:nvPr/>
        </p:nvSpPr>
        <p:spPr bwMode="auto">
          <a:xfrm>
            <a:off x="457200" y="3383280"/>
            <a:ext cx="5486400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9892288" name="TextBox 15"/>
          <p:cNvSpPr txBox="1"/>
          <p:nvPr/>
        </p:nvSpPr>
        <p:spPr bwMode="auto"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REFERRAL PROGRAM</a:t>
            </a:r>
            <a:endParaRPr/>
          </a:p>
        </p:txBody>
      </p:sp>
      <p:sp>
        <p:nvSpPr>
          <p:cNvPr id="1015651200" name="TextBox 16"/>
          <p:cNvSpPr txBox="1"/>
          <p:nvPr/>
        </p:nvSpPr>
        <p:spPr bwMode="auto">
          <a:xfrm>
            <a:off x="64008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/>
              <a:t>₹50 credit for every friend who signs up</a:t>
            </a:r>
            <a:br>
              <a:rPr/>
            </a:br>
            <a:r>
              <a:rPr/>
              <a:t>Stackable rewards, no expiry for 6 months</a:t>
            </a:r>
            <a:endParaRPr/>
          </a:p>
        </p:txBody>
      </p:sp>
      <p:sp>
        <p:nvSpPr>
          <p:cNvPr id="657233263" name="Rectangle 17"/>
          <p:cNvSpPr/>
          <p:nvPr/>
        </p:nvSpPr>
        <p:spPr bwMode="auto">
          <a:xfrm>
            <a:off x="6217920" y="3383280"/>
            <a:ext cx="5486400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064326" name="TextBox 18"/>
          <p:cNvSpPr txBox="1"/>
          <p:nvPr/>
        </p:nvSpPr>
        <p:spPr bwMode="auto"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PARTNER ONBOARDING</a:t>
            </a:r>
            <a:endParaRPr/>
          </a:p>
        </p:txBody>
      </p:sp>
      <p:sp>
        <p:nvSpPr>
          <p:cNvPr id="1578038411" name="TextBox 19"/>
          <p:cNvSpPr txBox="1"/>
          <p:nvPr/>
        </p:nvSpPr>
        <p:spPr bwMode="auto">
          <a:xfrm>
            <a:off x="640080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70% revenue share to shop owners</a:t>
            </a:r>
            <a:br>
              <a:rPr/>
            </a:br>
            <a:r>
              <a:rPr/>
              <a:t>No lock-in, weekly payouts</a:t>
            </a:r>
            <a:endParaRPr/>
          </a:p>
        </p:txBody>
      </p:sp>
      <p:sp>
        <p:nvSpPr>
          <p:cNvPr id="355796911" name="Rectangle 20"/>
          <p:cNvSpPr/>
          <p:nvPr/>
        </p:nvSpPr>
        <p:spPr bwMode="auto">
          <a:xfrm>
            <a:off x="457200" y="5120640"/>
            <a:ext cx="112772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2787732" name="TextBox 21"/>
          <p:cNvSpPr txBox="1"/>
          <p:nvPr/>
        </p:nvSpPr>
        <p:spPr bwMode="auto"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ANNUAL MARKETING BUDGET: ₹6.45 LAKH</a:t>
            </a:r>
            <a:endParaRPr/>
          </a:p>
        </p:txBody>
      </p:sp>
      <p:sp>
        <p:nvSpPr>
          <p:cNvPr id="1279827360" name="TextBox 22"/>
          <p:cNvSpPr txBox="1"/>
          <p:nvPr/>
        </p:nvSpPr>
        <p:spPr bwMode="auto"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TARGETS: 50K Downloads | 100 Partners | 30K Monthly Bookings (Year 1)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989207" name="Rectangle 1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562664" name="TextBox 2"/>
          <p:cNvSpPr txBox="1"/>
          <p:nvPr/>
        </p:nvSpPr>
        <p:spPr bwMode="auto"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RISK MITIGATION</a:t>
            </a:r>
            <a:endParaRPr/>
          </a:p>
        </p:txBody>
      </p:sp>
      <p:sp>
        <p:nvSpPr>
          <p:cNvPr id="1572386871" name="Rectangle 3"/>
          <p:cNvSpPr/>
          <p:nvPr/>
        </p:nvSpPr>
        <p:spPr bwMode="auto">
          <a:xfrm>
            <a:off x="914400" y="1371600"/>
            <a:ext cx="292608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3408833" name="TextBox 4"/>
          <p:cNvSpPr txBox="1"/>
          <p:nvPr/>
        </p:nvSpPr>
        <p:spPr bwMode="auto">
          <a:xfrm>
            <a:off x="10972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SECURITY</a:t>
            </a:r>
            <a:endParaRPr/>
          </a:p>
        </p:txBody>
      </p:sp>
      <p:sp>
        <p:nvSpPr>
          <p:cNvPr id="450225384" name="Rectangle 5"/>
          <p:cNvSpPr/>
          <p:nvPr/>
        </p:nvSpPr>
        <p:spPr bwMode="auto">
          <a:xfrm>
            <a:off x="3840480" y="1371600"/>
            <a:ext cx="78638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5444789" name="TextBox 6"/>
          <p:cNvSpPr txBox="1"/>
          <p:nvPr/>
        </p:nvSpPr>
        <p:spPr bwMode="auto">
          <a:xfrm>
            <a:off x="4023360" y="16002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rPr/>
              <a:t>₹25K insurance per bag, CCTV monitoring at all partners</a:t>
            </a:r>
            <a:endParaRPr/>
          </a:p>
        </p:txBody>
      </p:sp>
      <p:sp>
        <p:nvSpPr>
          <p:cNvPr id="1005321069" name="Rectangle 7"/>
          <p:cNvSpPr/>
          <p:nvPr/>
        </p:nvSpPr>
        <p:spPr bwMode="auto">
          <a:xfrm>
            <a:off x="914400" y="2331720"/>
            <a:ext cx="292608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635495" name="TextBox 8"/>
          <p:cNvSpPr txBox="1"/>
          <p:nvPr/>
        </p:nvSpPr>
        <p:spPr bwMode="auto">
          <a:xfrm>
            <a:off x="10972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THEFT/DAMAGE</a:t>
            </a:r>
            <a:endParaRPr/>
          </a:p>
        </p:txBody>
      </p:sp>
      <p:sp>
        <p:nvSpPr>
          <p:cNvPr id="1679273470" name="Rectangle 9"/>
          <p:cNvSpPr/>
          <p:nvPr/>
        </p:nvSpPr>
        <p:spPr bwMode="auto">
          <a:xfrm>
            <a:off x="3840480" y="2331720"/>
            <a:ext cx="78638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537809" name="TextBox 10"/>
          <p:cNvSpPr txBox="1"/>
          <p:nvPr/>
        </p:nvSpPr>
        <p:spPr bwMode="auto">
          <a:xfrm>
            <a:off x="4023360" y="25603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rPr/>
              <a:t>Instant claim processing, 48-hour resolution guarantee</a:t>
            </a:r>
            <a:endParaRPr/>
          </a:p>
        </p:txBody>
      </p:sp>
      <p:sp>
        <p:nvSpPr>
          <p:cNvPr id="1011168545" name="Rectangle 11"/>
          <p:cNvSpPr/>
          <p:nvPr/>
        </p:nvSpPr>
        <p:spPr bwMode="auto">
          <a:xfrm>
            <a:off x="914400" y="3291840"/>
            <a:ext cx="292608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958996" name="TextBox 12"/>
          <p:cNvSpPr txBox="1"/>
          <p:nvPr/>
        </p:nvSpPr>
        <p:spPr bwMode="auto">
          <a:xfrm>
            <a:off x="109728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LOW ADOPTION</a:t>
            </a:r>
            <a:endParaRPr/>
          </a:p>
        </p:txBody>
      </p:sp>
      <p:sp>
        <p:nvSpPr>
          <p:cNvPr id="881725788" name="Rectangle 13"/>
          <p:cNvSpPr/>
          <p:nvPr/>
        </p:nvSpPr>
        <p:spPr bwMode="auto">
          <a:xfrm>
            <a:off x="3840480" y="3291840"/>
            <a:ext cx="78638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030403" name="TextBox 14"/>
          <p:cNvSpPr txBox="1"/>
          <p:nvPr/>
        </p:nvSpPr>
        <p:spPr bwMode="auto">
          <a:xfrm>
            <a:off x="4023360" y="3520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rPr/>
              <a:t>Launch during Rann Utsav peak, hotel partnerships</a:t>
            </a:r>
            <a:endParaRPr/>
          </a:p>
        </p:txBody>
      </p:sp>
      <p:sp>
        <p:nvSpPr>
          <p:cNvPr id="1806990453" name="Rectangle 15"/>
          <p:cNvSpPr/>
          <p:nvPr/>
        </p:nvSpPr>
        <p:spPr bwMode="auto">
          <a:xfrm>
            <a:off x="914400" y="4251960"/>
            <a:ext cx="292608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1464891" name="TextBox 16"/>
          <p:cNvSpPr txBox="1"/>
          <p:nvPr/>
        </p:nvSpPr>
        <p:spPr bwMode="auto">
          <a:xfrm>
            <a:off x="109728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TECH FAILURE</a:t>
            </a:r>
            <a:endParaRPr/>
          </a:p>
        </p:txBody>
      </p:sp>
      <p:sp>
        <p:nvSpPr>
          <p:cNvPr id="80830301" name="Rectangle 17"/>
          <p:cNvSpPr/>
          <p:nvPr/>
        </p:nvSpPr>
        <p:spPr bwMode="auto">
          <a:xfrm>
            <a:off x="3840480" y="4251960"/>
            <a:ext cx="78638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947614" name="TextBox 18"/>
          <p:cNvSpPr txBox="1"/>
          <p:nvPr/>
        </p:nvSpPr>
        <p:spPr bwMode="auto">
          <a:xfrm>
            <a:off x="4023360" y="4480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rPr/>
              <a:t>99.9% uptime SLA, offline OTP fallback system</a:t>
            </a:r>
            <a:endParaRPr/>
          </a:p>
        </p:txBody>
      </p:sp>
      <p:sp>
        <p:nvSpPr>
          <p:cNvPr id="693088914" name="Rectangle 19"/>
          <p:cNvSpPr/>
          <p:nvPr/>
        </p:nvSpPr>
        <p:spPr bwMode="auto">
          <a:xfrm>
            <a:off x="914400" y="5212080"/>
            <a:ext cx="292608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9134981" name="TextBox 20"/>
          <p:cNvSpPr txBox="1"/>
          <p:nvPr/>
        </p:nvSpPr>
        <p:spPr bwMode="auto">
          <a:xfrm>
            <a:off x="109728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ontserrat"/>
              </a:defRPr>
            </a:pPr>
            <a:r>
              <a:rPr/>
              <a:t>COMPETITION</a:t>
            </a:r>
            <a:endParaRPr/>
          </a:p>
        </p:txBody>
      </p:sp>
      <p:sp>
        <p:nvSpPr>
          <p:cNvPr id="2089050459" name="Rectangle 21"/>
          <p:cNvSpPr/>
          <p:nvPr/>
        </p:nvSpPr>
        <p:spPr bwMode="auto">
          <a:xfrm>
            <a:off x="3840480" y="5212080"/>
            <a:ext cx="78638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31865" name="TextBox 22"/>
          <p:cNvSpPr txBox="1"/>
          <p:nvPr/>
        </p:nvSpPr>
        <p:spPr bwMode="auto">
          <a:xfrm>
            <a:off x="4023360" y="5440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Montserrat"/>
              </a:defRPr>
            </a:pPr>
            <a:r>
              <a:rPr/>
              <a:t>First-mover in Gujarat, unique delivery USP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611915" name="Rectangle 1"/>
          <p:cNvSpPr/>
          <p:nvPr/>
        </p:nvSpPr>
        <p:spPr bwMode="auto">
          <a:xfrm>
            <a:off x="0" y="0"/>
            <a:ext cx="3657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7154807" name="TextBox 2"/>
          <p:cNvSpPr txBox="1"/>
          <p:nvPr/>
        </p:nvSpPr>
        <p:spPr bwMode="auto"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rPr/>
              <a:t>EXIT STRATEGY</a:t>
            </a:r>
            <a:endParaRPr/>
          </a:p>
        </p:txBody>
      </p:sp>
      <p:sp>
        <p:nvSpPr>
          <p:cNvPr id="1079447740" name="TextBox 3"/>
          <p:cNvSpPr txBox="1"/>
          <p:nvPr/>
        </p:nvSpPr>
        <p:spPr bwMode="auto"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rPr/>
              <a:t>Multiple paths to investor returns</a:t>
            </a:r>
            <a:endParaRPr/>
          </a:p>
        </p:txBody>
      </p:sp>
      <p:sp>
        <p:nvSpPr>
          <p:cNvPr id="468518678" name="Rectangle 4"/>
          <p:cNvSpPr/>
          <p:nvPr/>
        </p:nvSpPr>
        <p:spPr bwMode="auto">
          <a:xfrm>
            <a:off x="731520" y="2103120"/>
            <a:ext cx="45720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6454102" name="TextBox 5"/>
          <p:cNvSpPr txBox="1"/>
          <p:nvPr/>
        </p:nvSpPr>
        <p:spPr bwMode="auto">
          <a:xfrm>
            <a:off x="914400" y="2240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rPr/>
              <a:t>STRATEGIC ACQUISITION</a:t>
            </a:r>
            <a:endParaRPr/>
          </a:p>
        </p:txBody>
      </p:sp>
      <p:sp>
        <p:nvSpPr>
          <p:cNvPr id="995919630" name="TextBox 6"/>
          <p:cNvSpPr txBox="1"/>
          <p:nvPr/>
        </p:nvSpPr>
        <p:spPr bwMode="auto">
          <a:xfrm>
            <a:off x="914400" y="2743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MakeMyTrip, OYO, Yatra, ixigo</a:t>
            </a:r>
            <a:endParaRPr/>
          </a:p>
        </p:txBody>
      </p:sp>
      <p:sp>
        <p:nvSpPr>
          <p:cNvPr id="1823682466" name="Rectangle 7"/>
          <p:cNvSpPr/>
          <p:nvPr/>
        </p:nvSpPr>
        <p:spPr bwMode="auto">
          <a:xfrm>
            <a:off x="5486400" y="2103120"/>
            <a:ext cx="594360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9465322" name="TextBox 8"/>
          <p:cNvSpPr txBox="1"/>
          <p:nvPr/>
        </p:nvSpPr>
        <p:spPr bwMode="auto">
          <a:xfrm>
            <a:off x="5669280" y="24231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ontserrat"/>
              </a:defRPr>
            </a:pPr>
            <a:r>
              <a:rPr/>
              <a:t>₹50+ Cr</a:t>
            </a:r>
            <a:endParaRPr/>
          </a:p>
        </p:txBody>
      </p:sp>
      <p:sp>
        <p:nvSpPr>
          <p:cNvPr id="1070589958" name="Rectangle 9"/>
          <p:cNvSpPr/>
          <p:nvPr/>
        </p:nvSpPr>
        <p:spPr bwMode="auto">
          <a:xfrm>
            <a:off x="731520" y="3474720"/>
            <a:ext cx="45720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8637136" name="TextBox 10"/>
          <p:cNvSpPr txBox="1"/>
          <p:nvPr/>
        </p:nvSpPr>
        <p:spPr bwMode="auto">
          <a:xfrm>
            <a:off x="914400" y="3611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rPr/>
              <a:t>SERIES A/B</a:t>
            </a:r>
            <a:endParaRPr/>
          </a:p>
        </p:txBody>
      </p:sp>
      <p:sp>
        <p:nvSpPr>
          <p:cNvPr id="651393977" name="TextBox 11"/>
          <p:cNvSpPr txBox="1"/>
          <p:nvPr/>
        </p:nvSpPr>
        <p:spPr bwMode="auto">
          <a:xfrm>
            <a:off x="914400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Venture capital growth round</a:t>
            </a:r>
            <a:endParaRPr/>
          </a:p>
        </p:txBody>
      </p:sp>
      <p:sp>
        <p:nvSpPr>
          <p:cNvPr id="332380880" name="Rectangle 12"/>
          <p:cNvSpPr/>
          <p:nvPr/>
        </p:nvSpPr>
        <p:spPr bwMode="auto">
          <a:xfrm>
            <a:off x="5486400" y="3474720"/>
            <a:ext cx="594360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800760" name="TextBox 13"/>
          <p:cNvSpPr txBox="1"/>
          <p:nvPr/>
        </p:nvSpPr>
        <p:spPr bwMode="auto">
          <a:xfrm>
            <a:off x="5669280" y="37947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ontserrat"/>
              </a:defRPr>
            </a:pPr>
            <a:r>
              <a:rPr/>
              <a:t>₹20-50 Cr</a:t>
            </a:r>
            <a:endParaRPr/>
          </a:p>
        </p:txBody>
      </p:sp>
      <p:sp>
        <p:nvSpPr>
          <p:cNvPr id="1324461819" name="Rectangle 14"/>
          <p:cNvSpPr/>
          <p:nvPr/>
        </p:nvSpPr>
        <p:spPr bwMode="auto">
          <a:xfrm>
            <a:off x="731520" y="4846320"/>
            <a:ext cx="45720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748094" name="TextBox 15"/>
          <p:cNvSpPr txBox="1"/>
          <p:nvPr/>
        </p:nvSpPr>
        <p:spPr bwMode="auto">
          <a:xfrm>
            <a:off x="914400" y="4983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ontserrat"/>
              </a:defRPr>
            </a:pPr>
            <a:r>
              <a:rPr/>
              <a:t>FRANCHISE MODEL</a:t>
            </a:r>
            <a:endParaRPr/>
          </a:p>
        </p:txBody>
      </p:sp>
      <p:sp>
        <p:nvSpPr>
          <p:cNvPr id="983658385" name="TextBox 16"/>
          <p:cNvSpPr txBox="1"/>
          <p:nvPr/>
        </p:nvSpPr>
        <p:spPr bwMode="auto">
          <a:xfrm>
            <a:off x="91440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License to other cities/countries</a:t>
            </a:r>
            <a:endParaRPr/>
          </a:p>
        </p:txBody>
      </p:sp>
      <p:sp>
        <p:nvSpPr>
          <p:cNvPr id="413737817" name="Rectangle 17"/>
          <p:cNvSpPr/>
          <p:nvPr/>
        </p:nvSpPr>
        <p:spPr bwMode="auto">
          <a:xfrm>
            <a:off x="5486400" y="4846320"/>
            <a:ext cx="594360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5617981" name="TextBox 18"/>
          <p:cNvSpPr txBox="1"/>
          <p:nvPr/>
        </p:nvSpPr>
        <p:spPr bwMode="auto">
          <a:xfrm>
            <a:off x="5669280" y="51663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ontserrat"/>
              </a:defRPr>
            </a:pPr>
            <a:r>
              <a:rPr/>
              <a:t>Ongoing Royalties</a:t>
            </a:r>
            <a:endParaRPr/>
          </a:p>
        </p:txBody>
      </p:sp>
      <p:sp>
        <p:nvSpPr>
          <p:cNvPr id="331802558" name="Rectangle 19"/>
          <p:cNvSpPr/>
          <p:nvPr/>
        </p:nvSpPr>
        <p:spPr bwMode="auto">
          <a:xfrm>
            <a:off x="731520" y="5760720"/>
            <a:ext cx="1097280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3789446" name="TextBox 20"/>
          <p:cNvSpPr txBox="1"/>
          <p:nvPr/>
        </p:nvSpPr>
        <p:spPr bwMode="auto">
          <a:xfrm>
            <a:off x="914400" y="5897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TARGET TIMELINE: Year 4-5 for strategic exit or Series 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371834" name="TextBox 1"/>
          <p:cNvSpPr txBox="1"/>
          <p:nvPr/>
        </p:nvSpPr>
        <p:spPr bwMode="auto"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rPr/>
              <a:t>ROADMAP</a:t>
            </a:r>
            <a:endParaRPr/>
          </a:p>
        </p:txBody>
      </p:sp>
      <p:sp>
        <p:nvSpPr>
          <p:cNvPr id="303646325" name="TextBox 2"/>
          <p:cNvSpPr txBox="1"/>
          <p:nvPr/>
        </p:nvSpPr>
        <p:spPr bwMode="auto"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rPr/>
              <a:t>Key milestones</a:t>
            </a:r>
            <a:endParaRPr/>
          </a:p>
        </p:txBody>
      </p:sp>
      <p:sp>
        <p:nvSpPr>
          <p:cNvPr id="1965824409" name="Rectangle 3"/>
          <p:cNvSpPr/>
          <p:nvPr/>
        </p:nvSpPr>
        <p:spPr bwMode="auto">
          <a:xfrm>
            <a:off x="457200" y="2011680"/>
            <a:ext cx="11277295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1189344" name="Rectangle 4"/>
          <p:cNvSpPr/>
          <p:nvPr/>
        </p:nvSpPr>
        <p:spPr bwMode="auto">
          <a:xfrm>
            <a:off x="1280160" y="1874519"/>
            <a:ext cx="2286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223043" name="Rectangle 5"/>
          <p:cNvSpPr/>
          <p:nvPr/>
        </p:nvSpPr>
        <p:spPr bwMode="auto">
          <a:xfrm>
            <a:off x="274320" y="256032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0532017" name="TextBox 6"/>
          <p:cNvSpPr txBox="1"/>
          <p:nvPr/>
        </p:nvSpPr>
        <p:spPr bwMode="auto">
          <a:xfrm>
            <a:off x="2743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ontserrat"/>
              </a:defRPr>
            </a:pPr>
            <a:r>
              <a:rPr/>
              <a:t>Q1 2026</a:t>
            </a:r>
            <a:endParaRPr/>
          </a:p>
        </p:txBody>
      </p:sp>
      <p:sp>
        <p:nvSpPr>
          <p:cNvPr id="1063670962" name="TextBox 7"/>
          <p:cNvSpPr txBox="1"/>
          <p:nvPr/>
        </p:nvSpPr>
        <p:spPr bwMode="auto">
          <a:xfrm>
            <a:off x="274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rPr/>
              <a:t>LAUNCH</a:t>
            </a:r>
            <a:endParaRPr/>
          </a:p>
        </p:txBody>
      </p:sp>
      <p:sp>
        <p:nvSpPr>
          <p:cNvPr id="1868667562" name="TextBox 8"/>
          <p:cNvSpPr txBox="1"/>
          <p:nvPr/>
        </p:nvSpPr>
        <p:spPr bwMode="auto">
          <a:xfrm>
            <a:off x="27432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Bhuj &amp; Gandhidham</a:t>
            </a:r>
            <a:br>
              <a:rPr/>
            </a:br>
            <a:r>
              <a:rPr/>
              <a:t>20 partners</a:t>
            </a:r>
            <a:endParaRPr/>
          </a:p>
        </p:txBody>
      </p:sp>
      <p:sp>
        <p:nvSpPr>
          <p:cNvPr id="1261547622" name="Rectangle 9"/>
          <p:cNvSpPr/>
          <p:nvPr/>
        </p:nvSpPr>
        <p:spPr bwMode="auto">
          <a:xfrm>
            <a:off x="3657600" y="1874519"/>
            <a:ext cx="2286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471252" name="Rectangle 10"/>
          <p:cNvSpPr/>
          <p:nvPr/>
        </p:nvSpPr>
        <p:spPr bwMode="auto">
          <a:xfrm>
            <a:off x="2651760" y="256032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8038356" name="TextBox 11"/>
          <p:cNvSpPr txBox="1"/>
          <p:nvPr/>
        </p:nvSpPr>
        <p:spPr bwMode="auto">
          <a:xfrm>
            <a:off x="265176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ontserrat"/>
              </a:defRPr>
            </a:pPr>
            <a:r>
              <a:rPr/>
              <a:t>Q2 2026</a:t>
            </a:r>
            <a:endParaRPr/>
          </a:p>
        </p:txBody>
      </p:sp>
      <p:sp>
        <p:nvSpPr>
          <p:cNvPr id="761108243" name="TextBox 12"/>
          <p:cNvSpPr txBox="1"/>
          <p:nvPr/>
        </p:nvSpPr>
        <p:spPr bwMode="auto">
          <a:xfrm>
            <a:off x="265176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Arial Black"/>
              </a:defRPr>
            </a:pPr>
            <a:r>
              <a:rPr/>
              <a:t>SCALE</a:t>
            </a:r>
            <a:endParaRPr/>
          </a:p>
        </p:txBody>
      </p:sp>
      <p:sp>
        <p:nvSpPr>
          <p:cNvPr id="194051360" name="TextBox 13"/>
          <p:cNvSpPr txBox="1"/>
          <p:nvPr/>
        </p:nvSpPr>
        <p:spPr bwMode="auto">
          <a:xfrm>
            <a:off x="265176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/>
              <a:t>50 partners</a:t>
            </a:r>
            <a:br>
              <a:rPr/>
            </a:br>
            <a:r>
              <a:rPr/>
              <a:t>5K users</a:t>
            </a:r>
            <a:endParaRPr/>
          </a:p>
        </p:txBody>
      </p:sp>
      <p:sp>
        <p:nvSpPr>
          <p:cNvPr id="31614190" name="Rectangle 14"/>
          <p:cNvSpPr/>
          <p:nvPr/>
        </p:nvSpPr>
        <p:spPr bwMode="auto">
          <a:xfrm>
            <a:off x="6035039" y="1874519"/>
            <a:ext cx="2286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8854059" name="Rectangle 15"/>
          <p:cNvSpPr/>
          <p:nvPr/>
        </p:nvSpPr>
        <p:spPr bwMode="auto">
          <a:xfrm>
            <a:off x="5029200" y="256032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858074" name="TextBox 16"/>
          <p:cNvSpPr txBox="1"/>
          <p:nvPr/>
        </p:nvSpPr>
        <p:spPr bwMode="auto">
          <a:xfrm>
            <a:off x="502920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ontserrat"/>
              </a:defRPr>
            </a:pPr>
            <a:r>
              <a:rPr/>
              <a:t>Q4 2026</a:t>
            </a:r>
            <a:endParaRPr/>
          </a:p>
        </p:txBody>
      </p:sp>
      <p:sp>
        <p:nvSpPr>
          <p:cNvPr id="1791945848" name="TextBox 17"/>
          <p:cNvSpPr txBox="1"/>
          <p:nvPr/>
        </p:nvSpPr>
        <p:spPr bwMode="auto">
          <a:xfrm>
            <a:off x="50292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rPr/>
              <a:t>PROFIT</a:t>
            </a:r>
            <a:endParaRPr/>
          </a:p>
        </p:txBody>
      </p:sp>
      <p:sp>
        <p:nvSpPr>
          <p:cNvPr id="1307976924" name="TextBox 18"/>
          <p:cNvSpPr txBox="1"/>
          <p:nvPr/>
        </p:nvSpPr>
        <p:spPr bwMode="auto">
          <a:xfrm>
            <a:off x="502920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Break-even</a:t>
            </a:r>
            <a:br>
              <a:rPr/>
            </a:br>
            <a:r>
              <a:rPr/>
              <a:t>100 partners</a:t>
            </a:r>
            <a:endParaRPr/>
          </a:p>
        </p:txBody>
      </p:sp>
      <p:sp>
        <p:nvSpPr>
          <p:cNvPr id="2076827664" name="Rectangle 19"/>
          <p:cNvSpPr/>
          <p:nvPr/>
        </p:nvSpPr>
        <p:spPr bwMode="auto">
          <a:xfrm>
            <a:off x="8412480" y="1874519"/>
            <a:ext cx="2286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8561766" name="Rectangle 20"/>
          <p:cNvSpPr/>
          <p:nvPr/>
        </p:nvSpPr>
        <p:spPr bwMode="auto">
          <a:xfrm>
            <a:off x="7406640" y="256032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4444516" name="TextBox 21"/>
          <p:cNvSpPr txBox="1"/>
          <p:nvPr/>
        </p:nvSpPr>
        <p:spPr bwMode="auto">
          <a:xfrm>
            <a:off x="740664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ontserrat"/>
              </a:defRPr>
            </a:pPr>
            <a:r>
              <a:rPr/>
              <a:t>2027</a:t>
            </a:r>
            <a:endParaRPr/>
          </a:p>
        </p:txBody>
      </p:sp>
      <p:sp>
        <p:nvSpPr>
          <p:cNvPr id="1478961904" name="TextBox 22"/>
          <p:cNvSpPr txBox="1"/>
          <p:nvPr/>
        </p:nvSpPr>
        <p:spPr bwMode="auto">
          <a:xfrm>
            <a:off x="74066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Arial Black"/>
              </a:defRPr>
            </a:pPr>
            <a:r>
              <a:rPr/>
              <a:t>EXPAND</a:t>
            </a:r>
            <a:endParaRPr/>
          </a:p>
        </p:txBody>
      </p:sp>
      <p:sp>
        <p:nvSpPr>
          <p:cNvPr id="932038070" name="TextBox 23"/>
          <p:cNvSpPr txBox="1"/>
          <p:nvPr/>
        </p:nvSpPr>
        <p:spPr bwMode="auto">
          <a:xfrm>
            <a:off x="7406640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rPr/>
              <a:t>Pan-Gujarat</a:t>
            </a:r>
            <a:br>
              <a:rPr/>
            </a:br>
            <a:r>
              <a:rPr/>
              <a:t>500 partners</a:t>
            </a:r>
            <a:endParaRPr/>
          </a:p>
        </p:txBody>
      </p:sp>
      <p:sp>
        <p:nvSpPr>
          <p:cNvPr id="1589128019" name="Rectangle 24"/>
          <p:cNvSpPr/>
          <p:nvPr/>
        </p:nvSpPr>
        <p:spPr bwMode="auto">
          <a:xfrm>
            <a:off x="10789920" y="1874519"/>
            <a:ext cx="2286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4288120" name="Rectangle 25"/>
          <p:cNvSpPr/>
          <p:nvPr/>
        </p:nvSpPr>
        <p:spPr bwMode="auto">
          <a:xfrm>
            <a:off x="9784079" y="256032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890046" name="TextBox 26"/>
          <p:cNvSpPr txBox="1"/>
          <p:nvPr/>
        </p:nvSpPr>
        <p:spPr bwMode="auto">
          <a:xfrm>
            <a:off x="9784079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ontserrat"/>
              </a:defRPr>
            </a:pPr>
            <a:r>
              <a:rPr/>
              <a:t>2028</a:t>
            </a:r>
            <a:endParaRPr/>
          </a:p>
        </p:txBody>
      </p:sp>
      <p:sp>
        <p:nvSpPr>
          <p:cNvPr id="1887459326" name="TextBox 27"/>
          <p:cNvSpPr txBox="1"/>
          <p:nvPr/>
        </p:nvSpPr>
        <p:spPr bwMode="auto">
          <a:xfrm>
            <a:off x="9784079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rPr/>
              <a:t>NATIONAL</a:t>
            </a:r>
            <a:endParaRPr/>
          </a:p>
        </p:txBody>
      </p:sp>
      <p:sp>
        <p:nvSpPr>
          <p:cNvPr id="453423291" name="TextBox 28"/>
          <p:cNvSpPr txBox="1"/>
          <p:nvPr/>
        </p:nvSpPr>
        <p:spPr bwMode="auto">
          <a:xfrm>
            <a:off x="9784079" y="36576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82828"/>
                </a:solidFill>
                <a:latin typeface="Montserrat"/>
              </a:defRPr>
            </a:pPr>
            <a:r>
              <a:rPr/>
              <a:t>Major cities</a:t>
            </a:r>
            <a:br>
              <a:rPr/>
            </a:br>
            <a:r>
              <a:rPr/>
              <a:t>Franchise launch</a:t>
            </a:r>
            <a:endParaRPr/>
          </a:p>
        </p:txBody>
      </p:sp>
      <p:sp>
        <p:nvSpPr>
          <p:cNvPr id="958994773" name="Rectangle 29"/>
          <p:cNvSpPr/>
          <p:nvPr/>
        </p:nvSpPr>
        <p:spPr bwMode="auto">
          <a:xfrm>
            <a:off x="457200" y="5943600"/>
            <a:ext cx="11277295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0345730" name="TextBox 30"/>
          <p:cNvSpPr txBox="1"/>
          <p:nvPr/>
        </p:nvSpPr>
        <p:spPr bwMode="auto">
          <a:xfrm>
            <a:off x="914400" y="6080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ontserrat"/>
              </a:defRPr>
            </a:pPr>
            <a:r>
              <a:rPr/>
              <a:t>3-YEAR GOAL: ₹3.82 Cr Revenue | 15 Lakh Bookings | 60 Team Members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040764" name="Rectangle 1"/>
          <p:cNvSpPr/>
          <p:nvPr/>
        </p:nvSpPr>
        <p:spPr bwMode="auto">
          <a:xfrm>
            <a:off x="0" y="0"/>
            <a:ext cx="12191695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3477147" name="TextBox 2"/>
          <p:cNvSpPr txBox="1"/>
          <p:nvPr/>
        </p:nvSpPr>
        <p:spPr bwMode="auto"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 Black"/>
              </a:defRPr>
            </a:pPr>
            <a:r>
              <a:rPr/>
              <a:t>GOVERNMENT SUPPORT</a:t>
            </a:r>
            <a:endParaRPr/>
          </a:p>
        </p:txBody>
      </p:sp>
      <p:sp>
        <p:nvSpPr>
          <p:cNvPr id="488280244" name="Rectangle 3"/>
          <p:cNvSpPr/>
          <p:nvPr/>
        </p:nvSpPr>
        <p:spPr bwMode="auto">
          <a:xfrm>
            <a:off x="457200" y="1645920"/>
            <a:ext cx="566928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8201584" name="Rectangle 4"/>
          <p:cNvSpPr/>
          <p:nvPr/>
        </p:nvSpPr>
        <p:spPr bwMode="auto">
          <a:xfrm>
            <a:off x="457200" y="1645920"/>
            <a:ext cx="5669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4860878" name="TextBox 5"/>
          <p:cNvSpPr txBox="1"/>
          <p:nvPr/>
        </p:nvSpPr>
        <p:spPr bwMode="auto">
          <a:xfrm>
            <a:off x="64008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STARTUP INDIA</a:t>
            </a:r>
            <a:endParaRPr/>
          </a:p>
        </p:txBody>
      </p:sp>
      <p:sp>
        <p:nvSpPr>
          <p:cNvPr id="897182967" name="TextBox 6"/>
          <p:cNvSpPr txBox="1"/>
          <p:nvPr/>
        </p:nvSpPr>
        <p:spPr bwMode="auto">
          <a:xfrm>
            <a:off x="640080" y="2468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Tax benefits, self-certification, fast-track patents</a:t>
            </a:r>
            <a:endParaRPr/>
          </a:p>
        </p:txBody>
      </p:sp>
      <p:sp>
        <p:nvSpPr>
          <p:cNvPr id="1456093655" name="Rectangle 7"/>
          <p:cNvSpPr/>
          <p:nvPr/>
        </p:nvSpPr>
        <p:spPr bwMode="auto">
          <a:xfrm>
            <a:off x="6309360" y="1645920"/>
            <a:ext cx="566928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2112809" name="Rectangle 8"/>
          <p:cNvSpPr/>
          <p:nvPr/>
        </p:nvSpPr>
        <p:spPr bwMode="auto">
          <a:xfrm>
            <a:off x="6309360" y="1645920"/>
            <a:ext cx="5669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4812399" name="TextBox 9"/>
          <p:cNvSpPr txBox="1"/>
          <p:nvPr/>
        </p:nvSpPr>
        <p:spPr bwMode="auto">
          <a:xfrm>
            <a:off x="649224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PMMY (MUDRA)</a:t>
            </a:r>
            <a:endParaRPr/>
          </a:p>
        </p:txBody>
      </p:sp>
      <p:sp>
        <p:nvSpPr>
          <p:cNvPr id="417430617" name="TextBox 10"/>
          <p:cNvSpPr txBox="1"/>
          <p:nvPr/>
        </p:nvSpPr>
        <p:spPr bwMode="auto">
          <a:xfrm>
            <a:off x="6492240" y="2468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Up to ₹10 Lakh loan for micro enterprises</a:t>
            </a:r>
            <a:endParaRPr/>
          </a:p>
        </p:txBody>
      </p:sp>
      <p:sp>
        <p:nvSpPr>
          <p:cNvPr id="110842829" name="Rectangle 11"/>
          <p:cNvSpPr/>
          <p:nvPr/>
        </p:nvSpPr>
        <p:spPr bwMode="auto">
          <a:xfrm>
            <a:off x="457200" y="3657600"/>
            <a:ext cx="566928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0019440" name="Rectangle 12"/>
          <p:cNvSpPr/>
          <p:nvPr/>
        </p:nvSpPr>
        <p:spPr bwMode="auto">
          <a:xfrm>
            <a:off x="457200" y="3657600"/>
            <a:ext cx="5669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280468" name="TextBox 13"/>
          <p:cNvSpPr txBox="1"/>
          <p:nvPr/>
        </p:nvSpPr>
        <p:spPr bwMode="auto">
          <a:xfrm>
            <a:off x="64008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iSTART RAJASTHAN</a:t>
            </a:r>
            <a:endParaRPr/>
          </a:p>
        </p:txBody>
      </p:sp>
      <p:sp>
        <p:nvSpPr>
          <p:cNvPr id="1842292734" name="TextBox 14"/>
          <p:cNvSpPr txBox="1"/>
          <p:nvPr/>
        </p:nvSpPr>
        <p:spPr bwMode="auto">
          <a:xfrm>
            <a:off x="640080" y="4480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Incubation, mentorship, seed funding</a:t>
            </a:r>
            <a:endParaRPr/>
          </a:p>
        </p:txBody>
      </p:sp>
      <p:sp>
        <p:nvSpPr>
          <p:cNvPr id="1807330332" name="Rectangle 15"/>
          <p:cNvSpPr/>
          <p:nvPr/>
        </p:nvSpPr>
        <p:spPr bwMode="auto">
          <a:xfrm>
            <a:off x="6309360" y="3657600"/>
            <a:ext cx="566928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7985914" name="Rectangle 16"/>
          <p:cNvSpPr/>
          <p:nvPr/>
        </p:nvSpPr>
        <p:spPr bwMode="auto">
          <a:xfrm>
            <a:off x="6309360" y="3657600"/>
            <a:ext cx="5669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8699886" name="TextBox 17"/>
          <p:cNvSpPr txBox="1"/>
          <p:nvPr/>
        </p:nvSpPr>
        <p:spPr bwMode="auto">
          <a:xfrm>
            <a:off x="649224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rPr/>
              <a:t>TOURISM GRANTS</a:t>
            </a:r>
            <a:endParaRPr/>
          </a:p>
        </p:txBody>
      </p:sp>
      <p:sp>
        <p:nvSpPr>
          <p:cNvPr id="537079434" name="TextBox 18"/>
          <p:cNvSpPr txBox="1"/>
          <p:nvPr/>
        </p:nvSpPr>
        <p:spPr bwMode="auto">
          <a:xfrm>
            <a:off x="6492240" y="4480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/>
              <a:t>Gujarat Tourism incentives for tourism startups</a:t>
            </a:r>
            <a:endParaRPr/>
          </a:p>
        </p:txBody>
      </p:sp>
      <p:sp>
        <p:nvSpPr>
          <p:cNvPr id="454448101" name="Rectangle 19"/>
          <p:cNvSpPr/>
          <p:nvPr/>
        </p:nvSpPr>
        <p:spPr bwMode="auto">
          <a:xfrm>
            <a:off x="457200" y="5760720"/>
            <a:ext cx="11277295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6153275" name="TextBox 20"/>
          <p:cNvSpPr txBox="1"/>
          <p:nvPr/>
        </p:nvSpPr>
        <p:spPr bwMode="auto"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BagDrop qualifies for multiple government startup schemes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D7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602268" name="Rectangle 1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419938" name="TextBox 2"/>
          <p:cNvSpPr txBox="1"/>
          <p:nvPr/>
        </p:nvSpPr>
        <p:spPr bwMode="auto"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rPr/>
              <a:t>LET'S BUILD THIS</a:t>
            </a:r>
            <a:endParaRPr/>
          </a:p>
        </p:txBody>
      </p:sp>
      <p:sp>
        <p:nvSpPr>
          <p:cNvPr id="721399379" name="TextBox 3"/>
          <p:cNvSpPr txBox="1"/>
          <p:nvPr/>
        </p:nvSpPr>
        <p:spPr bwMode="auto"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rPr/>
              <a:t>TOGETHER</a:t>
            </a:r>
            <a:endParaRPr/>
          </a:p>
        </p:txBody>
      </p:sp>
      <p:sp>
        <p:nvSpPr>
          <p:cNvPr id="575031200" name="Rectangle 4"/>
          <p:cNvSpPr/>
          <p:nvPr/>
        </p:nvSpPr>
        <p:spPr bwMode="auto">
          <a:xfrm>
            <a:off x="914400" y="2560320"/>
            <a:ext cx="1371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5838557" name="TextBox 5"/>
          <p:cNvSpPr txBox="1"/>
          <p:nvPr/>
        </p:nvSpPr>
        <p:spPr bwMode="auto">
          <a:xfrm>
            <a:off x="11887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First-mover advantage in Gujarat's ₹500 Cr market</a:t>
            </a:r>
            <a:endParaRPr/>
          </a:p>
        </p:txBody>
      </p:sp>
      <p:sp>
        <p:nvSpPr>
          <p:cNvPr id="44533356" name="Rectangle 6"/>
          <p:cNvSpPr/>
          <p:nvPr/>
        </p:nvSpPr>
        <p:spPr bwMode="auto">
          <a:xfrm>
            <a:off x="914400" y="3200400"/>
            <a:ext cx="1371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7368529" name="TextBox 7"/>
          <p:cNvSpPr txBox="1"/>
          <p:nvPr/>
        </p:nvSpPr>
        <p:spPr bwMode="auto">
          <a:xfrm>
            <a:off x="11887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Unique forgotten luggage delivery - NO competitor has this</a:t>
            </a:r>
            <a:endParaRPr/>
          </a:p>
        </p:txBody>
      </p:sp>
      <p:sp>
        <p:nvSpPr>
          <p:cNvPr id="1009738205" name="Rectangle 8"/>
          <p:cNvSpPr/>
          <p:nvPr/>
        </p:nvSpPr>
        <p:spPr bwMode="auto">
          <a:xfrm>
            <a:off x="914400" y="3840479"/>
            <a:ext cx="1371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1033485" name="TextBox 9"/>
          <p:cNvSpPr txBox="1"/>
          <p:nvPr/>
        </p:nvSpPr>
        <p:spPr bwMode="auto">
          <a:xfrm>
            <a:off x="1188720" y="3840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Break-even in 10 months, profitable by Year 1 Q4</a:t>
            </a:r>
            <a:endParaRPr/>
          </a:p>
        </p:txBody>
      </p:sp>
      <p:sp>
        <p:nvSpPr>
          <p:cNvPr id="1578723875" name="Rectangle 10"/>
          <p:cNvSpPr/>
          <p:nvPr/>
        </p:nvSpPr>
        <p:spPr bwMode="auto">
          <a:xfrm>
            <a:off x="914400" y="4480559"/>
            <a:ext cx="1371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895130" name="TextBox 11"/>
          <p:cNvSpPr txBox="1"/>
          <p:nvPr/>
        </p:nvSpPr>
        <p:spPr bwMode="auto">
          <a:xfrm>
            <a:off x="1188720" y="44805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Clear path to ₹50+ Cr valuation by Year 5</a:t>
            </a:r>
            <a:endParaRPr/>
          </a:p>
        </p:txBody>
      </p:sp>
      <p:sp>
        <p:nvSpPr>
          <p:cNvPr id="1441921417" name="Rectangle 12"/>
          <p:cNvSpPr/>
          <p:nvPr/>
        </p:nvSpPr>
        <p:spPr bwMode="auto">
          <a:xfrm>
            <a:off x="914400" y="4937760"/>
            <a:ext cx="50292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3940333" name="TextBox 13"/>
          <p:cNvSpPr txBox="1"/>
          <p:nvPr/>
        </p:nvSpPr>
        <p:spPr bwMode="auto">
          <a:xfrm>
            <a:off x="109728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/>
              <a:t>SEED FUNDING</a:t>
            </a:r>
            <a:endParaRPr/>
          </a:p>
        </p:txBody>
      </p:sp>
      <p:sp>
        <p:nvSpPr>
          <p:cNvPr id="469025086" name="TextBox 14"/>
          <p:cNvSpPr txBox="1"/>
          <p:nvPr/>
        </p:nvSpPr>
        <p:spPr bwMode="auto">
          <a:xfrm>
            <a:off x="1097280" y="54864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700"/>
                </a:solidFill>
                <a:latin typeface="Arial Black"/>
              </a:defRPr>
            </a:pPr>
            <a:r>
              <a:rPr/>
              <a:t>₹36 LAKH</a:t>
            </a:r>
            <a:endParaRPr/>
          </a:p>
        </p:txBody>
      </p:sp>
      <p:sp>
        <p:nvSpPr>
          <p:cNvPr id="1909416277" name="Rectangle 15"/>
          <p:cNvSpPr/>
          <p:nvPr/>
        </p:nvSpPr>
        <p:spPr bwMode="auto">
          <a:xfrm>
            <a:off x="6400800" y="4937760"/>
            <a:ext cx="50292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5474194" name="TextBox 16"/>
          <p:cNvSpPr txBox="1"/>
          <p:nvPr/>
        </p:nvSpPr>
        <p:spPr bwMode="auto">
          <a:xfrm>
            <a:off x="658368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/>
              <a:t>CONTACT US</a:t>
            </a:r>
            <a:endParaRPr/>
          </a:p>
        </p:txBody>
      </p:sp>
      <p:sp>
        <p:nvSpPr>
          <p:cNvPr id="1398381177" name="TextBox 17"/>
          <p:cNvSpPr txBox="1"/>
          <p:nvPr/>
        </p:nvSpPr>
        <p:spPr bwMode="auto">
          <a:xfrm>
            <a:off x="6583680" y="54864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ontserrat"/>
              </a:defRPr>
            </a:pPr>
            <a:r>
              <a:rPr/>
              <a:t>teamback@bagdrop.in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598030" name="Rectangle 1"/>
          <p:cNvSpPr/>
          <p:nvPr/>
        </p:nvSpPr>
        <p:spPr bwMode="auto">
          <a:xfrm>
            <a:off x="9899196" y="-537481"/>
            <a:ext cx="2743200" cy="228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317436" name="TextBox 2"/>
          <p:cNvSpPr txBox="1"/>
          <p:nvPr/>
        </p:nvSpPr>
        <p:spPr bwMode="auto">
          <a:xfrm>
            <a:off x="18288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Arial Black"/>
              </a:defRPr>
            </a:pPr>
            <a:r>
              <a:rPr/>
              <a:t>THANK YOU</a:t>
            </a:r>
            <a:endParaRPr/>
          </a:p>
        </p:txBody>
      </p:sp>
      <p:sp>
        <p:nvSpPr>
          <p:cNvPr id="432230942" name="TextBox 3"/>
          <p:cNvSpPr txBox="1"/>
          <p:nvPr/>
        </p:nvSpPr>
        <p:spPr bwMode="auto">
          <a:xfrm>
            <a:off x="18288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Montserrat"/>
              </a:defRPr>
            </a:pPr>
            <a:r>
              <a:rPr/>
              <a:t>Questions &amp; Answers</a:t>
            </a:r>
            <a:endParaRPr/>
          </a:p>
        </p:txBody>
      </p:sp>
      <p:sp>
        <p:nvSpPr>
          <p:cNvPr id="832660809" name="TextBox 4"/>
          <p:cNvSpPr txBox="1"/>
          <p:nvPr/>
        </p:nvSpPr>
        <p:spPr bwMode="auto">
          <a:xfrm>
            <a:off x="18288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rPr/>
              <a:t>TeamBack | Kutch, Gujarat | January 2026</a:t>
            </a:r>
            <a:endParaRPr/>
          </a:p>
        </p:txBody>
      </p:sp>
      <p:sp>
        <p:nvSpPr>
          <p:cNvPr id="1715240164" name="Rectangle 5"/>
          <p:cNvSpPr/>
          <p:nvPr/>
        </p:nvSpPr>
        <p:spPr bwMode="auto">
          <a:xfrm>
            <a:off x="0" y="5943600"/>
            <a:ext cx="12191695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1291653" name="TextBox 6"/>
          <p:cNvSpPr txBox="1"/>
          <p:nvPr/>
        </p:nvSpPr>
        <p:spPr bwMode="auto">
          <a:xfrm>
            <a:off x="4572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ontserrat"/>
              </a:defRPr>
            </a:pPr>
            <a:r>
              <a:rPr/>
              <a:t>teamback@bagdrop.in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2026-01-30T17:37:52Z</dcterms:modified>
  <cp:category/>
</cp:coreProperties>
</file>