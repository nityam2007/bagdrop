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judges! We are TeamBack from Kutch, Gujarat. Today we present BagDrop - India's smart luggage storage network. 70% of travelers face luggage problems. We're solving this with technology. This is a $15 Lakh Crore market opportunity. Let's dive 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Paint the picture: Early checkout, late departure. You're dragging 20kg bags through temples, cafes, crowded markets. Railway lockers are expensive and unreliable. 5.5 Crore tourists visit Gujarat annually - imagine their frustration. This is a universal pain point with no good solution.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BagDrop works. The key differentiator: we deliver forgotten luggage anywhere in India. No competitor does this. Under 2 minutes to drop bags. Starting at just ₹50 for 6 hours - cheaper than railway lockers. 24/7 support. Emphasize speed, affordability, and the unique delivery feature.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Kutch? Rann Utsav alone brings 5-7 Lakh visitors in 4 months. Major railway stations at Bhuj and Gandhidham. Gujarat tourism growing at 12% CAGR. We have the perfect test market with high tourist traffic and limited competition. This is our beachhead before pan-India expansion.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serve 5 key segments. Tourists visiting Rann Utsav. Train travelers with long layovers. Students moving between cities. Business travelers needing quick storage. And our unique segment - people who forgot their luggage and need it delivered. Each has different needs but shares the same pain 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market is massive. 5.5 Crore tourists in Gujarat alone. 2,400 Crore railway passengers across India. TAM is ₹2,000+ Crore. Even capturing 1% is huge. We're targeting SAM of ₹500 Crore in Gujarat + major cities first. Our Year 1 goal is ₹36 Lakh revenue, growing to ₹1.27 Crore by Year 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5 revenue streams. Primary is storage commission at 30%. We also take 20% on delivery fees for forgotten luggage - this is our unique offering. NFC tokens, kiosk ads, and partner subscriptions add additional revenue. Pricing starts at ₹50 for 6 hours - cheaper than railway lockers.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makes us different? Our forgotten luggage delivery service - NO competitor offers this. Contactless OTP/NFC security. Verified partner network instead of expensive infrastructure. 24/7 support. And our Kutch-first approach gives us deep local understanding. Our USP is clear: we're the only ones who will deliver your forgotten bags anywhere in India.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financial projections show clear growth. Starting with 500 bookings in Month 1, reaching 30,000 by Month 12. Year 1 revenue: ₹36.8 Lakh. By Year 3: ₹3.82 Crore with 15 Lakh bookings. We break even at Month 10-11 and become profitable from Q4. 150 locations in Year 1, scaling to 1,500 by Year 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seeking ₹36 Lakh in seed funding. This breaks down to: ₹5L for tech development, ₹18L for 6-month runway, ₹6.5L for marketing to acquire users, ₹3L for equipment, and 10% contingency. Expected returns are 5-10x for seed investors by Year 5 with a target valuation of ₹50+ Crore.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marketing strategy uses 5 channels. Digital ads at ₹55K/month targeting travelers. Influencer partnerships with Gujarati travel vloggers. On-ground presence at railway stations and Rann Utsav. Referral program with user rewards. OTA partnerships with MakeMyTrip and Goibibo. Total annual budget: ₹6.45 Lakh.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TeamBack from Kutch, Gujarat. Our team has 5 core roles: CEO for strategy and partnerships, CTO for app development, Operations Manager for partner onboarding, Logistics Coordinator for delivery operations, and Customer Support for 24/7 assistance. We grow to 8 members by Year 1. Local roots give us deep market understanding.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app includes 8 key features. Real-time location tracking to find nearest points. Secure OTP/NFC tokens for contactless retrieval. Multiple payment options including UPI and cards. Forgotten luggage delivery - our unique feature. 24/7 support. Partner dashboard for shop owners. Insurance coverage up to ₹25,000 per bag.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partner network includes general stores, cafes, hotels, pharmacies near transit hubs. Partners get 70% revenue share with weekly settlements. No lock-in period. Full training and support in Gujarati. We target 150 locations in Year 1, scaling to 1,500 by Year 3. This asset-light model keeps costs low.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4 exit paths. Most likely is strategic acquisition by MakeMyTrip, Goibibo, or Delhivery at 70% probability. Merger with logistics players at 15%. Technology licensing at 10%. IPO is a 5% long-term option. Target valuation: ₹50+ Crore by Year 5 based on 3-8x ARR multiples.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We've identified key risks and mitigation strategies. Low bookings? We'll use aggressive referral programs. Partner defaults? Weekly settlements with security deposits. Theft? Insurance coverage up to ₹25K per bag plus CCTV requirements. Competition? Our delivery USP and partner lock-in. Payment disputes? Clear terms and escrow for high-value items.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5-year roadmap. Q1 2026: App launch with 50 partners. Q2: 5,000 bookings. Q3: Delivery service live. Q4: Break-even with 30,000 bookings. Year 2: 50 cities, ₹1.27 Crore revenue. Year 3: 150 cities, ₹3.82 Crore. Year 5: Exit readiness at ₹50+ Crore valuation. Clear, achievable milestones.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leverage multiple government schemes. Gujarat Startup Policy offers up to ₹30 Lakh. Startup India provides 3-year tax holiday. GST input credit reduces costs. MUDRA/MSME loans available. iCreate and AIC provide free mentoring. Being in Kutch gives us access to Gujarat's active support for tourism and logistics startups.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call to action. We're seeking ₹36 Lakh seed funding with expected 5-10x returns. Break-even at Month 10-11. Why invest? We solve a real problem affecting 70% of travelers. We have a unique USP with forgotten luggage delivery. Asset-light scalable model. Experienced local team. Government support. Clear path to exit. Join TeamBack in Kutch, Gujarat to transform travel in India!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This concludes our presentation. We're happy to answer any questions about BagDrop, our business model, financials, or partnership opportunities. Contact TeamBack in Kutch, Gujarat. Let's revolutionize travel in India together!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362895" cy="1371600"/>
          </a:xfrm>
          <a:prstGeom prst="rect">
            <a:avLst/>
          </a:prstGeom>
          <a:noFill/>
        </p:spPr>
        <p:txBody>
          <a:bodyPr wrap="none">
            <a:spAutoFit/>
          </a:bodyPr>
          <a:lstStyle/>
          <a:p>
            <a:pPr algn="ctr">
              <a:defRPr sz="8000" b="1">
                <a:solidFill>
                  <a:srgbClr val="000000"/>
                </a:solidFill>
              </a:defRPr>
            </a:pPr>
            <a:r>
              <a:t>BagDrop</a:t>
            </a:r>
          </a:p>
          <a:p>
            <a:pPr algn="ctr">
              <a:defRPr sz="2800">
                <a:solidFill>
                  <a:srgbClr val="808080"/>
                </a:solidFill>
              </a:defRPr>
            </a:pPr>
            <a:r>
              <a:t>India's Smart Luggage Storage Network</a:t>
            </a:r>
          </a:p>
          <a:p/>
          <a:p>
            <a:pPr algn="ctr">
              <a:defRPr sz="1600">
                <a:solidFill>
                  <a:srgbClr val="404040"/>
                </a:solidFill>
              </a:defRPr>
            </a:pPr>
            <a:r>
              <a:t>TeamBack | Kutch, Gujarat | January 2026</a:t>
            </a:r>
          </a:p>
        </p:txBody>
      </p:sp>
      <p:sp>
        <p:nvSpPr>
          <p:cNvPr id="4" name="Rectangle 3"/>
          <p:cNvSpPr/>
          <p:nvPr/>
        </p:nvSpPr>
        <p:spPr>
          <a:xfrm>
            <a:off x="3657600" y="5943600"/>
            <a:ext cx="4876495" cy="13716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600" b="1">
                <a:solidFill>
                  <a:srgbClr val="000000"/>
                </a:solidFill>
              </a:defRPr>
            </a:pPr>
            <a:r>
              <a:t>The Problem</a:t>
            </a:r>
          </a:p>
          <a:p>
            <a:pPr>
              <a:defRPr sz="1600">
                <a:solidFill>
                  <a:srgbClr val="808080"/>
                </a:solidFill>
              </a:defRPr>
            </a:pPr>
            <a:r>
              <a:t>70% of travelers face luggage issues</a:t>
            </a:r>
          </a:p>
        </p:txBody>
      </p:sp>
      <p:sp>
        <p:nvSpPr>
          <p:cNvPr id="4" name="Rounded Rectangle 3"/>
          <p:cNvSpPr/>
          <p:nvPr/>
        </p:nvSpPr>
        <p:spPr>
          <a:xfrm>
            <a:off x="457200" y="1280160"/>
            <a:ext cx="5486400" cy="2011680"/>
          </a:xfrm>
          <a:prstGeom prst="roundRect">
            <a:avLst/>
          </a:prstGeom>
          <a:solidFill>
            <a:srgbClr val="FFF0F0"/>
          </a:solidFill>
          <a:ln>
            <a:solidFill>
              <a:srgbClr val="C8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4937760" cy="1645920"/>
          </a:xfrm>
          <a:prstGeom prst="rect">
            <a:avLst/>
          </a:prstGeom>
          <a:noFill/>
        </p:spPr>
        <p:txBody>
          <a:bodyPr wrap="none">
            <a:spAutoFit/>
          </a:bodyPr>
          <a:lstStyle/>
          <a:p>
            <a:pPr>
              <a:defRPr sz="1800" i="1">
                <a:solidFill>
                  <a:srgbClr val="960000"/>
                </a:solidFill>
              </a:defRPr>
            </a:pPr>
            <a:r>
              <a:t>"Checked out at 10 AM, train at 7 PM..."</a:t>
            </a:r>
          </a:p>
        </p:txBody>
      </p:sp>
      <p:sp>
        <p:nvSpPr>
          <p:cNvPr id="6" name="TextBox 5"/>
          <p:cNvSpPr txBox="1"/>
          <p:nvPr/>
        </p:nvSpPr>
        <p:spPr>
          <a:xfrm>
            <a:off x="731520" y="2560320"/>
            <a:ext cx="4937760" cy="1737360"/>
          </a:xfrm>
          <a:prstGeom prst="rect">
            <a:avLst/>
          </a:prstGeom>
          <a:noFill/>
        </p:spPr>
        <p:txBody>
          <a:bodyPr wrap="none">
            <a:spAutoFit/>
          </a:bodyPr>
          <a:lstStyle/>
          <a:p/>
          <a:p>
            <a:pPr>
              <a:defRPr sz="1400">
                <a:solidFill>
                  <a:srgbClr val="404040"/>
                </a:solidFill>
              </a:defRPr>
            </a:pPr>
            <a:r>
              <a:t>• Heavy bags ruin sightseeing plans</a:t>
            </a:r>
          </a:p>
          <a:p>
            <a:pPr>
              <a:defRPr sz="1400">
                <a:solidFill>
                  <a:srgbClr val="404040"/>
                </a:solidFill>
              </a:defRPr>
            </a:pPr>
            <a:r>
              <a:t>• Railway lockers cost ₹100+/day</a:t>
            </a:r>
          </a:p>
          <a:p>
            <a:pPr>
              <a:defRPr sz="1400">
                <a:solidFill>
                  <a:srgbClr val="404040"/>
                </a:solidFill>
              </a:defRPr>
            </a:pPr>
            <a:r>
              <a:t>• Often full or broken</a:t>
            </a:r>
          </a:p>
          <a:p>
            <a:pPr>
              <a:defRPr sz="1400">
                <a:solidFill>
                  <a:srgbClr val="404040"/>
                </a:solidFill>
              </a:defRPr>
            </a:pPr>
            <a:r>
              <a:t>• No solution for forgotten luggage</a:t>
            </a:r>
          </a:p>
        </p:txBody>
      </p:sp>
      <p:sp>
        <p:nvSpPr>
          <p:cNvPr id="7" name="TextBox 6"/>
          <p:cNvSpPr txBox="1"/>
          <p:nvPr/>
        </p:nvSpPr>
        <p:spPr>
          <a:xfrm>
            <a:off x="6858000" y="1371600"/>
            <a:ext cx="1828800" cy="457200"/>
          </a:xfrm>
          <a:prstGeom prst="rect">
            <a:avLst/>
          </a:prstGeom>
          <a:noFill/>
        </p:spPr>
        <p:txBody>
          <a:bodyPr wrap="none">
            <a:spAutoFit/>
          </a:bodyPr>
          <a:lstStyle/>
          <a:p>
            <a:pPr>
              <a:defRPr sz="2800" b="1">
                <a:solidFill>
                  <a:srgbClr val="FFD700"/>
                </a:solidFill>
              </a:defRPr>
            </a:pPr>
            <a:r>
              <a:t>5.5 Crore</a:t>
            </a:r>
          </a:p>
        </p:txBody>
      </p:sp>
      <p:sp>
        <p:nvSpPr>
          <p:cNvPr id="8" name="TextBox 7"/>
          <p:cNvSpPr txBox="1"/>
          <p:nvPr/>
        </p:nvSpPr>
        <p:spPr>
          <a:xfrm>
            <a:off x="8869680" y="1463040"/>
            <a:ext cx="2743200" cy="365760"/>
          </a:xfrm>
          <a:prstGeom prst="rect">
            <a:avLst/>
          </a:prstGeom>
          <a:noFill/>
        </p:spPr>
        <p:txBody>
          <a:bodyPr wrap="none">
            <a:spAutoFit/>
          </a:bodyPr>
          <a:lstStyle/>
          <a:p>
            <a:pPr>
              <a:defRPr sz="1300">
                <a:solidFill>
                  <a:srgbClr val="404040"/>
                </a:solidFill>
              </a:defRPr>
            </a:pPr>
            <a:r>
              <a:t>Annual tourists in Gujarat</a:t>
            </a:r>
          </a:p>
        </p:txBody>
      </p:sp>
      <p:sp>
        <p:nvSpPr>
          <p:cNvPr id="9" name="TextBox 8"/>
          <p:cNvSpPr txBox="1"/>
          <p:nvPr/>
        </p:nvSpPr>
        <p:spPr>
          <a:xfrm>
            <a:off x="6858000" y="2286000"/>
            <a:ext cx="1828800" cy="457200"/>
          </a:xfrm>
          <a:prstGeom prst="rect">
            <a:avLst/>
          </a:prstGeom>
          <a:noFill/>
        </p:spPr>
        <p:txBody>
          <a:bodyPr wrap="none">
            <a:spAutoFit/>
          </a:bodyPr>
          <a:lstStyle/>
          <a:p>
            <a:pPr>
              <a:defRPr sz="2800" b="1">
                <a:solidFill>
                  <a:srgbClr val="FFD700"/>
                </a:solidFill>
              </a:defRPr>
            </a:pPr>
            <a:r>
              <a:t>2,400 Crore</a:t>
            </a:r>
          </a:p>
        </p:txBody>
      </p:sp>
      <p:sp>
        <p:nvSpPr>
          <p:cNvPr id="10" name="TextBox 9"/>
          <p:cNvSpPr txBox="1"/>
          <p:nvPr/>
        </p:nvSpPr>
        <p:spPr>
          <a:xfrm>
            <a:off x="8869680" y="2377440"/>
            <a:ext cx="2743200" cy="365760"/>
          </a:xfrm>
          <a:prstGeom prst="rect">
            <a:avLst/>
          </a:prstGeom>
          <a:noFill/>
        </p:spPr>
        <p:txBody>
          <a:bodyPr wrap="none">
            <a:spAutoFit/>
          </a:bodyPr>
          <a:lstStyle/>
          <a:p>
            <a:pPr>
              <a:defRPr sz="1300">
                <a:solidFill>
                  <a:srgbClr val="404040"/>
                </a:solidFill>
              </a:defRPr>
            </a:pPr>
            <a:r>
              <a:t>Railway passengers India</a:t>
            </a:r>
          </a:p>
        </p:txBody>
      </p:sp>
      <p:sp>
        <p:nvSpPr>
          <p:cNvPr id="11" name="TextBox 10"/>
          <p:cNvSpPr txBox="1"/>
          <p:nvPr/>
        </p:nvSpPr>
        <p:spPr>
          <a:xfrm>
            <a:off x="6858000" y="3200400"/>
            <a:ext cx="1828800" cy="457200"/>
          </a:xfrm>
          <a:prstGeom prst="rect">
            <a:avLst/>
          </a:prstGeom>
          <a:noFill/>
        </p:spPr>
        <p:txBody>
          <a:bodyPr wrap="none">
            <a:spAutoFit/>
          </a:bodyPr>
          <a:lstStyle/>
          <a:p>
            <a:pPr>
              <a:defRPr sz="2800" b="1">
                <a:solidFill>
                  <a:srgbClr val="FFD700"/>
                </a:solidFill>
              </a:defRPr>
            </a:pPr>
            <a:r>
              <a:t>70%</a:t>
            </a:r>
          </a:p>
        </p:txBody>
      </p:sp>
      <p:sp>
        <p:nvSpPr>
          <p:cNvPr id="12" name="TextBox 11"/>
          <p:cNvSpPr txBox="1"/>
          <p:nvPr/>
        </p:nvSpPr>
        <p:spPr>
          <a:xfrm>
            <a:off x="8869680" y="3291840"/>
            <a:ext cx="2743200" cy="365760"/>
          </a:xfrm>
          <a:prstGeom prst="rect">
            <a:avLst/>
          </a:prstGeom>
          <a:noFill/>
        </p:spPr>
        <p:txBody>
          <a:bodyPr wrap="none">
            <a:spAutoFit/>
          </a:bodyPr>
          <a:lstStyle/>
          <a:p>
            <a:pPr>
              <a:defRPr sz="1300">
                <a:solidFill>
                  <a:srgbClr val="404040"/>
                </a:solidFill>
              </a:defRPr>
            </a:pPr>
            <a:r>
              <a:t>Face luggage issues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600" b="1">
                <a:solidFill>
                  <a:srgbClr val="000000"/>
                </a:solidFill>
              </a:defRPr>
            </a:pPr>
            <a:r>
              <a:t>Our Solution: BagDrop</a:t>
            </a:r>
          </a:p>
          <a:p>
            <a:pPr>
              <a:defRPr sz="1600">
                <a:solidFill>
                  <a:srgbClr val="808080"/>
                </a:solidFill>
              </a:defRPr>
            </a:pPr>
            <a:r>
              <a:t>Store. Explore. Relax.</a:t>
            </a:r>
          </a:p>
        </p:txBody>
      </p:sp>
      <p:sp>
        <p:nvSpPr>
          <p:cNvPr id="4" name="Oval 3"/>
          <p:cNvSpPr/>
          <p:nvPr/>
        </p:nvSpPr>
        <p:spPr>
          <a:xfrm>
            <a:off x="457200" y="1280160"/>
            <a:ext cx="457200" cy="45720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25880"/>
            <a:ext cx="457200" cy="365760"/>
          </a:xfrm>
          <a:prstGeom prst="rect">
            <a:avLst/>
          </a:prstGeom>
          <a:noFill/>
        </p:spPr>
        <p:txBody>
          <a:bodyPr wrap="none">
            <a:spAutoFit/>
          </a:bodyPr>
          <a:lstStyle/>
          <a:p>
            <a:pPr algn="ctr">
              <a:defRPr sz="1600" b="1"/>
            </a:pPr>
            <a:r>
              <a:t>1</a:t>
            </a:r>
          </a:p>
        </p:txBody>
      </p:sp>
      <p:sp>
        <p:nvSpPr>
          <p:cNvPr id="6" name="TextBox 5"/>
          <p:cNvSpPr txBox="1"/>
          <p:nvPr/>
        </p:nvSpPr>
        <p:spPr>
          <a:xfrm>
            <a:off x="1097280" y="1280160"/>
            <a:ext cx="3017520" cy="365760"/>
          </a:xfrm>
          <a:prstGeom prst="rect">
            <a:avLst/>
          </a:prstGeom>
          <a:noFill/>
        </p:spPr>
        <p:txBody>
          <a:bodyPr wrap="none">
            <a:spAutoFit/>
          </a:bodyPr>
          <a:lstStyle/>
          <a:p>
            <a:pPr>
              <a:defRPr sz="1600" b="1">
                <a:solidFill>
                  <a:srgbClr val="000000"/>
                </a:solidFill>
              </a:defRPr>
            </a:pPr>
            <a:r>
              <a:t>FIND</a:t>
            </a:r>
          </a:p>
        </p:txBody>
      </p:sp>
      <p:sp>
        <p:nvSpPr>
          <p:cNvPr id="7" name="TextBox 6"/>
          <p:cNvSpPr txBox="1"/>
          <p:nvPr/>
        </p:nvSpPr>
        <p:spPr>
          <a:xfrm>
            <a:off x="1097280" y="1645920"/>
            <a:ext cx="3017520" cy="731520"/>
          </a:xfrm>
          <a:prstGeom prst="rect">
            <a:avLst/>
          </a:prstGeom>
          <a:noFill/>
        </p:spPr>
        <p:txBody>
          <a:bodyPr wrap="none">
            <a:spAutoFit/>
          </a:bodyPr>
          <a:lstStyle/>
          <a:p>
            <a:pPr>
              <a:defRPr sz="1200">
                <a:solidFill>
                  <a:srgbClr val="808080"/>
                </a:solidFill>
              </a:defRPr>
            </a:pPr>
            <a:r>
              <a:t>Locate nearby BagDrop</a:t>
            </a:r>
          </a:p>
        </p:txBody>
      </p:sp>
      <p:sp>
        <p:nvSpPr>
          <p:cNvPr id="8" name="Oval 7"/>
          <p:cNvSpPr/>
          <p:nvPr/>
        </p:nvSpPr>
        <p:spPr>
          <a:xfrm>
            <a:off x="4297680" y="1280160"/>
            <a:ext cx="457200" cy="45720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0" y="1325880"/>
            <a:ext cx="457200" cy="365760"/>
          </a:xfrm>
          <a:prstGeom prst="rect">
            <a:avLst/>
          </a:prstGeom>
          <a:noFill/>
        </p:spPr>
        <p:txBody>
          <a:bodyPr wrap="none">
            <a:spAutoFit/>
          </a:bodyPr>
          <a:lstStyle/>
          <a:p>
            <a:pPr algn="ctr">
              <a:defRPr sz="1600" b="1"/>
            </a:pPr>
            <a:r>
              <a:t>2</a:t>
            </a:r>
          </a:p>
        </p:txBody>
      </p:sp>
      <p:sp>
        <p:nvSpPr>
          <p:cNvPr id="10" name="TextBox 9"/>
          <p:cNvSpPr txBox="1"/>
          <p:nvPr/>
        </p:nvSpPr>
        <p:spPr>
          <a:xfrm>
            <a:off x="4937760" y="1280160"/>
            <a:ext cx="3017520" cy="365760"/>
          </a:xfrm>
          <a:prstGeom prst="rect">
            <a:avLst/>
          </a:prstGeom>
          <a:noFill/>
        </p:spPr>
        <p:txBody>
          <a:bodyPr wrap="none">
            <a:spAutoFit/>
          </a:bodyPr>
          <a:lstStyle/>
          <a:p>
            <a:pPr>
              <a:defRPr sz="1600" b="1">
                <a:solidFill>
                  <a:srgbClr val="000000"/>
                </a:solidFill>
              </a:defRPr>
            </a:pPr>
            <a:r>
              <a:t>BOOK</a:t>
            </a:r>
          </a:p>
        </p:txBody>
      </p:sp>
      <p:sp>
        <p:nvSpPr>
          <p:cNvPr id="11" name="TextBox 10"/>
          <p:cNvSpPr txBox="1"/>
          <p:nvPr/>
        </p:nvSpPr>
        <p:spPr>
          <a:xfrm>
            <a:off x="4937760" y="1645920"/>
            <a:ext cx="3017520" cy="731520"/>
          </a:xfrm>
          <a:prstGeom prst="rect">
            <a:avLst/>
          </a:prstGeom>
          <a:noFill/>
        </p:spPr>
        <p:txBody>
          <a:bodyPr wrap="none">
            <a:spAutoFit/>
          </a:bodyPr>
          <a:lstStyle/>
          <a:p>
            <a:pPr>
              <a:defRPr sz="1200">
                <a:solidFill>
                  <a:srgbClr val="808080"/>
                </a:solidFill>
              </a:defRPr>
            </a:pPr>
            <a:r>
              <a:t>Pay via UPI/Card</a:t>
            </a:r>
          </a:p>
        </p:txBody>
      </p:sp>
      <p:sp>
        <p:nvSpPr>
          <p:cNvPr id="12" name="Oval 11"/>
          <p:cNvSpPr/>
          <p:nvPr/>
        </p:nvSpPr>
        <p:spPr>
          <a:xfrm>
            <a:off x="8138160" y="1280160"/>
            <a:ext cx="457200" cy="45720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1325880"/>
            <a:ext cx="457200" cy="365760"/>
          </a:xfrm>
          <a:prstGeom prst="rect">
            <a:avLst/>
          </a:prstGeom>
          <a:noFill/>
        </p:spPr>
        <p:txBody>
          <a:bodyPr wrap="none">
            <a:spAutoFit/>
          </a:bodyPr>
          <a:lstStyle/>
          <a:p>
            <a:pPr algn="ctr">
              <a:defRPr sz="1600" b="1"/>
            </a:pPr>
            <a:r>
              <a:t>3</a:t>
            </a:r>
          </a:p>
        </p:txBody>
      </p:sp>
      <p:sp>
        <p:nvSpPr>
          <p:cNvPr id="14" name="TextBox 13"/>
          <p:cNvSpPr txBox="1"/>
          <p:nvPr/>
        </p:nvSpPr>
        <p:spPr>
          <a:xfrm>
            <a:off x="8778240" y="1280160"/>
            <a:ext cx="3017520" cy="365760"/>
          </a:xfrm>
          <a:prstGeom prst="rect">
            <a:avLst/>
          </a:prstGeom>
          <a:noFill/>
        </p:spPr>
        <p:txBody>
          <a:bodyPr wrap="none">
            <a:spAutoFit/>
          </a:bodyPr>
          <a:lstStyle/>
          <a:p>
            <a:pPr>
              <a:defRPr sz="1600" b="1">
                <a:solidFill>
                  <a:srgbClr val="000000"/>
                </a:solidFill>
              </a:defRPr>
            </a:pPr>
            <a:r>
              <a:t>DROP</a:t>
            </a:r>
          </a:p>
        </p:txBody>
      </p:sp>
      <p:sp>
        <p:nvSpPr>
          <p:cNvPr id="15" name="TextBox 14"/>
          <p:cNvSpPr txBox="1"/>
          <p:nvPr/>
        </p:nvSpPr>
        <p:spPr>
          <a:xfrm>
            <a:off x="8778240" y="1645920"/>
            <a:ext cx="3017520" cy="731520"/>
          </a:xfrm>
          <a:prstGeom prst="rect">
            <a:avLst/>
          </a:prstGeom>
          <a:noFill/>
        </p:spPr>
        <p:txBody>
          <a:bodyPr wrap="none">
            <a:spAutoFit/>
          </a:bodyPr>
          <a:lstStyle/>
          <a:p>
            <a:pPr>
              <a:defRPr sz="1200">
                <a:solidFill>
                  <a:srgbClr val="808080"/>
                </a:solidFill>
              </a:defRPr>
            </a:pPr>
            <a:r>
              <a:t>Get OTP/NFC token</a:t>
            </a:r>
          </a:p>
        </p:txBody>
      </p:sp>
      <p:sp>
        <p:nvSpPr>
          <p:cNvPr id="16" name="Oval 15"/>
          <p:cNvSpPr/>
          <p:nvPr/>
        </p:nvSpPr>
        <p:spPr>
          <a:xfrm>
            <a:off x="457200" y="3291840"/>
            <a:ext cx="457200" cy="45720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337560"/>
            <a:ext cx="457200" cy="365760"/>
          </a:xfrm>
          <a:prstGeom prst="rect">
            <a:avLst/>
          </a:prstGeom>
          <a:noFill/>
        </p:spPr>
        <p:txBody>
          <a:bodyPr wrap="none">
            <a:spAutoFit/>
          </a:bodyPr>
          <a:lstStyle/>
          <a:p>
            <a:pPr algn="ctr">
              <a:defRPr sz="1600" b="1"/>
            </a:pPr>
            <a:r>
              <a:t>4</a:t>
            </a:r>
          </a:p>
        </p:txBody>
      </p:sp>
      <p:sp>
        <p:nvSpPr>
          <p:cNvPr id="18" name="TextBox 17"/>
          <p:cNvSpPr txBox="1"/>
          <p:nvPr/>
        </p:nvSpPr>
        <p:spPr>
          <a:xfrm>
            <a:off x="1097280" y="3291840"/>
            <a:ext cx="3017520" cy="365760"/>
          </a:xfrm>
          <a:prstGeom prst="rect">
            <a:avLst/>
          </a:prstGeom>
          <a:noFill/>
        </p:spPr>
        <p:txBody>
          <a:bodyPr wrap="none">
            <a:spAutoFit/>
          </a:bodyPr>
          <a:lstStyle/>
          <a:p>
            <a:pPr>
              <a:defRPr sz="1600" b="1">
                <a:solidFill>
                  <a:srgbClr val="000000"/>
                </a:solidFill>
              </a:defRPr>
            </a:pPr>
            <a:r>
              <a:t>RETRIEVE</a:t>
            </a:r>
          </a:p>
        </p:txBody>
      </p:sp>
      <p:sp>
        <p:nvSpPr>
          <p:cNvPr id="19" name="TextBox 18"/>
          <p:cNvSpPr txBox="1"/>
          <p:nvPr/>
        </p:nvSpPr>
        <p:spPr>
          <a:xfrm>
            <a:off x="1097280" y="3657600"/>
            <a:ext cx="3017520" cy="731520"/>
          </a:xfrm>
          <a:prstGeom prst="rect">
            <a:avLst/>
          </a:prstGeom>
          <a:noFill/>
        </p:spPr>
        <p:txBody>
          <a:bodyPr wrap="none">
            <a:spAutoFit/>
          </a:bodyPr>
          <a:lstStyle/>
          <a:p>
            <a:pPr>
              <a:defRPr sz="1200">
                <a:solidFill>
                  <a:srgbClr val="808080"/>
                </a:solidFill>
              </a:defRPr>
            </a:pPr>
            <a:r>
              <a:t>Show token, collect</a:t>
            </a:r>
          </a:p>
        </p:txBody>
      </p:sp>
      <p:sp>
        <p:nvSpPr>
          <p:cNvPr id="20" name="Oval 19"/>
          <p:cNvSpPr/>
          <p:nvPr/>
        </p:nvSpPr>
        <p:spPr>
          <a:xfrm>
            <a:off x="4297680" y="3291840"/>
            <a:ext cx="457200" cy="45720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97680" y="3337560"/>
            <a:ext cx="457200" cy="365760"/>
          </a:xfrm>
          <a:prstGeom prst="rect">
            <a:avLst/>
          </a:prstGeom>
          <a:noFill/>
        </p:spPr>
        <p:txBody>
          <a:bodyPr wrap="none">
            <a:spAutoFit/>
          </a:bodyPr>
          <a:lstStyle/>
          <a:p>
            <a:pPr algn="ctr">
              <a:defRPr sz="1600" b="1"/>
            </a:pPr>
            <a:r>
              <a:t>5</a:t>
            </a:r>
          </a:p>
        </p:txBody>
      </p:sp>
      <p:sp>
        <p:nvSpPr>
          <p:cNvPr id="22" name="TextBox 21"/>
          <p:cNvSpPr txBox="1"/>
          <p:nvPr/>
        </p:nvSpPr>
        <p:spPr>
          <a:xfrm>
            <a:off x="4937760" y="3291840"/>
            <a:ext cx="3017520" cy="365760"/>
          </a:xfrm>
          <a:prstGeom prst="rect">
            <a:avLst/>
          </a:prstGeom>
          <a:noFill/>
        </p:spPr>
        <p:txBody>
          <a:bodyPr wrap="none">
            <a:spAutoFit/>
          </a:bodyPr>
          <a:lstStyle/>
          <a:p>
            <a:pPr>
              <a:defRPr sz="1600" b="1">
                <a:solidFill>
                  <a:srgbClr val="000000"/>
                </a:solidFill>
              </a:defRPr>
            </a:pPr>
            <a:r>
              <a:t>DELIVER</a:t>
            </a:r>
          </a:p>
        </p:txBody>
      </p:sp>
      <p:sp>
        <p:nvSpPr>
          <p:cNvPr id="23" name="TextBox 22"/>
          <p:cNvSpPr txBox="1"/>
          <p:nvPr/>
        </p:nvSpPr>
        <p:spPr>
          <a:xfrm>
            <a:off x="4937760" y="3657600"/>
            <a:ext cx="3017520" cy="731520"/>
          </a:xfrm>
          <a:prstGeom prst="rect">
            <a:avLst/>
          </a:prstGeom>
          <a:noFill/>
        </p:spPr>
        <p:txBody>
          <a:bodyPr wrap="none">
            <a:spAutoFit/>
          </a:bodyPr>
          <a:lstStyle/>
          <a:p>
            <a:pPr>
              <a:defRPr sz="1200">
                <a:solidFill>
                  <a:srgbClr val="808080"/>
                </a:solidFill>
              </a:defRPr>
            </a:pPr>
            <a:r>
              <a:t>We courier forgotten bags</a:t>
            </a:r>
          </a:p>
        </p:txBody>
      </p:sp>
      <p:sp>
        <p:nvSpPr>
          <p:cNvPr id="24" name="Rectangle 23"/>
          <p:cNvSpPr/>
          <p:nvPr/>
        </p:nvSpPr>
        <p:spPr>
          <a:xfrm>
            <a:off x="457200" y="5303520"/>
            <a:ext cx="11277295" cy="10972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486400"/>
            <a:ext cx="10362895" cy="731520"/>
          </a:xfrm>
          <a:prstGeom prst="rect">
            <a:avLst/>
          </a:prstGeom>
          <a:noFill/>
        </p:spPr>
        <p:txBody>
          <a:bodyPr wrap="none">
            <a:spAutoFit/>
          </a:bodyPr>
          <a:lstStyle/>
          <a:p>
            <a:pPr algn="ctr">
              <a:defRPr sz="2000">
                <a:solidFill>
                  <a:srgbClr val="FFD700"/>
                </a:solidFill>
              </a:defRPr>
            </a:pPr>
            <a:r>
              <a:t>Under 2 min drop time | Starting ₹50/6hrs | 24/7 Support | Forgotten luggage delivery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600" b="1">
                <a:solidFill>
                  <a:srgbClr val="000000"/>
                </a:solidFill>
              </a:defRPr>
            </a:pPr>
            <a:r>
              <a:t>Why Kutch, Gujarat?</a:t>
            </a:r>
          </a:p>
          <a:p>
            <a:pPr>
              <a:defRPr sz="1600">
                <a:solidFill>
                  <a:srgbClr val="808080"/>
                </a:solidFill>
              </a:defRPr>
            </a:pPr>
            <a:r>
              <a:t>Strategic beachhead market</a:t>
            </a:r>
          </a:p>
        </p:txBody>
      </p:sp>
      <p:sp>
        <p:nvSpPr>
          <p:cNvPr id="4" name="Rectangle 3"/>
          <p:cNvSpPr/>
          <p:nvPr/>
        </p:nvSpPr>
        <p:spPr>
          <a:xfrm>
            <a:off x="457200" y="1280160"/>
            <a:ext cx="5486400" cy="640080"/>
          </a:xfrm>
          <a:prstGeom prst="rect">
            <a:avLst/>
          </a:prstGeom>
          <a:solidFill>
            <a:srgbClr val="FFD700"/>
          </a:solidFill>
          <a:ln>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17320"/>
            <a:ext cx="5120640" cy="365760"/>
          </a:xfrm>
          <a:prstGeom prst="rect">
            <a:avLst/>
          </a:prstGeom>
          <a:noFill/>
        </p:spPr>
        <p:txBody>
          <a:bodyPr wrap="none">
            <a:spAutoFit/>
          </a:bodyPr>
          <a:lstStyle/>
          <a:p>
            <a:pPr>
              <a:defRPr sz="1400" b="1">
                <a:solidFill>
                  <a:srgbClr val="000000"/>
                </a:solidFill>
              </a:defRPr>
            </a:pPr>
            <a:r>
              <a:t>Factor</a:t>
            </a:r>
          </a:p>
        </p:txBody>
      </p:sp>
      <p:sp>
        <p:nvSpPr>
          <p:cNvPr id="6" name="Rectangle 5"/>
          <p:cNvSpPr/>
          <p:nvPr/>
        </p:nvSpPr>
        <p:spPr>
          <a:xfrm>
            <a:off x="5943600" y="1280160"/>
            <a:ext cx="5486400" cy="640080"/>
          </a:xfrm>
          <a:prstGeom prst="rect">
            <a:avLst/>
          </a:prstGeom>
          <a:solidFill>
            <a:srgbClr val="FFD700"/>
          </a:solidFill>
          <a:ln>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0" y="1417320"/>
            <a:ext cx="5120640" cy="365760"/>
          </a:xfrm>
          <a:prstGeom prst="rect">
            <a:avLst/>
          </a:prstGeom>
          <a:noFill/>
        </p:spPr>
        <p:txBody>
          <a:bodyPr wrap="none">
            <a:spAutoFit/>
          </a:bodyPr>
          <a:lstStyle/>
          <a:p>
            <a:pPr>
              <a:defRPr sz="1400" b="1">
                <a:solidFill>
                  <a:srgbClr val="000000"/>
                </a:solidFill>
              </a:defRPr>
            </a:pPr>
            <a:r>
              <a:t>Advantage</a:t>
            </a:r>
          </a:p>
        </p:txBody>
      </p:sp>
      <p:sp>
        <p:nvSpPr>
          <p:cNvPr id="8" name="Rectangle 7"/>
          <p:cNvSpPr/>
          <p:nvPr/>
        </p:nvSpPr>
        <p:spPr>
          <a:xfrm>
            <a:off x="457200" y="1920239"/>
            <a:ext cx="5486400" cy="640080"/>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057399"/>
            <a:ext cx="5120640" cy="365760"/>
          </a:xfrm>
          <a:prstGeom prst="rect">
            <a:avLst/>
          </a:prstGeom>
          <a:noFill/>
        </p:spPr>
        <p:txBody>
          <a:bodyPr wrap="none">
            <a:spAutoFit/>
          </a:bodyPr>
          <a:lstStyle/>
          <a:p>
            <a:pPr>
              <a:defRPr sz="1300" b="0">
                <a:solidFill>
                  <a:srgbClr val="000000"/>
                </a:solidFill>
              </a:defRPr>
            </a:pPr>
            <a:r>
              <a:t>Tourist Hub</a:t>
            </a:r>
          </a:p>
        </p:txBody>
      </p:sp>
      <p:sp>
        <p:nvSpPr>
          <p:cNvPr id="10" name="Rectangle 9"/>
          <p:cNvSpPr/>
          <p:nvPr/>
        </p:nvSpPr>
        <p:spPr>
          <a:xfrm>
            <a:off x="5943600" y="1920239"/>
            <a:ext cx="5486400" cy="640080"/>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0" y="2057399"/>
            <a:ext cx="5120640" cy="365760"/>
          </a:xfrm>
          <a:prstGeom prst="rect">
            <a:avLst/>
          </a:prstGeom>
          <a:noFill/>
        </p:spPr>
        <p:txBody>
          <a:bodyPr wrap="none">
            <a:spAutoFit/>
          </a:bodyPr>
          <a:lstStyle/>
          <a:p>
            <a:pPr>
              <a:defRPr sz="1300" b="0">
                <a:solidFill>
                  <a:srgbClr val="000000"/>
                </a:solidFill>
              </a:defRPr>
            </a:pPr>
            <a:r>
              <a:t>Rann Utsav: 5L+ visitors annually</a:t>
            </a:r>
          </a:p>
        </p:txBody>
      </p:sp>
      <p:sp>
        <p:nvSpPr>
          <p:cNvPr id="12" name="Rectangle 11"/>
          <p:cNvSpPr/>
          <p:nvPr/>
        </p:nvSpPr>
        <p:spPr>
          <a:xfrm>
            <a:off x="457200" y="2560320"/>
            <a:ext cx="5486400" cy="640080"/>
          </a:xfrm>
          <a:prstGeom prst="rect">
            <a:avLst/>
          </a:prstGeom>
          <a:solidFill>
            <a:srgbClr val="F5F5F5"/>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697480"/>
            <a:ext cx="5120640" cy="365760"/>
          </a:xfrm>
          <a:prstGeom prst="rect">
            <a:avLst/>
          </a:prstGeom>
          <a:noFill/>
        </p:spPr>
        <p:txBody>
          <a:bodyPr wrap="none">
            <a:spAutoFit/>
          </a:bodyPr>
          <a:lstStyle/>
          <a:p>
            <a:pPr>
              <a:defRPr sz="1300" b="0">
                <a:solidFill>
                  <a:srgbClr val="000000"/>
                </a:solidFill>
              </a:defRPr>
            </a:pPr>
            <a:r>
              <a:t>Transit Points</a:t>
            </a:r>
          </a:p>
        </p:txBody>
      </p:sp>
      <p:sp>
        <p:nvSpPr>
          <p:cNvPr id="14" name="Rectangle 13"/>
          <p:cNvSpPr/>
          <p:nvPr/>
        </p:nvSpPr>
        <p:spPr>
          <a:xfrm>
            <a:off x="5943600" y="2560320"/>
            <a:ext cx="5486400" cy="640080"/>
          </a:xfrm>
          <a:prstGeom prst="rect">
            <a:avLst/>
          </a:prstGeom>
          <a:solidFill>
            <a:srgbClr val="F5F5F5"/>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2697480"/>
            <a:ext cx="5120640" cy="365760"/>
          </a:xfrm>
          <a:prstGeom prst="rect">
            <a:avLst/>
          </a:prstGeom>
          <a:noFill/>
        </p:spPr>
        <p:txBody>
          <a:bodyPr wrap="none">
            <a:spAutoFit/>
          </a:bodyPr>
          <a:lstStyle/>
          <a:p>
            <a:pPr>
              <a:defRPr sz="1300" b="0">
                <a:solidFill>
                  <a:srgbClr val="000000"/>
                </a:solidFill>
              </a:defRPr>
            </a:pPr>
            <a:r>
              <a:t>Bhuj Railway, Gandhidham Junction</a:t>
            </a:r>
          </a:p>
        </p:txBody>
      </p:sp>
      <p:sp>
        <p:nvSpPr>
          <p:cNvPr id="16" name="Rectangle 15"/>
          <p:cNvSpPr/>
          <p:nvPr/>
        </p:nvSpPr>
        <p:spPr>
          <a:xfrm>
            <a:off x="457200" y="3200399"/>
            <a:ext cx="5486400" cy="640080"/>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337559"/>
            <a:ext cx="5120640" cy="365760"/>
          </a:xfrm>
          <a:prstGeom prst="rect">
            <a:avLst/>
          </a:prstGeom>
          <a:noFill/>
        </p:spPr>
        <p:txBody>
          <a:bodyPr wrap="none">
            <a:spAutoFit/>
          </a:bodyPr>
          <a:lstStyle/>
          <a:p>
            <a:pPr>
              <a:defRPr sz="1300" b="0">
                <a:solidFill>
                  <a:srgbClr val="000000"/>
                </a:solidFill>
              </a:defRPr>
            </a:pPr>
            <a:r>
              <a:t>Growth Rate</a:t>
            </a:r>
          </a:p>
        </p:txBody>
      </p:sp>
      <p:sp>
        <p:nvSpPr>
          <p:cNvPr id="18" name="Rectangle 17"/>
          <p:cNvSpPr/>
          <p:nvPr/>
        </p:nvSpPr>
        <p:spPr>
          <a:xfrm>
            <a:off x="5943600" y="3200399"/>
            <a:ext cx="5486400" cy="640080"/>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3337559"/>
            <a:ext cx="5120640" cy="365760"/>
          </a:xfrm>
          <a:prstGeom prst="rect">
            <a:avLst/>
          </a:prstGeom>
          <a:noFill/>
        </p:spPr>
        <p:txBody>
          <a:bodyPr wrap="none">
            <a:spAutoFit/>
          </a:bodyPr>
          <a:lstStyle/>
          <a:p>
            <a:pPr>
              <a:defRPr sz="1300" b="0">
                <a:solidFill>
                  <a:srgbClr val="000000"/>
                </a:solidFill>
              </a:defRPr>
            </a:pPr>
            <a:r>
              <a:t>Gujarat tourism: 12% CAGR</a:t>
            </a:r>
          </a:p>
        </p:txBody>
      </p:sp>
      <p:sp>
        <p:nvSpPr>
          <p:cNvPr id="20" name="Rectangle 19"/>
          <p:cNvSpPr/>
          <p:nvPr/>
        </p:nvSpPr>
        <p:spPr>
          <a:xfrm>
            <a:off x="457200" y="3840479"/>
            <a:ext cx="5486400" cy="640080"/>
          </a:xfrm>
          <a:prstGeom prst="rect">
            <a:avLst/>
          </a:prstGeom>
          <a:solidFill>
            <a:srgbClr val="F5F5F5"/>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977639"/>
            <a:ext cx="5120640" cy="365760"/>
          </a:xfrm>
          <a:prstGeom prst="rect">
            <a:avLst/>
          </a:prstGeom>
          <a:noFill/>
        </p:spPr>
        <p:txBody>
          <a:bodyPr wrap="none">
            <a:spAutoFit/>
          </a:bodyPr>
          <a:lstStyle/>
          <a:p>
            <a:pPr>
              <a:defRPr sz="1300" b="0">
                <a:solidFill>
                  <a:srgbClr val="000000"/>
                </a:solidFill>
              </a:defRPr>
            </a:pPr>
            <a:r>
              <a:t>Strategic</a:t>
            </a:r>
          </a:p>
        </p:txBody>
      </p:sp>
      <p:sp>
        <p:nvSpPr>
          <p:cNvPr id="22" name="Rectangle 21"/>
          <p:cNvSpPr/>
          <p:nvPr/>
        </p:nvSpPr>
        <p:spPr>
          <a:xfrm>
            <a:off x="5943600" y="3840479"/>
            <a:ext cx="5486400" cy="640080"/>
          </a:xfrm>
          <a:prstGeom prst="rect">
            <a:avLst/>
          </a:prstGeom>
          <a:solidFill>
            <a:srgbClr val="F5F5F5"/>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26480" y="3977639"/>
            <a:ext cx="5120640" cy="365760"/>
          </a:xfrm>
          <a:prstGeom prst="rect">
            <a:avLst/>
          </a:prstGeom>
          <a:noFill/>
        </p:spPr>
        <p:txBody>
          <a:bodyPr wrap="none">
            <a:spAutoFit/>
          </a:bodyPr>
          <a:lstStyle/>
          <a:p>
            <a:pPr>
              <a:defRPr sz="1300" b="0">
                <a:solidFill>
                  <a:srgbClr val="000000"/>
                </a:solidFill>
              </a:defRPr>
            </a:pPr>
            <a:r>
              <a:t>Gateway to Rann, near Mundra Port</a:t>
            </a:r>
          </a:p>
        </p:txBody>
      </p:sp>
      <p:sp>
        <p:nvSpPr>
          <p:cNvPr id="24" name="Rectangle 23"/>
          <p:cNvSpPr/>
          <p:nvPr/>
        </p:nvSpPr>
        <p:spPr>
          <a:xfrm>
            <a:off x="457200" y="4480560"/>
            <a:ext cx="5486400" cy="640080"/>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4617720"/>
            <a:ext cx="5120640" cy="365760"/>
          </a:xfrm>
          <a:prstGeom prst="rect">
            <a:avLst/>
          </a:prstGeom>
          <a:noFill/>
        </p:spPr>
        <p:txBody>
          <a:bodyPr wrap="none">
            <a:spAutoFit/>
          </a:bodyPr>
          <a:lstStyle/>
          <a:p>
            <a:pPr>
              <a:defRPr sz="1300" b="0">
                <a:solidFill>
                  <a:srgbClr val="000000"/>
                </a:solidFill>
              </a:defRPr>
            </a:pPr>
            <a:r>
              <a:t>Cultural</a:t>
            </a:r>
          </a:p>
        </p:txBody>
      </p:sp>
      <p:sp>
        <p:nvSpPr>
          <p:cNvPr id="26" name="Rectangle 25"/>
          <p:cNvSpPr/>
          <p:nvPr/>
        </p:nvSpPr>
        <p:spPr>
          <a:xfrm>
            <a:off x="5943600" y="4480560"/>
            <a:ext cx="5486400" cy="640080"/>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4617720"/>
            <a:ext cx="5120640" cy="365760"/>
          </a:xfrm>
          <a:prstGeom prst="rect">
            <a:avLst/>
          </a:prstGeom>
          <a:noFill/>
        </p:spPr>
        <p:txBody>
          <a:bodyPr wrap="none">
            <a:spAutoFit/>
          </a:bodyPr>
          <a:lstStyle/>
          <a:p>
            <a:pPr>
              <a:defRPr sz="1300" b="0">
                <a:solidFill>
                  <a:srgbClr val="000000"/>
                </a:solidFill>
              </a:defRPr>
            </a:pPr>
            <a:r>
              <a:t>Dholavira, handicrafts, year-round</a:t>
            </a:r>
          </a:p>
        </p:txBody>
      </p:sp>
      <p:sp>
        <p:nvSpPr>
          <p:cNvPr id="28" name="Rounded Rectangle 27"/>
          <p:cNvSpPr/>
          <p:nvPr/>
        </p:nvSpPr>
        <p:spPr>
          <a:xfrm>
            <a:off x="457200" y="5029200"/>
            <a:ext cx="4572000" cy="1371600"/>
          </a:xfrm>
          <a:prstGeom prst="roundRect">
            <a:avLst/>
          </a:prstGeom>
          <a:solidFill>
            <a:srgbClr val="FFFADC"/>
          </a:solidFill>
          <a:ln>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212080"/>
            <a:ext cx="4206240" cy="1005840"/>
          </a:xfrm>
          <a:prstGeom prst="rect">
            <a:avLst/>
          </a:prstGeom>
          <a:noFill/>
        </p:spPr>
        <p:txBody>
          <a:bodyPr wrap="none">
            <a:spAutoFit/>
          </a:bodyPr>
          <a:lstStyle/>
          <a:p>
            <a:pPr>
              <a:defRPr sz="1600" b="1">
                <a:solidFill>
                  <a:srgbClr val="000000"/>
                </a:solidFill>
              </a:defRPr>
            </a:pPr>
            <a:r>
              <a:t>Rann Utsav Season (Nov-Feb)</a:t>
            </a:r>
          </a:p>
          <a:p>
            <a:pPr>
              <a:defRPr sz="1200">
                <a:solidFill>
                  <a:srgbClr val="404040"/>
                </a:solidFill>
              </a:defRPr>
            </a:pPr>
            <a:r>
              <a:t>Peak: 5-7 Lakh visitors</a:t>
            </a:r>
          </a:p>
          <a:p>
            <a:pPr>
              <a:defRPr sz="1200">
                <a:solidFill>
                  <a:srgbClr val="404040"/>
                </a:solidFill>
              </a:defRPr>
            </a:pPr>
            <a:r>
              <a:t>Perfect launch timing!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600" b="1">
                <a:solidFill>
                  <a:srgbClr val="000000"/>
                </a:solidFill>
              </a:defRPr>
            </a:pPr>
            <a:r>
              <a:t>Target Market</a:t>
            </a:r>
          </a:p>
          <a:p>
            <a:pPr>
              <a:defRPr sz="1600">
                <a:solidFill>
                  <a:srgbClr val="808080"/>
                </a:solidFill>
              </a:defRPr>
            </a:pPr>
            <a:r>
              <a:t>5 primary customer segments</a:t>
            </a:r>
          </a:p>
        </p:txBody>
      </p:sp>
      <p:sp>
        <p:nvSpPr>
          <p:cNvPr id="4" name="TextBox 3"/>
          <p:cNvSpPr txBox="1"/>
          <p:nvPr/>
        </p:nvSpPr>
        <p:spPr>
          <a:xfrm>
            <a:off x="457200" y="1280160"/>
            <a:ext cx="3657600" cy="457200"/>
          </a:xfrm>
          <a:prstGeom prst="rect">
            <a:avLst/>
          </a:prstGeom>
          <a:noFill/>
        </p:spPr>
        <p:txBody>
          <a:bodyPr wrap="none">
            <a:spAutoFit/>
          </a:bodyPr>
          <a:lstStyle/>
          <a:p>
            <a:pPr>
              <a:defRPr sz="1600" b="1">
                <a:solidFill>
                  <a:srgbClr val="000000"/>
                </a:solidFill>
              </a:defRPr>
            </a:pPr>
            <a:r>
              <a:t>Tourists &amp; Backpackers</a:t>
            </a:r>
          </a:p>
        </p:txBody>
      </p:sp>
      <p:sp>
        <p:nvSpPr>
          <p:cNvPr id="5" name="TextBox 4"/>
          <p:cNvSpPr txBox="1"/>
          <p:nvPr/>
        </p:nvSpPr>
        <p:spPr>
          <a:xfrm>
            <a:off x="4572000" y="1280160"/>
            <a:ext cx="2743200" cy="365760"/>
          </a:xfrm>
          <a:prstGeom prst="rect">
            <a:avLst/>
          </a:prstGeom>
          <a:noFill/>
        </p:spPr>
        <p:txBody>
          <a:bodyPr wrap="none">
            <a:spAutoFit/>
          </a:bodyPr>
          <a:lstStyle/>
          <a:p>
            <a:pPr>
              <a:defRPr sz="1200">
                <a:solidFill>
                  <a:srgbClr val="808080"/>
                </a:solidFill>
              </a:defRPr>
            </a:pPr>
            <a:r>
              <a:t>18-45 years</a:t>
            </a:r>
          </a:p>
        </p:txBody>
      </p:sp>
      <p:sp>
        <p:nvSpPr>
          <p:cNvPr id="6" name="TextBox 5"/>
          <p:cNvSpPr txBox="1"/>
          <p:nvPr/>
        </p:nvSpPr>
        <p:spPr>
          <a:xfrm>
            <a:off x="7315200" y="1280160"/>
            <a:ext cx="4114800" cy="365760"/>
          </a:xfrm>
          <a:prstGeom prst="rect">
            <a:avLst/>
          </a:prstGeom>
          <a:noFill/>
        </p:spPr>
        <p:txBody>
          <a:bodyPr wrap="none">
            <a:spAutoFit/>
          </a:bodyPr>
          <a:lstStyle/>
          <a:p>
            <a:pPr>
              <a:defRPr sz="1200">
                <a:solidFill>
                  <a:srgbClr val="404040"/>
                </a:solidFill>
              </a:defRPr>
            </a:pPr>
            <a:r>
              <a:t>Rann Utsav, sightseeing</a:t>
            </a:r>
          </a:p>
        </p:txBody>
      </p:sp>
      <p:sp>
        <p:nvSpPr>
          <p:cNvPr id="7" name="TextBox 6"/>
          <p:cNvSpPr txBox="1"/>
          <p:nvPr/>
        </p:nvSpPr>
        <p:spPr>
          <a:xfrm>
            <a:off x="457200" y="2194560"/>
            <a:ext cx="3657600" cy="457200"/>
          </a:xfrm>
          <a:prstGeom prst="rect">
            <a:avLst/>
          </a:prstGeom>
          <a:noFill/>
        </p:spPr>
        <p:txBody>
          <a:bodyPr wrap="none">
            <a:spAutoFit/>
          </a:bodyPr>
          <a:lstStyle/>
          <a:p>
            <a:pPr>
              <a:defRPr sz="1600" b="1">
                <a:solidFill>
                  <a:srgbClr val="000000"/>
                </a:solidFill>
              </a:defRPr>
            </a:pPr>
            <a:r>
              <a:t>Train &amp; Bus Travelers</a:t>
            </a:r>
          </a:p>
        </p:txBody>
      </p:sp>
      <p:sp>
        <p:nvSpPr>
          <p:cNvPr id="8" name="TextBox 7"/>
          <p:cNvSpPr txBox="1"/>
          <p:nvPr/>
        </p:nvSpPr>
        <p:spPr>
          <a:xfrm>
            <a:off x="4572000" y="2194560"/>
            <a:ext cx="2743200" cy="365760"/>
          </a:xfrm>
          <a:prstGeom prst="rect">
            <a:avLst/>
          </a:prstGeom>
          <a:noFill/>
        </p:spPr>
        <p:txBody>
          <a:bodyPr wrap="none">
            <a:spAutoFit/>
          </a:bodyPr>
          <a:lstStyle/>
          <a:p>
            <a:pPr>
              <a:defRPr sz="1200">
                <a:solidFill>
                  <a:srgbClr val="808080"/>
                </a:solidFill>
              </a:defRPr>
            </a:pPr>
            <a:r>
              <a:t>20-55 years</a:t>
            </a:r>
          </a:p>
        </p:txBody>
      </p:sp>
      <p:sp>
        <p:nvSpPr>
          <p:cNvPr id="9" name="TextBox 8"/>
          <p:cNvSpPr txBox="1"/>
          <p:nvPr/>
        </p:nvSpPr>
        <p:spPr>
          <a:xfrm>
            <a:off x="7315200" y="2194560"/>
            <a:ext cx="4114800" cy="365760"/>
          </a:xfrm>
          <a:prstGeom prst="rect">
            <a:avLst/>
          </a:prstGeom>
          <a:noFill/>
        </p:spPr>
        <p:txBody>
          <a:bodyPr wrap="none">
            <a:spAutoFit/>
          </a:bodyPr>
          <a:lstStyle/>
          <a:p>
            <a:pPr>
              <a:defRPr sz="1200">
                <a:solidFill>
                  <a:srgbClr val="404040"/>
                </a:solidFill>
              </a:defRPr>
            </a:pPr>
            <a:r>
              <a:t>Inter-city commuters</a:t>
            </a:r>
          </a:p>
        </p:txBody>
      </p:sp>
      <p:sp>
        <p:nvSpPr>
          <p:cNvPr id="10" name="TextBox 9"/>
          <p:cNvSpPr txBox="1"/>
          <p:nvPr/>
        </p:nvSpPr>
        <p:spPr>
          <a:xfrm>
            <a:off x="457200" y="3108960"/>
            <a:ext cx="3657600" cy="457200"/>
          </a:xfrm>
          <a:prstGeom prst="rect">
            <a:avLst/>
          </a:prstGeom>
          <a:noFill/>
        </p:spPr>
        <p:txBody>
          <a:bodyPr wrap="none">
            <a:spAutoFit/>
          </a:bodyPr>
          <a:lstStyle/>
          <a:p>
            <a:pPr>
              <a:defRPr sz="1600" b="1">
                <a:solidFill>
                  <a:srgbClr val="000000"/>
                </a:solidFill>
              </a:defRPr>
            </a:pPr>
            <a:r>
              <a:t>Students</a:t>
            </a:r>
          </a:p>
        </p:txBody>
      </p:sp>
      <p:sp>
        <p:nvSpPr>
          <p:cNvPr id="11" name="TextBox 10"/>
          <p:cNvSpPr txBox="1"/>
          <p:nvPr/>
        </p:nvSpPr>
        <p:spPr>
          <a:xfrm>
            <a:off x="4572000" y="3108960"/>
            <a:ext cx="2743200" cy="365760"/>
          </a:xfrm>
          <a:prstGeom prst="rect">
            <a:avLst/>
          </a:prstGeom>
          <a:noFill/>
        </p:spPr>
        <p:txBody>
          <a:bodyPr wrap="none">
            <a:spAutoFit/>
          </a:bodyPr>
          <a:lstStyle/>
          <a:p>
            <a:pPr>
              <a:defRPr sz="1200">
                <a:solidFill>
                  <a:srgbClr val="808080"/>
                </a:solidFill>
              </a:defRPr>
            </a:pPr>
            <a:r>
              <a:t>17-25 years</a:t>
            </a:r>
          </a:p>
        </p:txBody>
      </p:sp>
      <p:sp>
        <p:nvSpPr>
          <p:cNvPr id="12" name="TextBox 11"/>
          <p:cNvSpPr txBox="1"/>
          <p:nvPr/>
        </p:nvSpPr>
        <p:spPr>
          <a:xfrm>
            <a:off x="7315200" y="3108960"/>
            <a:ext cx="4114800" cy="365760"/>
          </a:xfrm>
          <a:prstGeom prst="rect">
            <a:avLst/>
          </a:prstGeom>
          <a:noFill/>
        </p:spPr>
        <p:txBody>
          <a:bodyPr wrap="none">
            <a:spAutoFit/>
          </a:bodyPr>
          <a:lstStyle/>
          <a:p>
            <a:pPr>
              <a:defRPr sz="1200">
                <a:solidFill>
                  <a:srgbClr val="404040"/>
                </a:solidFill>
              </a:defRPr>
            </a:pPr>
            <a:r>
              <a:t>Exams, interviews, budget</a:t>
            </a:r>
          </a:p>
        </p:txBody>
      </p:sp>
      <p:sp>
        <p:nvSpPr>
          <p:cNvPr id="13" name="TextBox 12"/>
          <p:cNvSpPr txBox="1"/>
          <p:nvPr/>
        </p:nvSpPr>
        <p:spPr>
          <a:xfrm>
            <a:off x="457200" y="4023360"/>
            <a:ext cx="3657600" cy="457200"/>
          </a:xfrm>
          <a:prstGeom prst="rect">
            <a:avLst/>
          </a:prstGeom>
          <a:noFill/>
        </p:spPr>
        <p:txBody>
          <a:bodyPr wrap="none">
            <a:spAutoFit/>
          </a:bodyPr>
          <a:lstStyle/>
          <a:p>
            <a:pPr>
              <a:defRPr sz="1600" b="1">
                <a:solidFill>
                  <a:srgbClr val="000000"/>
                </a:solidFill>
              </a:defRPr>
            </a:pPr>
            <a:r>
              <a:t>Business Travelers</a:t>
            </a:r>
          </a:p>
        </p:txBody>
      </p:sp>
      <p:sp>
        <p:nvSpPr>
          <p:cNvPr id="14" name="TextBox 13"/>
          <p:cNvSpPr txBox="1"/>
          <p:nvPr/>
        </p:nvSpPr>
        <p:spPr>
          <a:xfrm>
            <a:off x="4572000" y="4023360"/>
            <a:ext cx="2743200" cy="365760"/>
          </a:xfrm>
          <a:prstGeom prst="rect">
            <a:avLst/>
          </a:prstGeom>
          <a:noFill/>
        </p:spPr>
        <p:txBody>
          <a:bodyPr wrap="none">
            <a:spAutoFit/>
          </a:bodyPr>
          <a:lstStyle/>
          <a:p>
            <a:pPr>
              <a:defRPr sz="1200">
                <a:solidFill>
                  <a:srgbClr val="808080"/>
                </a:solidFill>
              </a:defRPr>
            </a:pPr>
            <a:r>
              <a:t>28-50 years</a:t>
            </a:r>
          </a:p>
        </p:txBody>
      </p:sp>
      <p:sp>
        <p:nvSpPr>
          <p:cNvPr id="15" name="TextBox 14"/>
          <p:cNvSpPr txBox="1"/>
          <p:nvPr/>
        </p:nvSpPr>
        <p:spPr>
          <a:xfrm>
            <a:off x="7315200" y="4023360"/>
            <a:ext cx="4114800" cy="365760"/>
          </a:xfrm>
          <a:prstGeom prst="rect">
            <a:avLst/>
          </a:prstGeom>
          <a:noFill/>
        </p:spPr>
        <p:txBody>
          <a:bodyPr wrap="none">
            <a:spAutoFit/>
          </a:bodyPr>
          <a:lstStyle/>
          <a:p>
            <a:pPr>
              <a:defRPr sz="1200">
                <a:solidFill>
                  <a:srgbClr val="404040"/>
                </a:solidFill>
              </a:defRPr>
            </a:pPr>
            <a:r>
              <a:t>Meetings, premium service</a:t>
            </a:r>
          </a:p>
        </p:txBody>
      </p:sp>
      <p:sp>
        <p:nvSpPr>
          <p:cNvPr id="16" name="TextBox 15"/>
          <p:cNvSpPr txBox="1"/>
          <p:nvPr/>
        </p:nvSpPr>
        <p:spPr>
          <a:xfrm>
            <a:off x="457200" y="4937760"/>
            <a:ext cx="3657600" cy="457200"/>
          </a:xfrm>
          <a:prstGeom prst="rect">
            <a:avLst/>
          </a:prstGeom>
          <a:noFill/>
        </p:spPr>
        <p:txBody>
          <a:bodyPr wrap="none">
            <a:spAutoFit/>
          </a:bodyPr>
          <a:lstStyle/>
          <a:p>
            <a:pPr>
              <a:defRPr sz="1600" b="1">
                <a:solidFill>
                  <a:srgbClr val="000000"/>
                </a:solidFill>
              </a:defRPr>
            </a:pPr>
            <a:r>
              <a:t>Forgotten Luggage</a:t>
            </a:r>
          </a:p>
        </p:txBody>
      </p:sp>
      <p:sp>
        <p:nvSpPr>
          <p:cNvPr id="17" name="TextBox 16"/>
          <p:cNvSpPr txBox="1"/>
          <p:nvPr/>
        </p:nvSpPr>
        <p:spPr>
          <a:xfrm>
            <a:off x="4572000" y="4937760"/>
            <a:ext cx="2743200" cy="365760"/>
          </a:xfrm>
          <a:prstGeom prst="rect">
            <a:avLst/>
          </a:prstGeom>
          <a:noFill/>
        </p:spPr>
        <p:txBody>
          <a:bodyPr wrap="none">
            <a:spAutoFit/>
          </a:bodyPr>
          <a:lstStyle/>
          <a:p>
            <a:pPr>
              <a:defRPr sz="1200">
                <a:solidFill>
                  <a:srgbClr val="808080"/>
                </a:solidFill>
              </a:defRPr>
            </a:pPr>
            <a:r>
              <a:t>All ages</a:t>
            </a:r>
          </a:p>
        </p:txBody>
      </p:sp>
      <p:sp>
        <p:nvSpPr>
          <p:cNvPr id="18" name="TextBox 17"/>
          <p:cNvSpPr txBox="1"/>
          <p:nvPr/>
        </p:nvSpPr>
        <p:spPr>
          <a:xfrm>
            <a:off x="7315200" y="4937760"/>
            <a:ext cx="4114800" cy="365760"/>
          </a:xfrm>
          <a:prstGeom prst="rect">
            <a:avLst/>
          </a:prstGeom>
          <a:noFill/>
        </p:spPr>
        <p:txBody>
          <a:bodyPr wrap="none">
            <a:spAutoFit/>
          </a:bodyPr>
          <a:lstStyle/>
          <a:p>
            <a:pPr>
              <a:defRPr sz="1200">
                <a:solidFill>
                  <a:srgbClr val="404040"/>
                </a:solidFill>
              </a:defRPr>
            </a:pPr>
            <a:r>
              <a:t>High-value delivery need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600" b="1">
                <a:solidFill>
                  <a:srgbClr val="000000"/>
                </a:solidFill>
              </a:defRPr>
            </a:pPr>
            <a:r>
              <a:t>Market Opportunity</a:t>
            </a:r>
          </a:p>
          <a:p>
            <a:pPr>
              <a:defRPr sz="1600">
                <a:solidFill>
                  <a:srgbClr val="808080"/>
                </a:solidFill>
              </a:defRPr>
            </a:pPr>
            <a:r>
              <a:t>Massive addressable market</a:t>
            </a:r>
          </a:p>
        </p:txBody>
      </p:sp>
      <p:sp>
        <p:nvSpPr>
          <p:cNvPr id="4" name="Rounded Rectangle 3"/>
          <p:cNvSpPr/>
          <p:nvPr/>
        </p:nvSpPr>
        <p:spPr>
          <a:xfrm>
            <a:off x="457200" y="1280160"/>
            <a:ext cx="5486400" cy="2011680"/>
          </a:xfrm>
          <a:prstGeom prst="roundRect">
            <a:avLst/>
          </a:prstGeom>
          <a:solidFill>
            <a:srgbClr val="F0F8FF"/>
          </a:solidFill>
          <a:ln>
            <a:solidFill>
              <a:srgbClr val="649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4937760" cy="1645920"/>
          </a:xfrm>
          <a:prstGeom prst="rect">
            <a:avLst/>
          </a:prstGeom>
          <a:noFill/>
        </p:spPr>
        <p:txBody>
          <a:bodyPr wrap="none">
            <a:spAutoFit/>
          </a:bodyPr>
          <a:lstStyle/>
          <a:p>
            <a:pPr>
              <a:defRPr sz="2000" b="1">
                <a:solidFill>
                  <a:srgbClr val="326496"/>
                </a:solidFill>
              </a:defRPr>
            </a:pPr>
            <a:r>
              <a:t>Gujarat Market</a:t>
            </a:r>
          </a:p>
          <a:p>
            <a:pPr>
              <a:defRPr sz="1300">
                <a:solidFill>
                  <a:srgbClr val="404040"/>
                </a:solidFill>
              </a:defRPr>
            </a:pPr>
          </a:p>
          <a:p>
            <a:pPr>
              <a:defRPr sz="1300">
                <a:solidFill>
                  <a:srgbClr val="404040"/>
                </a:solidFill>
              </a:defRPr>
            </a:pPr>
            <a:r>
              <a:t>5.5 Crore domestic tourists annually</a:t>
            </a:r>
          </a:p>
          <a:p>
            <a:pPr>
              <a:defRPr sz="1300">
                <a:solidFill>
                  <a:srgbClr val="404040"/>
                </a:solidFill>
              </a:defRPr>
            </a:pPr>
            <a:r>
              <a:t>5.2 Lakh foreign tourists</a:t>
            </a:r>
          </a:p>
          <a:p>
            <a:pPr>
              <a:defRPr sz="1300">
                <a:solidFill>
                  <a:srgbClr val="404040"/>
                </a:solidFill>
              </a:defRPr>
            </a:pPr>
            <a:r>
              <a:t>12% CAGR tourism growth</a:t>
            </a:r>
          </a:p>
        </p:txBody>
      </p:sp>
      <p:sp>
        <p:nvSpPr>
          <p:cNvPr id="6" name="Rounded Rectangle 5"/>
          <p:cNvSpPr/>
          <p:nvPr/>
        </p:nvSpPr>
        <p:spPr>
          <a:xfrm>
            <a:off x="6400800" y="1280160"/>
            <a:ext cx="5303520" cy="2011680"/>
          </a:xfrm>
          <a:prstGeom prst="roundRect">
            <a:avLst/>
          </a:prstGeom>
          <a:solidFill>
            <a:srgbClr val="FFFAF0"/>
          </a:solidFill>
          <a:ln>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1463040"/>
            <a:ext cx="4754880" cy="1645920"/>
          </a:xfrm>
          <a:prstGeom prst="rect">
            <a:avLst/>
          </a:prstGeom>
          <a:noFill/>
        </p:spPr>
        <p:txBody>
          <a:bodyPr wrap="none">
            <a:spAutoFit/>
          </a:bodyPr>
          <a:lstStyle/>
          <a:p>
            <a:pPr>
              <a:defRPr sz="2000" b="1">
                <a:solidFill>
                  <a:srgbClr val="000000"/>
                </a:solidFill>
              </a:defRPr>
            </a:pPr>
            <a:r>
              <a:t>India Market</a:t>
            </a:r>
          </a:p>
          <a:p>
            <a:pPr>
              <a:defRPr sz="1300">
                <a:solidFill>
                  <a:srgbClr val="404040"/>
                </a:solidFill>
              </a:defRPr>
            </a:pPr>
          </a:p>
          <a:p>
            <a:pPr>
              <a:defRPr sz="1300">
                <a:solidFill>
                  <a:srgbClr val="404040"/>
                </a:solidFill>
              </a:defRPr>
            </a:pPr>
            <a:r>
              <a:t>2,400 Crore railway passengers</a:t>
            </a:r>
          </a:p>
          <a:p>
            <a:pPr>
              <a:defRPr sz="1300">
                <a:solidFill>
                  <a:srgbClr val="404040"/>
                </a:solidFill>
              </a:defRPr>
            </a:pPr>
            <a:r>
              <a:t>15 Crore air passengers</a:t>
            </a:r>
          </a:p>
          <a:p>
            <a:pPr>
              <a:defRPr sz="1300">
                <a:solidFill>
                  <a:srgbClr val="404040"/>
                </a:solidFill>
              </a:defRPr>
            </a:pPr>
            <a:r>
              <a:t>₹15 Lakh Crore tourism GDP</a:t>
            </a:r>
          </a:p>
        </p:txBody>
      </p:sp>
      <p:sp>
        <p:nvSpPr>
          <p:cNvPr id="8" name="TextBox 7"/>
          <p:cNvSpPr txBox="1"/>
          <p:nvPr/>
        </p:nvSpPr>
        <p:spPr>
          <a:xfrm>
            <a:off x="457200" y="3657600"/>
            <a:ext cx="2286000" cy="457200"/>
          </a:xfrm>
          <a:prstGeom prst="rect">
            <a:avLst/>
          </a:prstGeom>
          <a:noFill/>
        </p:spPr>
        <p:txBody>
          <a:bodyPr wrap="none">
            <a:spAutoFit/>
          </a:bodyPr>
          <a:lstStyle/>
          <a:p>
            <a:pPr>
              <a:defRPr sz="1800" b="1">
                <a:solidFill>
                  <a:srgbClr val="000000"/>
                </a:solidFill>
              </a:defRPr>
            </a:pPr>
            <a:r>
              <a:t>TAM</a:t>
            </a:r>
          </a:p>
        </p:txBody>
      </p:sp>
      <p:sp>
        <p:nvSpPr>
          <p:cNvPr id="9" name="TextBox 8"/>
          <p:cNvSpPr txBox="1"/>
          <p:nvPr/>
        </p:nvSpPr>
        <p:spPr>
          <a:xfrm>
            <a:off x="2743200" y="3657600"/>
            <a:ext cx="2743200" cy="365760"/>
          </a:xfrm>
          <a:prstGeom prst="rect">
            <a:avLst/>
          </a:prstGeom>
          <a:noFill/>
        </p:spPr>
        <p:txBody>
          <a:bodyPr wrap="none">
            <a:spAutoFit/>
          </a:bodyPr>
          <a:lstStyle/>
          <a:p>
            <a:pPr>
              <a:defRPr sz="1200">
                <a:solidFill>
                  <a:srgbClr val="808080"/>
                </a:solidFill>
              </a:defRPr>
            </a:pPr>
            <a:r>
              <a:t>Total Addressable</a:t>
            </a:r>
          </a:p>
        </p:txBody>
      </p:sp>
      <p:sp>
        <p:nvSpPr>
          <p:cNvPr id="10" name="TextBox 9"/>
          <p:cNvSpPr txBox="1"/>
          <p:nvPr/>
        </p:nvSpPr>
        <p:spPr>
          <a:xfrm>
            <a:off x="5943600" y="3657600"/>
            <a:ext cx="2286000" cy="457200"/>
          </a:xfrm>
          <a:prstGeom prst="rect">
            <a:avLst/>
          </a:prstGeom>
          <a:noFill/>
        </p:spPr>
        <p:txBody>
          <a:bodyPr wrap="none">
            <a:spAutoFit/>
          </a:bodyPr>
          <a:lstStyle/>
          <a:p>
            <a:pPr>
              <a:defRPr sz="1600" b="1">
                <a:solidFill>
                  <a:srgbClr val="000000"/>
                </a:solidFill>
              </a:defRPr>
            </a:pPr>
            <a:r>
              <a:t>₹2,000+ Crore</a:t>
            </a:r>
          </a:p>
        </p:txBody>
      </p:sp>
      <p:sp>
        <p:nvSpPr>
          <p:cNvPr id="11" name="TextBox 10"/>
          <p:cNvSpPr txBox="1"/>
          <p:nvPr/>
        </p:nvSpPr>
        <p:spPr>
          <a:xfrm>
            <a:off x="8686800" y="3657600"/>
            <a:ext cx="3017520" cy="365760"/>
          </a:xfrm>
          <a:prstGeom prst="rect">
            <a:avLst/>
          </a:prstGeom>
          <a:noFill/>
        </p:spPr>
        <p:txBody>
          <a:bodyPr wrap="none">
            <a:spAutoFit/>
          </a:bodyPr>
          <a:lstStyle/>
          <a:p>
            <a:pPr>
              <a:defRPr sz="1100">
                <a:solidFill>
                  <a:srgbClr val="808080"/>
                </a:solidFill>
              </a:defRPr>
            </a:pPr>
            <a:r>
              <a:t>All travelers needing storage</a:t>
            </a:r>
          </a:p>
        </p:txBody>
      </p:sp>
      <p:sp>
        <p:nvSpPr>
          <p:cNvPr id="12" name="TextBox 11"/>
          <p:cNvSpPr txBox="1"/>
          <p:nvPr/>
        </p:nvSpPr>
        <p:spPr>
          <a:xfrm>
            <a:off x="457200" y="4480560"/>
            <a:ext cx="2286000" cy="457200"/>
          </a:xfrm>
          <a:prstGeom prst="rect">
            <a:avLst/>
          </a:prstGeom>
          <a:noFill/>
        </p:spPr>
        <p:txBody>
          <a:bodyPr wrap="none">
            <a:spAutoFit/>
          </a:bodyPr>
          <a:lstStyle/>
          <a:p>
            <a:pPr>
              <a:defRPr sz="1800" b="1">
                <a:solidFill>
                  <a:srgbClr val="000000"/>
                </a:solidFill>
              </a:defRPr>
            </a:pPr>
            <a:r>
              <a:t>SAM</a:t>
            </a:r>
          </a:p>
        </p:txBody>
      </p:sp>
      <p:sp>
        <p:nvSpPr>
          <p:cNvPr id="13" name="TextBox 12"/>
          <p:cNvSpPr txBox="1"/>
          <p:nvPr/>
        </p:nvSpPr>
        <p:spPr>
          <a:xfrm>
            <a:off x="2743200" y="4480560"/>
            <a:ext cx="2743200" cy="365760"/>
          </a:xfrm>
          <a:prstGeom prst="rect">
            <a:avLst/>
          </a:prstGeom>
          <a:noFill/>
        </p:spPr>
        <p:txBody>
          <a:bodyPr wrap="none">
            <a:spAutoFit/>
          </a:bodyPr>
          <a:lstStyle/>
          <a:p>
            <a:pPr>
              <a:defRPr sz="1200">
                <a:solidFill>
                  <a:srgbClr val="808080"/>
                </a:solidFill>
              </a:defRPr>
            </a:pPr>
            <a:r>
              <a:t>Serviceable</a:t>
            </a:r>
          </a:p>
        </p:txBody>
      </p:sp>
      <p:sp>
        <p:nvSpPr>
          <p:cNvPr id="14" name="TextBox 13"/>
          <p:cNvSpPr txBox="1"/>
          <p:nvPr/>
        </p:nvSpPr>
        <p:spPr>
          <a:xfrm>
            <a:off x="5943600" y="4480560"/>
            <a:ext cx="2286000" cy="457200"/>
          </a:xfrm>
          <a:prstGeom prst="rect">
            <a:avLst/>
          </a:prstGeom>
          <a:noFill/>
        </p:spPr>
        <p:txBody>
          <a:bodyPr wrap="none">
            <a:spAutoFit/>
          </a:bodyPr>
          <a:lstStyle/>
          <a:p>
            <a:pPr>
              <a:defRPr sz="1600" b="1">
                <a:solidFill>
                  <a:srgbClr val="000000"/>
                </a:solidFill>
              </a:defRPr>
            </a:pPr>
            <a:r>
              <a:t>₹500 Crore</a:t>
            </a:r>
          </a:p>
        </p:txBody>
      </p:sp>
      <p:sp>
        <p:nvSpPr>
          <p:cNvPr id="15" name="TextBox 14"/>
          <p:cNvSpPr txBox="1"/>
          <p:nvPr/>
        </p:nvSpPr>
        <p:spPr>
          <a:xfrm>
            <a:off x="8686800" y="4480560"/>
            <a:ext cx="3017520" cy="365760"/>
          </a:xfrm>
          <a:prstGeom prst="rect">
            <a:avLst/>
          </a:prstGeom>
          <a:noFill/>
        </p:spPr>
        <p:txBody>
          <a:bodyPr wrap="none">
            <a:spAutoFit/>
          </a:bodyPr>
          <a:lstStyle/>
          <a:p>
            <a:pPr>
              <a:defRPr sz="1100">
                <a:solidFill>
                  <a:srgbClr val="808080"/>
                </a:solidFill>
              </a:defRPr>
            </a:pPr>
            <a:r>
              <a:t>Gujarat + 10 major cities</a:t>
            </a:r>
          </a:p>
        </p:txBody>
      </p:sp>
      <p:sp>
        <p:nvSpPr>
          <p:cNvPr id="16" name="TextBox 15"/>
          <p:cNvSpPr txBox="1"/>
          <p:nvPr/>
        </p:nvSpPr>
        <p:spPr>
          <a:xfrm>
            <a:off x="457200" y="5303520"/>
            <a:ext cx="2286000" cy="457200"/>
          </a:xfrm>
          <a:prstGeom prst="rect">
            <a:avLst/>
          </a:prstGeom>
          <a:noFill/>
        </p:spPr>
        <p:txBody>
          <a:bodyPr wrap="none">
            <a:spAutoFit/>
          </a:bodyPr>
          <a:lstStyle/>
          <a:p>
            <a:pPr>
              <a:defRPr sz="1800" b="1">
                <a:solidFill>
                  <a:srgbClr val="FFD700"/>
                </a:solidFill>
              </a:defRPr>
            </a:pPr>
            <a:r>
              <a:t>SOM</a:t>
            </a:r>
          </a:p>
        </p:txBody>
      </p:sp>
      <p:sp>
        <p:nvSpPr>
          <p:cNvPr id="17" name="TextBox 16"/>
          <p:cNvSpPr txBox="1"/>
          <p:nvPr/>
        </p:nvSpPr>
        <p:spPr>
          <a:xfrm>
            <a:off x="2743200" y="5303520"/>
            <a:ext cx="2743200" cy="365760"/>
          </a:xfrm>
          <a:prstGeom prst="rect">
            <a:avLst/>
          </a:prstGeom>
          <a:noFill/>
        </p:spPr>
        <p:txBody>
          <a:bodyPr wrap="none">
            <a:spAutoFit/>
          </a:bodyPr>
          <a:lstStyle/>
          <a:p>
            <a:pPr>
              <a:defRPr sz="1200">
                <a:solidFill>
                  <a:srgbClr val="808080"/>
                </a:solidFill>
              </a:defRPr>
            </a:pPr>
            <a:r>
              <a:t>Obtainable</a:t>
            </a:r>
          </a:p>
        </p:txBody>
      </p:sp>
      <p:sp>
        <p:nvSpPr>
          <p:cNvPr id="18" name="TextBox 17"/>
          <p:cNvSpPr txBox="1"/>
          <p:nvPr/>
        </p:nvSpPr>
        <p:spPr>
          <a:xfrm>
            <a:off x="5943600" y="5303520"/>
            <a:ext cx="2286000" cy="457200"/>
          </a:xfrm>
          <a:prstGeom prst="rect">
            <a:avLst/>
          </a:prstGeom>
          <a:noFill/>
        </p:spPr>
        <p:txBody>
          <a:bodyPr wrap="none">
            <a:spAutoFit/>
          </a:bodyPr>
          <a:lstStyle/>
          <a:p>
            <a:pPr>
              <a:defRPr sz="1600" b="1">
                <a:solidFill>
                  <a:srgbClr val="000000"/>
                </a:solidFill>
              </a:defRPr>
            </a:pPr>
            <a:r>
              <a:t>₹36 Lakh Y1</a:t>
            </a:r>
          </a:p>
        </p:txBody>
      </p:sp>
      <p:sp>
        <p:nvSpPr>
          <p:cNvPr id="19" name="TextBox 18"/>
          <p:cNvSpPr txBox="1"/>
          <p:nvPr/>
        </p:nvSpPr>
        <p:spPr>
          <a:xfrm>
            <a:off x="8686800" y="5303520"/>
            <a:ext cx="3017520" cy="365760"/>
          </a:xfrm>
          <a:prstGeom prst="rect">
            <a:avLst/>
          </a:prstGeom>
          <a:noFill/>
        </p:spPr>
        <p:txBody>
          <a:bodyPr wrap="none">
            <a:spAutoFit/>
          </a:bodyPr>
          <a:lstStyle/>
          <a:p>
            <a:pPr>
              <a:defRPr sz="1100">
                <a:solidFill>
                  <a:srgbClr val="808080"/>
                </a:solidFill>
              </a:defRPr>
            </a:pPr>
            <a:r>
              <a:t>Our Year 1 target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600" b="1">
                <a:solidFill>
                  <a:srgbClr val="000000"/>
                </a:solidFill>
              </a:defRPr>
            </a:pPr>
            <a:r>
              <a:t>Business Model</a:t>
            </a:r>
          </a:p>
          <a:p>
            <a:pPr>
              <a:defRPr sz="1600">
                <a:solidFill>
                  <a:srgbClr val="808080"/>
                </a:solidFill>
              </a:defRPr>
            </a:pPr>
            <a:r>
              <a:t>Multiple revenue streams</a:t>
            </a:r>
          </a:p>
        </p:txBody>
      </p:sp>
      <p:sp>
        <p:nvSpPr>
          <p:cNvPr id="4" name="Rectangle 3"/>
          <p:cNvSpPr/>
          <p:nvPr/>
        </p:nvSpPr>
        <p:spPr>
          <a:xfrm>
            <a:off x="457200" y="1280160"/>
            <a:ext cx="3657600" cy="4572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25880"/>
            <a:ext cx="3291840" cy="365760"/>
          </a:xfrm>
          <a:prstGeom prst="rect">
            <a:avLst/>
          </a:prstGeom>
          <a:noFill/>
        </p:spPr>
        <p:txBody>
          <a:bodyPr wrap="none">
            <a:spAutoFit/>
          </a:bodyPr>
          <a:lstStyle/>
          <a:p>
            <a:pPr>
              <a:defRPr sz="1400" b="1">
                <a:solidFill>
                  <a:srgbClr val="000000"/>
                </a:solidFill>
              </a:defRPr>
            </a:pPr>
            <a:r>
              <a:t>Revenue Stream</a:t>
            </a:r>
          </a:p>
        </p:txBody>
      </p:sp>
      <p:sp>
        <p:nvSpPr>
          <p:cNvPr id="6" name="Rectangle 5"/>
          <p:cNvSpPr/>
          <p:nvPr/>
        </p:nvSpPr>
        <p:spPr>
          <a:xfrm>
            <a:off x="4114800" y="1280160"/>
            <a:ext cx="3657600" cy="4572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97680" y="1325880"/>
            <a:ext cx="3291840" cy="365760"/>
          </a:xfrm>
          <a:prstGeom prst="rect">
            <a:avLst/>
          </a:prstGeom>
          <a:noFill/>
        </p:spPr>
        <p:txBody>
          <a:bodyPr wrap="none">
            <a:spAutoFit/>
          </a:bodyPr>
          <a:lstStyle/>
          <a:p>
            <a:pPr>
              <a:defRPr sz="1400" b="1">
                <a:solidFill>
                  <a:srgbClr val="000000"/>
                </a:solidFill>
              </a:defRPr>
            </a:pPr>
            <a:r>
              <a:t>Margin</a:t>
            </a:r>
          </a:p>
        </p:txBody>
      </p:sp>
      <p:sp>
        <p:nvSpPr>
          <p:cNvPr id="8" name="Rectangle 7"/>
          <p:cNvSpPr/>
          <p:nvPr/>
        </p:nvSpPr>
        <p:spPr>
          <a:xfrm>
            <a:off x="7772400" y="1280160"/>
            <a:ext cx="3657600" cy="4572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0" y="1325880"/>
            <a:ext cx="3291840" cy="365760"/>
          </a:xfrm>
          <a:prstGeom prst="rect">
            <a:avLst/>
          </a:prstGeom>
          <a:noFill/>
        </p:spPr>
        <p:txBody>
          <a:bodyPr wrap="none">
            <a:spAutoFit/>
          </a:bodyPr>
          <a:lstStyle/>
          <a:p>
            <a:pPr>
              <a:defRPr sz="1400" b="1">
                <a:solidFill>
                  <a:srgbClr val="000000"/>
                </a:solidFill>
              </a:defRPr>
            </a:pPr>
            <a:r>
              <a:t>Pricing</a:t>
            </a:r>
          </a:p>
        </p:txBody>
      </p:sp>
      <p:sp>
        <p:nvSpPr>
          <p:cNvPr id="10" name="Rectangle 9"/>
          <p:cNvSpPr/>
          <p:nvPr/>
        </p:nvSpPr>
        <p:spPr>
          <a:xfrm>
            <a:off x="457200" y="1737360"/>
            <a:ext cx="3657600" cy="502920"/>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828800"/>
            <a:ext cx="3291840" cy="320040"/>
          </a:xfrm>
          <a:prstGeom prst="rect">
            <a:avLst/>
          </a:prstGeom>
          <a:noFill/>
        </p:spPr>
        <p:txBody>
          <a:bodyPr wrap="none">
            <a:spAutoFit/>
          </a:bodyPr>
          <a:lstStyle/>
          <a:p>
            <a:pPr>
              <a:defRPr sz="1200">
                <a:solidFill>
                  <a:srgbClr val="000000"/>
                </a:solidFill>
              </a:defRPr>
            </a:pPr>
            <a:r>
              <a:t>Storage Fees</a:t>
            </a:r>
          </a:p>
        </p:txBody>
      </p:sp>
      <p:sp>
        <p:nvSpPr>
          <p:cNvPr id="12" name="Rectangle 11"/>
          <p:cNvSpPr/>
          <p:nvPr/>
        </p:nvSpPr>
        <p:spPr>
          <a:xfrm>
            <a:off x="4114800" y="1737360"/>
            <a:ext cx="3657600" cy="502920"/>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0" y="1828800"/>
            <a:ext cx="3291840" cy="320040"/>
          </a:xfrm>
          <a:prstGeom prst="rect">
            <a:avLst/>
          </a:prstGeom>
          <a:noFill/>
        </p:spPr>
        <p:txBody>
          <a:bodyPr wrap="none">
            <a:spAutoFit/>
          </a:bodyPr>
          <a:lstStyle/>
          <a:p>
            <a:pPr>
              <a:defRPr sz="1200">
                <a:solidFill>
                  <a:srgbClr val="000000"/>
                </a:solidFill>
              </a:defRPr>
            </a:pPr>
            <a:r>
              <a:t>30% commission</a:t>
            </a:r>
          </a:p>
        </p:txBody>
      </p:sp>
      <p:sp>
        <p:nvSpPr>
          <p:cNvPr id="14" name="Rectangle 13"/>
          <p:cNvSpPr/>
          <p:nvPr/>
        </p:nvSpPr>
        <p:spPr>
          <a:xfrm>
            <a:off x="7772400" y="1737360"/>
            <a:ext cx="3657600" cy="502920"/>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80" y="1828800"/>
            <a:ext cx="3291840" cy="320040"/>
          </a:xfrm>
          <a:prstGeom prst="rect">
            <a:avLst/>
          </a:prstGeom>
          <a:noFill/>
        </p:spPr>
        <p:txBody>
          <a:bodyPr wrap="none">
            <a:spAutoFit/>
          </a:bodyPr>
          <a:lstStyle/>
          <a:p>
            <a:pPr>
              <a:defRPr sz="1200">
                <a:solidFill>
                  <a:srgbClr val="000000"/>
                </a:solidFill>
              </a:defRPr>
            </a:pPr>
            <a:r>
              <a:t>₹50-200 per booking</a:t>
            </a:r>
          </a:p>
        </p:txBody>
      </p:sp>
      <p:sp>
        <p:nvSpPr>
          <p:cNvPr id="16" name="Rectangle 15"/>
          <p:cNvSpPr/>
          <p:nvPr/>
        </p:nvSpPr>
        <p:spPr>
          <a:xfrm>
            <a:off x="457200" y="2286000"/>
            <a:ext cx="3657600" cy="502920"/>
          </a:xfrm>
          <a:prstGeom prst="rect">
            <a:avLst/>
          </a:prstGeom>
          <a:solidFill>
            <a:srgbClr val="F5F5F5"/>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2377440"/>
            <a:ext cx="3291840" cy="320040"/>
          </a:xfrm>
          <a:prstGeom prst="rect">
            <a:avLst/>
          </a:prstGeom>
          <a:noFill/>
        </p:spPr>
        <p:txBody>
          <a:bodyPr wrap="none">
            <a:spAutoFit/>
          </a:bodyPr>
          <a:lstStyle/>
          <a:p>
            <a:pPr>
              <a:defRPr sz="1200">
                <a:solidFill>
                  <a:srgbClr val="000000"/>
                </a:solidFill>
              </a:defRPr>
            </a:pPr>
            <a:r>
              <a:t>Delivery Fees</a:t>
            </a:r>
          </a:p>
        </p:txBody>
      </p:sp>
      <p:sp>
        <p:nvSpPr>
          <p:cNvPr id="18" name="Rectangle 17"/>
          <p:cNvSpPr/>
          <p:nvPr/>
        </p:nvSpPr>
        <p:spPr>
          <a:xfrm>
            <a:off x="4114800" y="2286000"/>
            <a:ext cx="3657600" cy="502920"/>
          </a:xfrm>
          <a:prstGeom prst="rect">
            <a:avLst/>
          </a:prstGeom>
          <a:solidFill>
            <a:srgbClr val="F5F5F5"/>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97680" y="2377440"/>
            <a:ext cx="3291840" cy="320040"/>
          </a:xfrm>
          <a:prstGeom prst="rect">
            <a:avLst/>
          </a:prstGeom>
          <a:noFill/>
        </p:spPr>
        <p:txBody>
          <a:bodyPr wrap="none">
            <a:spAutoFit/>
          </a:bodyPr>
          <a:lstStyle/>
          <a:p>
            <a:pPr>
              <a:defRPr sz="1200">
                <a:solidFill>
                  <a:srgbClr val="000000"/>
                </a:solidFill>
              </a:defRPr>
            </a:pPr>
            <a:r>
              <a:t>20% commission</a:t>
            </a:r>
          </a:p>
        </p:txBody>
      </p:sp>
      <p:sp>
        <p:nvSpPr>
          <p:cNvPr id="20" name="Rectangle 19"/>
          <p:cNvSpPr/>
          <p:nvPr/>
        </p:nvSpPr>
        <p:spPr>
          <a:xfrm>
            <a:off x="7772400" y="2286000"/>
            <a:ext cx="3657600" cy="502920"/>
          </a:xfrm>
          <a:prstGeom prst="rect">
            <a:avLst/>
          </a:prstGeom>
          <a:solidFill>
            <a:srgbClr val="F5F5F5"/>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55280" y="2377440"/>
            <a:ext cx="3291840" cy="320040"/>
          </a:xfrm>
          <a:prstGeom prst="rect">
            <a:avLst/>
          </a:prstGeom>
          <a:noFill/>
        </p:spPr>
        <p:txBody>
          <a:bodyPr wrap="none">
            <a:spAutoFit/>
          </a:bodyPr>
          <a:lstStyle/>
          <a:p>
            <a:pPr>
              <a:defRPr sz="1200">
                <a:solidFill>
                  <a:srgbClr val="000000"/>
                </a:solidFill>
              </a:defRPr>
            </a:pPr>
            <a:r>
              <a:t>₹300-1,500 forgotten bags</a:t>
            </a:r>
          </a:p>
        </p:txBody>
      </p:sp>
      <p:sp>
        <p:nvSpPr>
          <p:cNvPr id="22" name="Rectangle 21"/>
          <p:cNvSpPr/>
          <p:nvPr/>
        </p:nvSpPr>
        <p:spPr>
          <a:xfrm>
            <a:off x="457200" y="2834639"/>
            <a:ext cx="3657600" cy="502920"/>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2926079"/>
            <a:ext cx="3291840" cy="320040"/>
          </a:xfrm>
          <a:prstGeom prst="rect">
            <a:avLst/>
          </a:prstGeom>
          <a:noFill/>
        </p:spPr>
        <p:txBody>
          <a:bodyPr wrap="none">
            <a:spAutoFit/>
          </a:bodyPr>
          <a:lstStyle/>
          <a:p>
            <a:pPr>
              <a:defRPr sz="1200">
                <a:solidFill>
                  <a:srgbClr val="000000"/>
                </a:solidFill>
              </a:defRPr>
            </a:pPr>
            <a:r>
              <a:t>NFC Tokens</a:t>
            </a:r>
          </a:p>
        </p:txBody>
      </p:sp>
      <p:sp>
        <p:nvSpPr>
          <p:cNvPr id="24" name="Rectangle 23"/>
          <p:cNvSpPr/>
          <p:nvPr/>
        </p:nvSpPr>
        <p:spPr>
          <a:xfrm>
            <a:off x="4114800" y="2834639"/>
            <a:ext cx="3657600" cy="502920"/>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97680" y="2926079"/>
            <a:ext cx="3291840" cy="320040"/>
          </a:xfrm>
          <a:prstGeom prst="rect">
            <a:avLst/>
          </a:prstGeom>
          <a:noFill/>
        </p:spPr>
        <p:txBody>
          <a:bodyPr wrap="none">
            <a:spAutoFit/>
          </a:bodyPr>
          <a:lstStyle/>
          <a:p>
            <a:pPr>
              <a:defRPr sz="1200">
                <a:solidFill>
                  <a:srgbClr val="000000"/>
                </a:solidFill>
              </a:defRPr>
            </a:pPr>
            <a:r>
              <a:t>100% margin</a:t>
            </a:r>
          </a:p>
        </p:txBody>
      </p:sp>
      <p:sp>
        <p:nvSpPr>
          <p:cNvPr id="26" name="Rectangle 25"/>
          <p:cNvSpPr/>
          <p:nvPr/>
        </p:nvSpPr>
        <p:spPr>
          <a:xfrm>
            <a:off x="7772400" y="2834639"/>
            <a:ext cx="3657600" cy="502920"/>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55280" y="2926079"/>
            <a:ext cx="3291840" cy="320040"/>
          </a:xfrm>
          <a:prstGeom prst="rect">
            <a:avLst/>
          </a:prstGeom>
          <a:noFill/>
        </p:spPr>
        <p:txBody>
          <a:bodyPr wrap="none">
            <a:spAutoFit/>
          </a:bodyPr>
          <a:lstStyle/>
          <a:p>
            <a:pPr>
              <a:defRPr sz="1200">
                <a:solidFill>
                  <a:srgbClr val="000000"/>
                </a:solidFill>
              </a:defRPr>
            </a:pPr>
            <a:r>
              <a:t>₹199 one-time purchase</a:t>
            </a:r>
          </a:p>
        </p:txBody>
      </p:sp>
      <p:sp>
        <p:nvSpPr>
          <p:cNvPr id="28" name="Rectangle 27"/>
          <p:cNvSpPr/>
          <p:nvPr/>
        </p:nvSpPr>
        <p:spPr>
          <a:xfrm>
            <a:off x="457200" y="3383279"/>
            <a:ext cx="3657600" cy="502920"/>
          </a:xfrm>
          <a:prstGeom prst="rect">
            <a:avLst/>
          </a:prstGeom>
          <a:solidFill>
            <a:srgbClr val="F5F5F5"/>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474719"/>
            <a:ext cx="3291840" cy="320040"/>
          </a:xfrm>
          <a:prstGeom prst="rect">
            <a:avLst/>
          </a:prstGeom>
          <a:noFill/>
        </p:spPr>
        <p:txBody>
          <a:bodyPr wrap="none">
            <a:spAutoFit/>
          </a:bodyPr>
          <a:lstStyle/>
          <a:p>
            <a:pPr>
              <a:defRPr sz="1200">
                <a:solidFill>
                  <a:srgbClr val="000000"/>
                </a:solidFill>
              </a:defRPr>
            </a:pPr>
            <a:r>
              <a:t>Kiosk Ads</a:t>
            </a:r>
          </a:p>
        </p:txBody>
      </p:sp>
      <p:sp>
        <p:nvSpPr>
          <p:cNvPr id="30" name="Rectangle 29"/>
          <p:cNvSpPr/>
          <p:nvPr/>
        </p:nvSpPr>
        <p:spPr>
          <a:xfrm>
            <a:off x="4114800" y="3383279"/>
            <a:ext cx="3657600" cy="502920"/>
          </a:xfrm>
          <a:prstGeom prst="rect">
            <a:avLst/>
          </a:prstGeom>
          <a:solidFill>
            <a:srgbClr val="F5F5F5"/>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97680" y="3474719"/>
            <a:ext cx="3291840" cy="320040"/>
          </a:xfrm>
          <a:prstGeom prst="rect">
            <a:avLst/>
          </a:prstGeom>
          <a:noFill/>
        </p:spPr>
        <p:txBody>
          <a:bodyPr wrap="none">
            <a:spAutoFit/>
          </a:bodyPr>
          <a:lstStyle/>
          <a:p>
            <a:pPr>
              <a:defRPr sz="1200">
                <a:solidFill>
                  <a:srgbClr val="000000"/>
                </a:solidFill>
              </a:defRPr>
            </a:pPr>
            <a:r>
              <a:t>100% margin</a:t>
            </a:r>
          </a:p>
        </p:txBody>
      </p:sp>
      <p:sp>
        <p:nvSpPr>
          <p:cNvPr id="32" name="Rectangle 31"/>
          <p:cNvSpPr/>
          <p:nvPr/>
        </p:nvSpPr>
        <p:spPr>
          <a:xfrm>
            <a:off x="7772400" y="3383279"/>
            <a:ext cx="3657600" cy="502920"/>
          </a:xfrm>
          <a:prstGeom prst="rect">
            <a:avLst/>
          </a:prstGeom>
          <a:solidFill>
            <a:srgbClr val="F5F5F5"/>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55280" y="3474719"/>
            <a:ext cx="3291840" cy="320040"/>
          </a:xfrm>
          <a:prstGeom prst="rect">
            <a:avLst/>
          </a:prstGeom>
          <a:noFill/>
        </p:spPr>
        <p:txBody>
          <a:bodyPr wrap="none">
            <a:spAutoFit/>
          </a:bodyPr>
          <a:lstStyle/>
          <a:p>
            <a:pPr>
              <a:defRPr sz="1200">
                <a:solidFill>
                  <a:srgbClr val="000000"/>
                </a:solidFill>
              </a:defRPr>
            </a:pPr>
            <a:r>
              <a:t>₹5,000/month per kiosk</a:t>
            </a:r>
          </a:p>
        </p:txBody>
      </p:sp>
      <p:sp>
        <p:nvSpPr>
          <p:cNvPr id="34" name="Rectangle 33"/>
          <p:cNvSpPr/>
          <p:nvPr/>
        </p:nvSpPr>
        <p:spPr>
          <a:xfrm>
            <a:off x="457200" y="3931920"/>
            <a:ext cx="3657600" cy="502920"/>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4023360"/>
            <a:ext cx="3291840" cy="320040"/>
          </a:xfrm>
          <a:prstGeom prst="rect">
            <a:avLst/>
          </a:prstGeom>
          <a:noFill/>
        </p:spPr>
        <p:txBody>
          <a:bodyPr wrap="none">
            <a:spAutoFit/>
          </a:bodyPr>
          <a:lstStyle/>
          <a:p>
            <a:pPr>
              <a:defRPr sz="1200">
                <a:solidFill>
                  <a:srgbClr val="000000"/>
                </a:solidFill>
              </a:defRPr>
            </a:pPr>
            <a:r>
              <a:t>Partner Subscriptions</a:t>
            </a:r>
          </a:p>
        </p:txBody>
      </p:sp>
      <p:sp>
        <p:nvSpPr>
          <p:cNvPr id="36" name="Rectangle 35"/>
          <p:cNvSpPr/>
          <p:nvPr/>
        </p:nvSpPr>
        <p:spPr>
          <a:xfrm>
            <a:off x="4114800" y="3931920"/>
            <a:ext cx="3657600" cy="502920"/>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297680" y="4023360"/>
            <a:ext cx="3291840" cy="320040"/>
          </a:xfrm>
          <a:prstGeom prst="rect">
            <a:avLst/>
          </a:prstGeom>
          <a:noFill/>
        </p:spPr>
        <p:txBody>
          <a:bodyPr wrap="none">
            <a:spAutoFit/>
          </a:bodyPr>
          <a:lstStyle/>
          <a:p>
            <a:pPr>
              <a:defRPr sz="1200">
                <a:solidFill>
                  <a:srgbClr val="000000"/>
                </a:solidFill>
              </a:defRPr>
            </a:pPr>
            <a:r>
              <a:t>100% margin</a:t>
            </a:r>
          </a:p>
        </p:txBody>
      </p:sp>
      <p:sp>
        <p:nvSpPr>
          <p:cNvPr id="38" name="Rectangle 37"/>
          <p:cNvSpPr/>
          <p:nvPr/>
        </p:nvSpPr>
        <p:spPr>
          <a:xfrm>
            <a:off x="7772400" y="3931920"/>
            <a:ext cx="3657600" cy="502920"/>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55280" y="4023360"/>
            <a:ext cx="3291840" cy="320040"/>
          </a:xfrm>
          <a:prstGeom prst="rect">
            <a:avLst/>
          </a:prstGeom>
          <a:noFill/>
        </p:spPr>
        <p:txBody>
          <a:bodyPr wrap="none">
            <a:spAutoFit/>
          </a:bodyPr>
          <a:lstStyle/>
          <a:p>
            <a:pPr>
              <a:defRPr sz="1200">
                <a:solidFill>
                  <a:srgbClr val="000000"/>
                </a:solidFill>
              </a:defRPr>
            </a:pPr>
            <a:r>
              <a:t>₹500/month premium</a:t>
            </a:r>
          </a:p>
        </p:txBody>
      </p:sp>
      <p:sp>
        <p:nvSpPr>
          <p:cNvPr id="40" name="Rounded Rectangle 39"/>
          <p:cNvSpPr/>
          <p:nvPr/>
        </p:nvSpPr>
        <p:spPr>
          <a:xfrm>
            <a:off x="457200" y="4754880"/>
            <a:ext cx="5486400" cy="1371600"/>
          </a:xfrm>
          <a:prstGeom prst="roundRect">
            <a:avLst/>
          </a:prstGeom>
          <a:solidFill>
            <a:srgbClr val="F0FFF0"/>
          </a:solidFill>
          <a:ln>
            <a:solidFill>
              <a:srgbClr val="3296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 y="4937760"/>
            <a:ext cx="5120640" cy="1005840"/>
          </a:xfrm>
          <a:prstGeom prst="rect">
            <a:avLst/>
          </a:prstGeom>
          <a:noFill/>
        </p:spPr>
        <p:txBody>
          <a:bodyPr wrap="none">
            <a:spAutoFit/>
          </a:bodyPr>
          <a:lstStyle/>
          <a:p>
            <a:pPr>
              <a:defRPr sz="1800" b="1">
                <a:solidFill>
                  <a:srgbClr val="329632"/>
                </a:solidFill>
              </a:defRPr>
            </a:pPr>
            <a:r>
              <a:t>Pricing: ₹50 for 6 hours</a:t>
            </a:r>
          </a:p>
          <a:p>
            <a:pPr>
              <a:defRPr sz="1200">
                <a:solidFill>
                  <a:srgbClr val="404040"/>
                </a:solidFill>
              </a:defRPr>
            </a:pPr>
            <a:r>
              <a:t>Cheaper than railway cloakrooms</a:t>
            </a:r>
          </a:p>
          <a:p>
            <a:pPr>
              <a:defRPr sz="1200">
                <a:solidFill>
                  <a:srgbClr val="404040"/>
                </a:solidFill>
              </a:defRPr>
            </a:pPr>
            <a:r>
              <a:t>70% to partner, 30% to BagDrop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600" b="1">
                <a:solidFill>
                  <a:srgbClr val="000000"/>
                </a:solidFill>
              </a:defRPr>
            </a:pPr>
            <a:r>
              <a:t>Competitive Advantage</a:t>
            </a:r>
          </a:p>
          <a:p>
            <a:pPr>
              <a:defRPr sz="1600">
                <a:solidFill>
                  <a:srgbClr val="808080"/>
                </a:solidFill>
              </a:defRPr>
            </a:pPr>
            <a:r>
              <a:t>What sets us apart</a:t>
            </a:r>
          </a:p>
        </p:txBody>
      </p:sp>
      <p:sp>
        <p:nvSpPr>
          <p:cNvPr id="4" name="Oval 3"/>
          <p:cNvSpPr/>
          <p:nvPr/>
        </p:nvSpPr>
        <p:spPr>
          <a:xfrm>
            <a:off x="457200" y="1280160"/>
            <a:ext cx="365760" cy="36576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0"/>
            <a:ext cx="274320" cy="365760"/>
          </a:xfrm>
          <a:prstGeom prst="rect">
            <a:avLst/>
          </a:prstGeom>
          <a:noFill/>
        </p:spPr>
        <p:txBody>
          <a:bodyPr wrap="none">
            <a:spAutoFit/>
          </a:bodyPr>
          <a:lstStyle/>
          <a:p>
            <a:pPr algn="ctr">
              <a:defRPr sz="1600" b="1"/>
            </a:pPr>
            <a:r>
              <a:t>✓</a:t>
            </a:r>
          </a:p>
        </p:txBody>
      </p:sp>
      <p:sp>
        <p:nvSpPr>
          <p:cNvPr id="6" name="TextBox 5"/>
          <p:cNvSpPr txBox="1"/>
          <p:nvPr/>
        </p:nvSpPr>
        <p:spPr>
          <a:xfrm>
            <a:off x="1005840" y="1280160"/>
            <a:ext cx="3657600" cy="365760"/>
          </a:xfrm>
          <a:prstGeom prst="rect">
            <a:avLst/>
          </a:prstGeom>
          <a:noFill/>
        </p:spPr>
        <p:txBody>
          <a:bodyPr wrap="none">
            <a:spAutoFit/>
          </a:bodyPr>
          <a:lstStyle/>
          <a:p>
            <a:pPr>
              <a:defRPr sz="1600" b="1">
                <a:solidFill>
                  <a:srgbClr val="000000"/>
                </a:solidFill>
              </a:defRPr>
            </a:pPr>
            <a:r>
              <a:t>Forgotten Luggage Delivery</a:t>
            </a:r>
          </a:p>
        </p:txBody>
      </p:sp>
      <p:sp>
        <p:nvSpPr>
          <p:cNvPr id="7" name="TextBox 6"/>
          <p:cNvSpPr txBox="1"/>
          <p:nvPr/>
        </p:nvSpPr>
        <p:spPr>
          <a:xfrm>
            <a:off x="1005840" y="1645920"/>
            <a:ext cx="3657600" cy="365760"/>
          </a:xfrm>
          <a:prstGeom prst="rect">
            <a:avLst/>
          </a:prstGeom>
          <a:noFill/>
        </p:spPr>
        <p:txBody>
          <a:bodyPr wrap="none">
            <a:spAutoFit/>
          </a:bodyPr>
          <a:lstStyle/>
          <a:p>
            <a:pPr>
              <a:defRPr sz="1100">
                <a:solidFill>
                  <a:srgbClr val="808080"/>
                </a:solidFill>
              </a:defRPr>
            </a:pPr>
            <a:r>
              <a:t>Only BagDrop offers this</a:t>
            </a:r>
          </a:p>
        </p:txBody>
      </p:sp>
      <p:sp>
        <p:nvSpPr>
          <p:cNvPr id="8" name="TextBox 7"/>
          <p:cNvSpPr txBox="1"/>
          <p:nvPr/>
        </p:nvSpPr>
        <p:spPr>
          <a:xfrm>
            <a:off x="8229600" y="1280160"/>
            <a:ext cx="3200400" cy="457200"/>
          </a:xfrm>
          <a:prstGeom prst="rect">
            <a:avLst/>
          </a:prstGeom>
          <a:noFill/>
        </p:spPr>
        <p:txBody>
          <a:bodyPr wrap="none">
            <a:spAutoFit/>
          </a:bodyPr>
          <a:lstStyle/>
          <a:p>
            <a:pPr>
              <a:defRPr sz="1200">
                <a:solidFill>
                  <a:srgbClr val="404040"/>
                </a:solidFill>
              </a:defRPr>
            </a:pPr>
            <a:r>
              <a:t>₹300-1,500 per delivery</a:t>
            </a:r>
          </a:p>
        </p:txBody>
      </p:sp>
      <p:sp>
        <p:nvSpPr>
          <p:cNvPr id="9" name="Oval 8"/>
          <p:cNvSpPr/>
          <p:nvPr/>
        </p:nvSpPr>
        <p:spPr>
          <a:xfrm>
            <a:off x="457200" y="2194560"/>
            <a:ext cx="365760" cy="36576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194560"/>
            <a:ext cx="274320" cy="365760"/>
          </a:xfrm>
          <a:prstGeom prst="rect">
            <a:avLst/>
          </a:prstGeom>
          <a:noFill/>
        </p:spPr>
        <p:txBody>
          <a:bodyPr wrap="none">
            <a:spAutoFit/>
          </a:bodyPr>
          <a:lstStyle/>
          <a:p>
            <a:pPr algn="ctr">
              <a:defRPr sz="1600" b="1"/>
            </a:pPr>
            <a:r>
              <a:t>✓</a:t>
            </a:r>
          </a:p>
        </p:txBody>
      </p:sp>
      <p:sp>
        <p:nvSpPr>
          <p:cNvPr id="11" name="TextBox 10"/>
          <p:cNvSpPr txBox="1"/>
          <p:nvPr/>
        </p:nvSpPr>
        <p:spPr>
          <a:xfrm>
            <a:off x="1005840" y="2194560"/>
            <a:ext cx="3657600" cy="365760"/>
          </a:xfrm>
          <a:prstGeom prst="rect">
            <a:avLst/>
          </a:prstGeom>
          <a:noFill/>
        </p:spPr>
        <p:txBody>
          <a:bodyPr wrap="none">
            <a:spAutoFit/>
          </a:bodyPr>
          <a:lstStyle/>
          <a:p>
            <a:pPr>
              <a:defRPr sz="1600" b="1">
                <a:solidFill>
                  <a:srgbClr val="000000"/>
                </a:solidFill>
              </a:defRPr>
            </a:pPr>
            <a:r>
              <a:t>OTP/NFC Security</a:t>
            </a:r>
          </a:p>
        </p:txBody>
      </p:sp>
      <p:sp>
        <p:nvSpPr>
          <p:cNvPr id="12" name="TextBox 11"/>
          <p:cNvSpPr txBox="1"/>
          <p:nvPr/>
        </p:nvSpPr>
        <p:spPr>
          <a:xfrm>
            <a:off x="1005840" y="2560320"/>
            <a:ext cx="3657600" cy="365760"/>
          </a:xfrm>
          <a:prstGeom prst="rect">
            <a:avLst/>
          </a:prstGeom>
          <a:noFill/>
        </p:spPr>
        <p:txBody>
          <a:bodyPr wrap="none">
            <a:spAutoFit/>
          </a:bodyPr>
          <a:lstStyle/>
          <a:p>
            <a:pPr>
              <a:defRPr sz="1100">
                <a:solidFill>
                  <a:srgbClr val="808080"/>
                </a:solidFill>
              </a:defRPr>
            </a:pPr>
            <a:r>
              <a:t>Contactless, secure retrieval</a:t>
            </a:r>
          </a:p>
        </p:txBody>
      </p:sp>
      <p:sp>
        <p:nvSpPr>
          <p:cNvPr id="13" name="TextBox 12"/>
          <p:cNvSpPr txBox="1"/>
          <p:nvPr/>
        </p:nvSpPr>
        <p:spPr>
          <a:xfrm>
            <a:off x="8229600" y="2194560"/>
            <a:ext cx="3200400" cy="457200"/>
          </a:xfrm>
          <a:prstGeom prst="rect">
            <a:avLst/>
          </a:prstGeom>
          <a:noFill/>
        </p:spPr>
        <p:txBody>
          <a:bodyPr wrap="none">
            <a:spAutoFit/>
          </a:bodyPr>
          <a:lstStyle/>
          <a:p>
            <a:pPr>
              <a:defRPr sz="1200">
                <a:solidFill>
                  <a:srgbClr val="404040"/>
                </a:solidFill>
              </a:defRPr>
            </a:pPr>
            <a:r>
              <a:t>No key handling</a:t>
            </a:r>
          </a:p>
        </p:txBody>
      </p:sp>
      <p:sp>
        <p:nvSpPr>
          <p:cNvPr id="14" name="Oval 13"/>
          <p:cNvSpPr/>
          <p:nvPr/>
        </p:nvSpPr>
        <p:spPr>
          <a:xfrm>
            <a:off x="457200" y="3108960"/>
            <a:ext cx="365760" cy="36576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3108960"/>
            <a:ext cx="274320" cy="365760"/>
          </a:xfrm>
          <a:prstGeom prst="rect">
            <a:avLst/>
          </a:prstGeom>
          <a:noFill/>
        </p:spPr>
        <p:txBody>
          <a:bodyPr wrap="none">
            <a:spAutoFit/>
          </a:bodyPr>
          <a:lstStyle/>
          <a:p>
            <a:pPr algn="ctr">
              <a:defRPr sz="1600" b="1"/>
            </a:pPr>
            <a:r>
              <a:t>✓</a:t>
            </a:r>
          </a:p>
        </p:txBody>
      </p:sp>
      <p:sp>
        <p:nvSpPr>
          <p:cNvPr id="16" name="TextBox 15"/>
          <p:cNvSpPr txBox="1"/>
          <p:nvPr/>
        </p:nvSpPr>
        <p:spPr>
          <a:xfrm>
            <a:off x="1005840" y="3108960"/>
            <a:ext cx="3657600" cy="365760"/>
          </a:xfrm>
          <a:prstGeom prst="rect">
            <a:avLst/>
          </a:prstGeom>
          <a:noFill/>
        </p:spPr>
        <p:txBody>
          <a:bodyPr wrap="none">
            <a:spAutoFit/>
          </a:bodyPr>
          <a:lstStyle/>
          <a:p>
            <a:pPr>
              <a:defRPr sz="1600" b="1">
                <a:solidFill>
                  <a:srgbClr val="000000"/>
                </a:solidFill>
              </a:defRPr>
            </a:pPr>
            <a:r>
              <a:t>Partner Network</a:t>
            </a:r>
          </a:p>
        </p:txBody>
      </p:sp>
      <p:sp>
        <p:nvSpPr>
          <p:cNvPr id="17" name="TextBox 16"/>
          <p:cNvSpPr txBox="1"/>
          <p:nvPr/>
        </p:nvSpPr>
        <p:spPr>
          <a:xfrm>
            <a:off x="1005840" y="3474720"/>
            <a:ext cx="3657600" cy="365760"/>
          </a:xfrm>
          <a:prstGeom prst="rect">
            <a:avLst/>
          </a:prstGeom>
          <a:noFill/>
        </p:spPr>
        <p:txBody>
          <a:bodyPr wrap="none">
            <a:spAutoFit/>
          </a:bodyPr>
          <a:lstStyle/>
          <a:p>
            <a:pPr>
              <a:defRPr sz="1100">
                <a:solidFill>
                  <a:srgbClr val="808080"/>
                </a:solidFill>
              </a:defRPr>
            </a:pPr>
            <a:r>
              <a:t>Verified local shop partners</a:t>
            </a:r>
          </a:p>
        </p:txBody>
      </p:sp>
      <p:sp>
        <p:nvSpPr>
          <p:cNvPr id="18" name="TextBox 17"/>
          <p:cNvSpPr txBox="1"/>
          <p:nvPr/>
        </p:nvSpPr>
        <p:spPr>
          <a:xfrm>
            <a:off x="8229600" y="3108960"/>
            <a:ext cx="3200400" cy="457200"/>
          </a:xfrm>
          <a:prstGeom prst="rect">
            <a:avLst/>
          </a:prstGeom>
          <a:noFill/>
        </p:spPr>
        <p:txBody>
          <a:bodyPr wrap="none">
            <a:spAutoFit/>
          </a:bodyPr>
          <a:lstStyle/>
          <a:p>
            <a:pPr>
              <a:defRPr sz="1200">
                <a:solidFill>
                  <a:srgbClr val="404040"/>
                </a:solidFill>
              </a:defRPr>
            </a:pPr>
            <a:r>
              <a:t>Lower cost than lockers</a:t>
            </a:r>
          </a:p>
        </p:txBody>
      </p:sp>
      <p:sp>
        <p:nvSpPr>
          <p:cNvPr id="19" name="Oval 18"/>
          <p:cNvSpPr/>
          <p:nvPr/>
        </p:nvSpPr>
        <p:spPr>
          <a:xfrm>
            <a:off x="457200" y="4023360"/>
            <a:ext cx="365760" cy="36576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4023360"/>
            <a:ext cx="274320" cy="365760"/>
          </a:xfrm>
          <a:prstGeom prst="rect">
            <a:avLst/>
          </a:prstGeom>
          <a:noFill/>
        </p:spPr>
        <p:txBody>
          <a:bodyPr wrap="none">
            <a:spAutoFit/>
          </a:bodyPr>
          <a:lstStyle/>
          <a:p>
            <a:pPr algn="ctr">
              <a:defRPr sz="1600" b="1"/>
            </a:pPr>
            <a:r>
              <a:t>✓</a:t>
            </a:r>
          </a:p>
        </p:txBody>
      </p:sp>
      <p:sp>
        <p:nvSpPr>
          <p:cNvPr id="21" name="TextBox 20"/>
          <p:cNvSpPr txBox="1"/>
          <p:nvPr/>
        </p:nvSpPr>
        <p:spPr>
          <a:xfrm>
            <a:off x="1005840" y="4023360"/>
            <a:ext cx="3657600" cy="365760"/>
          </a:xfrm>
          <a:prstGeom prst="rect">
            <a:avLst/>
          </a:prstGeom>
          <a:noFill/>
        </p:spPr>
        <p:txBody>
          <a:bodyPr wrap="none">
            <a:spAutoFit/>
          </a:bodyPr>
          <a:lstStyle/>
          <a:p>
            <a:pPr>
              <a:defRPr sz="1600" b="1">
                <a:solidFill>
                  <a:srgbClr val="000000"/>
                </a:solidFill>
              </a:defRPr>
            </a:pPr>
            <a:r>
              <a:t>24/7 Support</a:t>
            </a:r>
          </a:p>
        </p:txBody>
      </p:sp>
      <p:sp>
        <p:nvSpPr>
          <p:cNvPr id="22" name="TextBox 21"/>
          <p:cNvSpPr txBox="1"/>
          <p:nvPr/>
        </p:nvSpPr>
        <p:spPr>
          <a:xfrm>
            <a:off x="1005840" y="4389120"/>
            <a:ext cx="3657600" cy="365760"/>
          </a:xfrm>
          <a:prstGeom prst="rect">
            <a:avLst/>
          </a:prstGeom>
          <a:noFill/>
        </p:spPr>
        <p:txBody>
          <a:bodyPr wrap="none">
            <a:spAutoFit/>
          </a:bodyPr>
          <a:lstStyle/>
          <a:p>
            <a:pPr>
              <a:defRPr sz="1100">
                <a:solidFill>
                  <a:srgbClr val="808080"/>
                </a:solidFill>
              </a:defRPr>
            </a:pPr>
            <a:r>
              <a:t>Always available help</a:t>
            </a:r>
          </a:p>
        </p:txBody>
      </p:sp>
      <p:sp>
        <p:nvSpPr>
          <p:cNvPr id="23" name="TextBox 22"/>
          <p:cNvSpPr txBox="1"/>
          <p:nvPr/>
        </p:nvSpPr>
        <p:spPr>
          <a:xfrm>
            <a:off x="8229600" y="4023360"/>
            <a:ext cx="3200400" cy="457200"/>
          </a:xfrm>
          <a:prstGeom prst="rect">
            <a:avLst/>
          </a:prstGeom>
          <a:noFill/>
        </p:spPr>
        <p:txBody>
          <a:bodyPr wrap="none">
            <a:spAutoFit/>
          </a:bodyPr>
          <a:lstStyle/>
          <a:p>
            <a:pPr>
              <a:defRPr sz="1200">
                <a:solidFill>
                  <a:srgbClr val="404040"/>
                </a:solidFill>
              </a:defRPr>
            </a:pPr>
            <a:r>
              <a:t>Customer trust</a:t>
            </a:r>
          </a:p>
        </p:txBody>
      </p:sp>
      <p:sp>
        <p:nvSpPr>
          <p:cNvPr id="24" name="Oval 23"/>
          <p:cNvSpPr/>
          <p:nvPr/>
        </p:nvSpPr>
        <p:spPr>
          <a:xfrm>
            <a:off x="457200" y="4937760"/>
            <a:ext cx="365760" cy="36576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4937760"/>
            <a:ext cx="274320" cy="365760"/>
          </a:xfrm>
          <a:prstGeom prst="rect">
            <a:avLst/>
          </a:prstGeom>
          <a:noFill/>
        </p:spPr>
        <p:txBody>
          <a:bodyPr wrap="none">
            <a:spAutoFit/>
          </a:bodyPr>
          <a:lstStyle/>
          <a:p>
            <a:pPr algn="ctr">
              <a:defRPr sz="1600" b="1"/>
            </a:pPr>
            <a:r>
              <a:t>✓</a:t>
            </a:r>
          </a:p>
        </p:txBody>
      </p:sp>
      <p:sp>
        <p:nvSpPr>
          <p:cNvPr id="26" name="TextBox 25"/>
          <p:cNvSpPr txBox="1"/>
          <p:nvPr/>
        </p:nvSpPr>
        <p:spPr>
          <a:xfrm>
            <a:off x="1005840" y="4937760"/>
            <a:ext cx="3657600" cy="365760"/>
          </a:xfrm>
          <a:prstGeom prst="rect">
            <a:avLst/>
          </a:prstGeom>
          <a:noFill/>
        </p:spPr>
        <p:txBody>
          <a:bodyPr wrap="none">
            <a:spAutoFit/>
          </a:bodyPr>
          <a:lstStyle/>
          <a:p>
            <a:pPr>
              <a:defRPr sz="1600" b="1">
                <a:solidFill>
                  <a:srgbClr val="000000"/>
                </a:solidFill>
              </a:defRPr>
            </a:pPr>
            <a:r>
              <a:t>Local Focus</a:t>
            </a:r>
          </a:p>
        </p:txBody>
      </p:sp>
      <p:sp>
        <p:nvSpPr>
          <p:cNvPr id="27" name="TextBox 26"/>
          <p:cNvSpPr txBox="1"/>
          <p:nvPr/>
        </p:nvSpPr>
        <p:spPr>
          <a:xfrm>
            <a:off x="1005840" y="5303520"/>
            <a:ext cx="3657600" cy="365760"/>
          </a:xfrm>
          <a:prstGeom prst="rect">
            <a:avLst/>
          </a:prstGeom>
          <a:noFill/>
        </p:spPr>
        <p:txBody>
          <a:bodyPr wrap="none">
            <a:spAutoFit/>
          </a:bodyPr>
          <a:lstStyle/>
          <a:p>
            <a:pPr>
              <a:defRPr sz="1100">
                <a:solidFill>
                  <a:srgbClr val="808080"/>
                </a:solidFill>
              </a:defRPr>
            </a:pPr>
            <a:r>
              <a:t>Kutch-first approach</a:t>
            </a:r>
          </a:p>
        </p:txBody>
      </p:sp>
      <p:sp>
        <p:nvSpPr>
          <p:cNvPr id="28" name="TextBox 27"/>
          <p:cNvSpPr txBox="1"/>
          <p:nvPr/>
        </p:nvSpPr>
        <p:spPr>
          <a:xfrm>
            <a:off x="8229600" y="4937760"/>
            <a:ext cx="3200400" cy="457200"/>
          </a:xfrm>
          <a:prstGeom prst="rect">
            <a:avLst/>
          </a:prstGeom>
          <a:noFill/>
        </p:spPr>
        <p:txBody>
          <a:bodyPr wrap="none">
            <a:spAutoFit/>
          </a:bodyPr>
          <a:lstStyle/>
          <a:p>
            <a:pPr>
              <a:defRPr sz="1200">
                <a:solidFill>
                  <a:srgbClr val="404040"/>
                </a:solidFill>
              </a:defRPr>
            </a:pPr>
            <a:r>
              <a:t>Deep market understanding</a:t>
            </a:r>
          </a:p>
        </p:txBody>
      </p:sp>
      <p:sp>
        <p:nvSpPr>
          <p:cNvPr id="29" name="Rectangle 28"/>
          <p:cNvSpPr/>
          <p:nvPr/>
        </p:nvSpPr>
        <p:spPr>
          <a:xfrm>
            <a:off x="457200" y="5760720"/>
            <a:ext cx="11277295" cy="7315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5897880"/>
            <a:ext cx="10362895" cy="457200"/>
          </a:xfrm>
          <a:prstGeom prst="rect">
            <a:avLst/>
          </a:prstGeom>
          <a:noFill/>
        </p:spPr>
        <p:txBody>
          <a:bodyPr wrap="none">
            <a:spAutoFit/>
          </a:bodyPr>
          <a:lstStyle/>
          <a:p>
            <a:pPr algn="ctr">
              <a:defRPr sz="1600" b="1">
                <a:solidFill>
                  <a:srgbClr val="FFD700"/>
                </a:solidFill>
              </a:defRPr>
            </a:pPr>
            <a:r>
              <a:t>UNIQUE SELLING POINT: Forgotten luggage delivery service - NO COMPETITOR offers this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600" b="1">
                <a:solidFill>
                  <a:srgbClr val="000000"/>
                </a:solidFill>
              </a:defRPr>
            </a:pPr>
            <a:r>
              <a:t>Financial Projections</a:t>
            </a:r>
          </a:p>
          <a:p>
            <a:pPr>
              <a:defRPr sz="1600">
                <a:solidFill>
                  <a:srgbClr val="808080"/>
                </a:solidFill>
              </a:defRPr>
            </a:pPr>
            <a:r>
              <a:t>3-year revenue forecast</a:t>
            </a:r>
          </a:p>
        </p:txBody>
      </p:sp>
      <p:sp>
        <p:nvSpPr>
          <p:cNvPr id="4" name="Rectangle 3"/>
          <p:cNvSpPr/>
          <p:nvPr/>
        </p:nvSpPr>
        <p:spPr>
          <a:xfrm>
            <a:off x="457200" y="1280160"/>
            <a:ext cx="2743200" cy="36576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98448"/>
            <a:ext cx="2377440" cy="320040"/>
          </a:xfrm>
          <a:prstGeom prst="rect">
            <a:avLst/>
          </a:prstGeom>
          <a:noFill/>
        </p:spPr>
        <p:txBody>
          <a:bodyPr wrap="none">
            <a:spAutoFit/>
          </a:bodyPr>
          <a:lstStyle/>
          <a:p>
            <a:pPr>
              <a:defRPr sz="1300" b="1"/>
            </a:pPr>
            <a:r>
              <a:t>Month</a:t>
            </a:r>
          </a:p>
        </p:txBody>
      </p:sp>
      <p:sp>
        <p:nvSpPr>
          <p:cNvPr id="6" name="Rectangle 5"/>
          <p:cNvSpPr/>
          <p:nvPr/>
        </p:nvSpPr>
        <p:spPr>
          <a:xfrm>
            <a:off x="3200400" y="1280160"/>
            <a:ext cx="2743200" cy="36576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3280" y="1298448"/>
            <a:ext cx="2377440" cy="320040"/>
          </a:xfrm>
          <a:prstGeom prst="rect">
            <a:avLst/>
          </a:prstGeom>
          <a:noFill/>
        </p:spPr>
        <p:txBody>
          <a:bodyPr wrap="none">
            <a:spAutoFit/>
          </a:bodyPr>
          <a:lstStyle/>
          <a:p>
            <a:pPr>
              <a:defRPr sz="1300" b="1"/>
            </a:pPr>
            <a:r>
              <a:t>Bookings</a:t>
            </a:r>
          </a:p>
        </p:txBody>
      </p:sp>
      <p:sp>
        <p:nvSpPr>
          <p:cNvPr id="8" name="Rectangle 7"/>
          <p:cNvSpPr/>
          <p:nvPr/>
        </p:nvSpPr>
        <p:spPr>
          <a:xfrm>
            <a:off x="5943600" y="1280160"/>
            <a:ext cx="2743200" cy="36576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1298448"/>
            <a:ext cx="2377440" cy="320040"/>
          </a:xfrm>
          <a:prstGeom prst="rect">
            <a:avLst/>
          </a:prstGeom>
          <a:noFill/>
        </p:spPr>
        <p:txBody>
          <a:bodyPr wrap="none">
            <a:spAutoFit/>
          </a:bodyPr>
          <a:lstStyle/>
          <a:p>
            <a:pPr>
              <a:defRPr sz="1300" b="1"/>
            </a:pPr>
            <a:r>
              <a:t>Revenue</a:t>
            </a:r>
          </a:p>
        </p:txBody>
      </p:sp>
      <p:sp>
        <p:nvSpPr>
          <p:cNvPr id="10" name="Rectangle 9"/>
          <p:cNvSpPr/>
          <p:nvPr/>
        </p:nvSpPr>
        <p:spPr>
          <a:xfrm>
            <a:off x="457200" y="1645920"/>
            <a:ext cx="2743200" cy="384048"/>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691640"/>
            <a:ext cx="2377440" cy="292608"/>
          </a:xfrm>
          <a:prstGeom prst="rect">
            <a:avLst/>
          </a:prstGeom>
          <a:noFill/>
        </p:spPr>
        <p:txBody>
          <a:bodyPr wrap="none">
            <a:spAutoFit/>
          </a:bodyPr>
          <a:lstStyle/>
          <a:p>
            <a:pPr>
              <a:defRPr sz="1200">
                <a:solidFill>
                  <a:srgbClr val="000000"/>
                </a:solidFill>
              </a:defRPr>
            </a:pPr>
            <a:r>
              <a:t>M1</a:t>
            </a:r>
          </a:p>
        </p:txBody>
      </p:sp>
      <p:sp>
        <p:nvSpPr>
          <p:cNvPr id="12" name="Rectangle 11"/>
          <p:cNvSpPr/>
          <p:nvPr/>
        </p:nvSpPr>
        <p:spPr>
          <a:xfrm>
            <a:off x="3200400" y="1645920"/>
            <a:ext cx="2743200" cy="384048"/>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83280" y="1691640"/>
            <a:ext cx="2377440" cy="292608"/>
          </a:xfrm>
          <a:prstGeom prst="rect">
            <a:avLst/>
          </a:prstGeom>
          <a:noFill/>
        </p:spPr>
        <p:txBody>
          <a:bodyPr wrap="none">
            <a:spAutoFit/>
          </a:bodyPr>
          <a:lstStyle/>
          <a:p>
            <a:pPr>
              <a:defRPr sz="1200">
                <a:solidFill>
                  <a:srgbClr val="000000"/>
                </a:solidFill>
              </a:defRPr>
            </a:pPr>
            <a:r>
              <a:t>500</a:t>
            </a:r>
          </a:p>
        </p:txBody>
      </p:sp>
      <p:sp>
        <p:nvSpPr>
          <p:cNvPr id="14" name="Rectangle 13"/>
          <p:cNvSpPr/>
          <p:nvPr/>
        </p:nvSpPr>
        <p:spPr>
          <a:xfrm>
            <a:off x="5943600" y="1645920"/>
            <a:ext cx="2743200" cy="384048"/>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1691640"/>
            <a:ext cx="2377440" cy="292608"/>
          </a:xfrm>
          <a:prstGeom prst="rect">
            <a:avLst/>
          </a:prstGeom>
          <a:noFill/>
        </p:spPr>
        <p:txBody>
          <a:bodyPr wrap="none">
            <a:spAutoFit/>
          </a:bodyPr>
          <a:lstStyle/>
          <a:p>
            <a:pPr>
              <a:defRPr sz="1200">
                <a:solidFill>
                  <a:srgbClr val="000000"/>
                </a:solidFill>
              </a:defRPr>
            </a:pPr>
            <a:r>
              <a:t>₹9K</a:t>
            </a:r>
          </a:p>
        </p:txBody>
      </p:sp>
      <p:sp>
        <p:nvSpPr>
          <p:cNvPr id="16" name="Rectangle 15"/>
          <p:cNvSpPr/>
          <p:nvPr/>
        </p:nvSpPr>
        <p:spPr>
          <a:xfrm>
            <a:off x="457200" y="2057400"/>
            <a:ext cx="2743200" cy="384048"/>
          </a:xfrm>
          <a:prstGeom prst="rect">
            <a:avLst/>
          </a:prstGeom>
          <a:solidFill>
            <a:srgbClr val="F5F5F5"/>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2103120"/>
            <a:ext cx="2377440" cy="292608"/>
          </a:xfrm>
          <a:prstGeom prst="rect">
            <a:avLst/>
          </a:prstGeom>
          <a:noFill/>
        </p:spPr>
        <p:txBody>
          <a:bodyPr wrap="none">
            <a:spAutoFit/>
          </a:bodyPr>
          <a:lstStyle/>
          <a:p>
            <a:pPr>
              <a:defRPr sz="1200">
                <a:solidFill>
                  <a:srgbClr val="000000"/>
                </a:solidFill>
              </a:defRPr>
            </a:pPr>
            <a:r>
              <a:t>M3</a:t>
            </a:r>
          </a:p>
        </p:txBody>
      </p:sp>
      <p:sp>
        <p:nvSpPr>
          <p:cNvPr id="18" name="Rectangle 17"/>
          <p:cNvSpPr/>
          <p:nvPr/>
        </p:nvSpPr>
        <p:spPr>
          <a:xfrm>
            <a:off x="3200400" y="2057400"/>
            <a:ext cx="2743200" cy="384048"/>
          </a:xfrm>
          <a:prstGeom prst="rect">
            <a:avLst/>
          </a:prstGeom>
          <a:solidFill>
            <a:srgbClr val="F5F5F5"/>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83280" y="2103120"/>
            <a:ext cx="2377440" cy="292608"/>
          </a:xfrm>
          <a:prstGeom prst="rect">
            <a:avLst/>
          </a:prstGeom>
          <a:noFill/>
        </p:spPr>
        <p:txBody>
          <a:bodyPr wrap="none">
            <a:spAutoFit/>
          </a:bodyPr>
          <a:lstStyle/>
          <a:p>
            <a:pPr>
              <a:defRPr sz="1200">
                <a:solidFill>
                  <a:srgbClr val="000000"/>
                </a:solidFill>
              </a:defRPr>
            </a:pPr>
            <a:r>
              <a:t>2000</a:t>
            </a:r>
          </a:p>
        </p:txBody>
      </p:sp>
      <p:sp>
        <p:nvSpPr>
          <p:cNvPr id="20" name="Rectangle 19"/>
          <p:cNvSpPr/>
          <p:nvPr/>
        </p:nvSpPr>
        <p:spPr>
          <a:xfrm>
            <a:off x="5943600" y="2057400"/>
            <a:ext cx="2743200" cy="384048"/>
          </a:xfrm>
          <a:prstGeom prst="rect">
            <a:avLst/>
          </a:prstGeom>
          <a:solidFill>
            <a:srgbClr val="F5F5F5"/>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0" y="2103120"/>
            <a:ext cx="2377440" cy="292608"/>
          </a:xfrm>
          <a:prstGeom prst="rect">
            <a:avLst/>
          </a:prstGeom>
          <a:noFill/>
        </p:spPr>
        <p:txBody>
          <a:bodyPr wrap="none">
            <a:spAutoFit/>
          </a:bodyPr>
          <a:lstStyle/>
          <a:p>
            <a:pPr>
              <a:defRPr sz="1200">
                <a:solidFill>
                  <a:srgbClr val="000000"/>
                </a:solidFill>
              </a:defRPr>
            </a:pPr>
            <a:r>
              <a:t>₹39K</a:t>
            </a:r>
          </a:p>
        </p:txBody>
      </p:sp>
      <p:sp>
        <p:nvSpPr>
          <p:cNvPr id="22" name="Rectangle 21"/>
          <p:cNvSpPr/>
          <p:nvPr/>
        </p:nvSpPr>
        <p:spPr>
          <a:xfrm>
            <a:off x="457200" y="2468880"/>
            <a:ext cx="2743200" cy="384048"/>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2514600"/>
            <a:ext cx="2377440" cy="292608"/>
          </a:xfrm>
          <a:prstGeom prst="rect">
            <a:avLst/>
          </a:prstGeom>
          <a:noFill/>
        </p:spPr>
        <p:txBody>
          <a:bodyPr wrap="none">
            <a:spAutoFit/>
          </a:bodyPr>
          <a:lstStyle/>
          <a:p>
            <a:pPr>
              <a:defRPr sz="1200">
                <a:solidFill>
                  <a:srgbClr val="000000"/>
                </a:solidFill>
              </a:defRPr>
            </a:pPr>
            <a:r>
              <a:t>M6</a:t>
            </a:r>
          </a:p>
        </p:txBody>
      </p:sp>
      <p:sp>
        <p:nvSpPr>
          <p:cNvPr id="24" name="Rectangle 23"/>
          <p:cNvSpPr/>
          <p:nvPr/>
        </p:nvSpPr>
        <p:spPr>
          <a:xfrm>
            <a:off x="3200400" y="2468880"/>
            <a:ext cx="2743200" cy="384048"/>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83280" y="2514600"/>
            <a:ext cx="2377440" cy="292608"/>
          </a:xfrm>
          <a:prstGeom prst="rect">
            <a:avLst/>
          </a:prstGeom>
          <a:noFill/>
        </p:spPr>
        <p:txBody>
          <a:bodyPr wrap="none">
            <a:spAutoFit/>
          </a:bodyPr>
          <a:lstStyle/>
          <a:p>
            <a:pPr>
              <a:defRPr sz="1200">
                <a:solidFill>
                  <a:srgbClr val="000000"/>
                </a:solidFill>
              </a:defRPr>
            </a:pPr>
            <a:r>
              <a:t>7500</a:t>
            </a:r>
          </a:p>
        </p:txBody>
      </p:sp>
      <p:sp>
        <p:nvSpPr>
          <p:cNvPr id="26" name="Rectangle 25"/>
          <p:cNvSpPr/>
          <p:nvPr/>
        </p:nvSpPr>
        <p:spPr>
          <a:xfrm>
            <a:off x="5943600" y="2468880"/>
            <a:ext cx="2743200" cy="384048"/>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2514600"/>
            <a:ext cx="2377440" cy="292608"/>
          </a:xfrm>
          <a:prstGeom prst="rect">
            <a:avLst/>
          </a:prstGeom>
          <a:noFill/>
        </p:spPr>
        <p:txBody>
          <a:bodyPr wrap="none">
            <a:spAutoFit/>
          </a:bodyPr>
          <a:lstStyle/>
          <a:p>
            <a:pPr>
              <a:defRPr sz="1200">
                <a:solidFill>
                  <a:srgbClr val="000000"/>
                </a:solidFill>
              </a:defRPr>
            </a:pPr>
            <a:r>
              <a:t>₹1.57L</a:t>
            </a:r>
          </a:p>
        </p:txBody>
      </p:sp>
      <p:sp>
        <p:nvSpPr>
          <p:cNvPr id="28" name="Rectangle 27"/>
          <p:cNvSpPr/>
          <p:nvPr/>
        </p:nvSpPr>
        <p:spPr>
          <a:xfrm>
            <a:off x="457200" y="2880360"/>
            <a:ext cx="2743200" cy="384048"/>
          </a:xfrm>
          <a:prstGeom prst="rect">
            <a:avLst/>
          </a:prstGeom>
          <a:solidFill>
            <a:srgbClr val="F5F5F5"/>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2926080"/>
            <a:ext cx="2377440" cy="292608"/>
          </a:xfrm>
          <a:prstGeom prst="rect">
            <a:avLst/>
          </a:prstGeom>
          <a:noFill/>
        </p:spPr>
        <p:txBody>
          <a:bodyPr wrap="none">
            <a:spAutoFit/>
          </a:bodyPr>
          <a:lstStyle/>
          <a:p>
            <a:pPr>
              <a:defRPr sz="1200">
                <a:solidFill>
                  <a:srgbClr val="000000"/>
                </a:solidFill>
              </a:defRPr>
            </a:pPr>
            <a:r>
              <a:t>M9</a:t>
            </a:r>
          </a:p>
        </p:txBody>
      </p:sp>
      <p:sp>
        <p:nvSpPr>
          <p:cNvPr id="30" name="Rectangle 29"/>
          <p:cNvSpPr/>
          <p:nvPr/>
        </p:nvSpPr>
        <p:spPr>
          <a:xfrm>
            <a:off x="3200400" y="2880360"/>
            <a:ext cx="2743200" cy="384048"/>
          </a:xfrm>
          <a:prstGeom prst="rect">
            <a:avLst/>
          </a:prstGeom>
          <a:solidFill>
            <a:srgbClr val="F5F5F5"/>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83280" y="2926080"/>
            <a:ext cx="2377440" cy="292608"/>
          </a:xfrm>
          <a:prstGeom prst="rect">
            <a:avLst/>
          </a:prstGeom>
          <a:noFill/>
        </p:spPr>
        <p:txBody>
          <a:bodyPr wrap="none">
            <a:spAutoFit/>
          </a:bodyPr>
          <a:lstStyle/>
          <a:p>
            <a:pPr>
              <a:defRPr sz="1200">
                <a:solidFill>
                  <a:srgbClr val="000000"/>
                </a:solidFill>
              </a:defRPr>
            </a:pPr>
            <a:r>
              <a:t>15000</a:t>
            </a:r>
          </a:p>
        </p:txBody>
      </p:sp>
      <p:sp>
        <p:nvSpPr>
          <p:cNvPr id="32" name="Rectangle 31"/>
          <p:cNvSpPr/>
          <p:nvPr/>
        </p:nvSpPr>
        <p:spPr>
          <a:xfrm>
            <a:off x="5943600" y="2880360"/>
            <a:ext cx="2743200" cy="384048"/>
          </a:xfrm>
          <a:prstGeom prst="rect">
            <a:avLst/>
          </a:prstGeom>
          <a:solidFill>
            <a:srgbClr val="F5F5F5"/>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26480" y="2926080"/>
            <a:ext cx="2377440" cy="292608"/>
          </a:xfrm>
          <a:prstGeom prst="rect">
            <a:avLst/>
          </a:prstGeom>
          <a:noFill/>
        </p:spPr>
        <p:txBody>
          <a:bodyPr wrap="none">
            <a:spAutoFit/>
          </a:bodyPr>
          <a:lstStyle/>
          <a:p>
            <a:pPr>
              <a:defRPr sz="1200">
                <a:solidFill>
                  <a:srgbClr val="000000"/>
                </a:solidFill>
              </a:defRPr>
            </a:pPr>
            <a:r>
              <a:t>₹3.6L</a:t>
            </a:r>
          </a:p>
        </p:txBody>
      </p:sp>
      <p:sp>
        <p:nvSpPr>
          <p:cNvPr id="34" name="Rectangle 33"/>
          <p:cNvSpPr/>
          <p:nvPr/>
        </p:nvSpPr>
        <p:spPr>
          <a:xfrm>
            <a:off x="457200" y="3291840"/>
            <a:ext cx="2743200" cy="384048"/>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3337560"/>
            <a:ext cx="2377440" cy="292608"/>
          </a:xfrm>
          <a:prstGeom prst="rect">
            <a:avLst/>
          </a:prstGeom>
          <a:noFill/>
        </p:spPr>
        <p:txBody>
          <a:bodyPr wrap="none">
            <a:spAutoFit/>
          </a:bodyPr>
          <a:lstStyle/>
          <a:p>
            <a:pPr>
              <a:defRPr sz="1200">
                <a:solidFill>
                  <a:srgbClr val="000000"/>
                </a:solidFill>
              </a:defRPr>
            </a:pPr>
            <a:r>
              <a:t>M12</a:t>
            </a:r>
          </a:p>
        </p:txBody>
      </p:sp>
      <p:sp>
        <p:nvSpPr>
          <p:cNvPr id="36" name="Rectangle 35"/>
          <p:cNvSpPr/>
          <p:nvPr/>
        </p:nvSpPr>
        <p:spPr>
          <a:xfrm>
            <a:off x="3200400" y="3291840"/>
            <a:ext cx="2743200" cy="384048"/>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83280" y="3337560"/>
            <a:ext cx="2377440" cy="292608"/>
          </a:xfrm>
          <a:prstGeom prst="rect">
            <a:avLst/>
          </a:prstGeom>
          <a:noFill/>
        </p:spPr>
        <p:txBody>
          <a:bodyPr wrap="none">
            <a:spAutoFit/>
          </a:bodyPr>
          <a:lstStyle/>
          <a:p>
            <a:pPr>
              <a:defRPr sz="1200">
                <a:solidFill>
                  <a:srgbClr val="000000"/>
                </a:solidFill>
              </a:defRPr>
            </a:pPr>
            <a:r>
              <a:t>30000</a:t>
            </a:r>
          </a:p>
        </p:txBody>
      </p:sp>
      <p:sp>
        <p:nvSpPr>
          <p:cNvPr id="38" name="Rectangle 37"/>
          <p:cNvSpPr/>
          <p:nvPr/>
        </p:nvSpPr>
        <p:spPr>
          <a:xfrm>
            <a:off x="5943600" y="3291840"/>
            <a:ext cx="2743200" cy="384048"/>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126480" y="3337560"/>
            <a:ext cx="2377440" cy="292608"/>
          </a:xfrm>
          <a:prstGeom prst="rect">
            <a:avLst/>
          </a:prstGeom>
          <a:noFill/>
        </p:spPr>
        <p:txBody>
          <a:bodyPr wrap="none">
            <a:spAutoFit/>
          </a:bodyPr>
          <a:lstStyle/>
          <a:p>
            <a:pPr>
              <a:defRPr sz="1200">
                <a:solidFill>
                  <a:srgbClr val="000000"/>
                </a:solidFill>
              </a:defRPr>
            </a:pPr>
            <a:r>
              <a:t>₹7.65L</a:t>
            </a:r>
          </a:p>
        </p:txBody>
      </p:sp>
      <p:sp>
        <p:nvSpPr>
          <p:cNvPr id="40" name="Rectangle 39"/>
          <p:cNvSpPr/>
          <p:nvPr/>
        </p:nvSpPr>
        <p:spPr>
          <a:xfrm>
            <a:off x="4572000" y="1280160"/>
            <a:ext cx="1737360" cy="36576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663440" y="1298448"/>
            <a:ext cx="1554480" cy="320040"/>
          </a:xfrm>
          <a:prstGeom prst="rect">
            <a:avLst/>
          </a:prstGeom>
          <a:noFill/>
        </p:spPr>
        <p:txBody>
          <a:bodyPr wrap="none">
            <a:spAutoFit/>
          </a:bodyPr>
          <a:lstStyle/>
          <a:p>
            <a:pPr>
              <a:defRPr sz="1100" b="1"/>
            </a:pPr>
          </a:p>
        </p:txBody>
      </p:sp>
      <p:sp>
        <p:nvSpPr>
          <p:cNvPr id="42" name="Rectangle 41"/>
          <p:cNvSpPr/>
          <p:nvPr/>
        </p:nvSpPr>
        <p:spPr>
          <a:xfrm>
            <a:off x="6309360" y="1280160"/>
            <a:ext cx="1737360" cy="36576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0800" y="1298448"/>
            <a:ext cx="1554480" cy="320040"/>
          </a:xfrm>
          <a:prstGeom prst="rect">
            <a:avLst/>
          </a:prstGeom>
          <a:noFill/>
        </p:spPr>
        <p:txBody>
          <a:bodyPr wrap="none">
            <a:spAutoFit/>
          </a:bodyPr>
          <a:lstStyle/>
          <a:p>
            <a:pPr>
              <a:defRPr sz="1100" b="1"/>
            </a:pPr>
            <a:r>
              <a:t>Bookings</a:t>
            </a:r>
          </a:p>
        </p:txBody>
      </p:sp>
      <p:sp>
        <p:nvSpPr>
          <p:cNvPr id="44" name="Rectangle 43"/>
          <p:cNvSpPr/>
          <p:nvPr/>
        </p:nvSpPr>
        <p:spPr>
          <a:xfrm>
            <a:off x="8046720" y="1280160"/>
            <a:ext cx="1737360" cy="36576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138160" y="1298448"/>
            <a:ext cx="1554480" cy="320040"/>
          </a:xfrm>
          <a:prstGeom prst="rect">
            <a:avLst/>
          </a:prstGeom>
          <a:noFill/>
        </p:spPr>
        <p:txBody>
          <a:bodyPr wrap="none">
            <a:spAutoFit/>
          </a:bodyPr>
          <a:lstStyle/>
          <a:p>
            <a:pPr>
              <a:defRPr sz="1100" b="1"/>
            </a:pPr>
            <a:r>
              <a:t>Revenue</a:t>
            </a:r>
          </a:p>
        </p:txBody>
      </p:sp>
      <p:sp>
        <p:nvSpPr>
          <p:cNvPr id="46" name="Rectangle 45"/>
          <p:cNvSpPr/>
          <p:nvPr/>
        </p:nvSpPr>
        <p:spPr>
          <a:xfrm>
            <a:off x="9784080" y="1280160"/>
            <a:ext cx="1737360" cy="36576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75520" y="1298448"/>
            <a:ext cx="1554480" cy="320040"/>
          </a:xfrm>
          <a:prstGeom prst="rect">
            <a:avLst/>
          </a:prstGeom>
          <a:noFill/>
        </p:spPr>
        <p:txBody>
          <a:bodyPr wrap="none">
            <a:spAutoFit/>
          </a:bodyPr>
          <a:lstStyle/>
          <a:p>
            <a:pPr>
              <a:defRPr sz="1100" b="1"/>
            </a:pPr>
            <a:r>
              <a:t>Team</a:t>
            </a:r>
          </a:p>
        </p:txBody>
      </p:sp>
      <p:sp>
        <p:nvSpPr>
          <p:cNvPr id="48" name="Rectangle 47"/>
          <p:cNvSpPr/>
          <p:nvPr/>
        </p:nvSpPr>
        <p:spPr>
          <a:xfrm>
            <a:off x="11521440" y="1280160"/>
            <a:ext cx="1737360" cy="36576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1612880" y="1298448"/>
            <a:ext cx="1554480" cy="320040"/>
          </a:xfrm>
          <a:prstGeom prst="rect">
            <a:avLst/>
          </a:prstGeom>
          <a:noFill/>
        </p:spPr>
        <p:txBody>
          <a:bodyPr wrap="none">
            <a:spAutoFit/>
          </a:bodyPr>
          <a:lstStyle/>
          <a:p>
            <a:pPr>
              <a:defRPr sz="1100" b="1"/>
            </a:pPr>
            <a:r>
              <a:t>Locations</a:t>
            </a:r>
          </a:p>
        </p:txBody>
      </p:sp>
      <p:sp>
        <p:nvSpPr>
          <p:cNvPr id="50" name="Rectangle 49"/>
          <p:cNvSpPr/>
          <p:nvPr/>
        </p:nvSpPr>
        <p:spPr>
          <a:xfrm>
            <a:off x="4572000" y="1645920"/>
            <a:ext cx="1737360" cy="429768"/>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663440" y="1719072"/>
            <a:ext cx="1554480" cy="274320"/>
          </a:xfrm>
          <a:prstGeom prst="rect">
            <a:avLst/>
          </a:prstGeom>
          <a:noFill/>
        </p:spPr>
        <p:txBody>
          <a:bodyPr wrap="none">
            <a:spAutoFit/>
          </a:bodyPr>
          <a:lstStyle/>
          <a:p>
            <a:pPr>
              <a:defRPr sz="1000">
                <a:solidFill>
                  <a:srgbClr val="000000"/>
                </a:solidFill>
              </a:defRPr>
            </a:pPr>
            <a:r>
              <a:t>Year 1</a:t>
            </a:r>
          </a:p>
        </p:txBody>
      </p:sp>
      <p:sp>
        <p:nvSpPr>
          <p:cNvPr id="52" name="Rectangle 51"/>
          <p:cNvSpPr/>
          <p:nvPr/>
        </p:nvSpPr>
        <p:spPr>
          <a:xfrm>
            <a:off x="6309360" y="1645920"/>
            <a:ext cx="1737360" cy="429768"/>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00800" y="1719072"/>
            <a:ext cx="1554480" cy="274320"/>
          </a:xfrm>
          <a:prstGeom prst="rect">
            <a:avLst/>
          </a:prstGeom>
          <a:noFill/>
        </p:spPr>
        <p:txBody>
          <a:bodyPr wrap="none">
            <a:spAutoFit/>
          </a:bodyPr>
          <a:lstStyle/>
          <a:p>
            <a:pPr>
              <a:defRPr sz="1000">
                <a:solidFill>
                  <a:srgbClr val="000000"/>
                </a:solidFill>
              </a:defRPr>
            </a:pPr>
            <a:r>
              <a:t>1.32 Lakh</a:t>
            </a:r>
          </a:p>
        </p:txBody>
      </p:sp>
      <p:sp>
        <p:nvSpPr>
          <p:cNvPr id="54" name="Rectangle 53"/>
          <p:cNvSpPr/>
          <p:nvPr/>
        </p:nvSpPr>
        <p:spPr>
          <a:xfrm>
            <a:off x="8046720" y="1645920"/>
            <a:ext cx="1737360" cy="429768"/>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138160" y="1719072"/>
            <a:ext cx="1554480" cy="274320"/>
          </a:xfrm>
          <a:prstGeom prst="rect">
            <a:avLst/>
          </a:prstGeom>
          <a:noFill/>
        </p:spPr>
        <p:txBody>
          <a:bodyPr wrap="none">
            <a:spAutoFit/>
          </a:bodyPr>
          <a:lstStyle/>
          <a:p>
            <a:pPr>
              <a:defRPr sz="1000">
                <a:solidFill>
                  <a:srgbClr val="000000"/>
                </a:solidFill>
              </a:defRPr>
            </a:pPr>
            <a:r>
              <a:t>₹36.8 Lakh</a:t>
            </a:r>
          </a:p>
        </p:txBody>
      </p:sp>
      <p:sp>
        <p:nvSpPr>
          <p:cNvPr id="56" name="Rectangle 55"/>
          <p:cNvSpPr/>
          <p:nvPr/>
        </p:nvSpPr>
        <p:spPr>
          <a:xfrm>
            <a:off x="9784080" y="1645920"/>
            <a:ext cx="1737360" cy="429768"/>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875520" y="1719072"/>
            <a:ext cx="1554480" cy="274320"/>
          </a:xfrm>
          <a:prstGeom prst="rect">
            <a:avLst/>
          </a:prstGeom>
          <a:noFill/>
        </p:spPr>
        <p:txBody>
          <a:bodyPr wrap="none">
            <a:spAutoFit/>
          </a:bodyPr>
          <a:lstStyle/>
          <a:p>
            <a:pPr>
              <a:defRPr sz="1000">
                <a:solidFill>
                  <a:srgbClr val="000000"/>
                </a:solidFill>
              </a:defRPr>
            </a:pPr>
            <a:r>
              <a:t>8 people</a:t>
            </a:r>
          </a:p>
        </p:txBody>
      </p:sp>
      <p:sp>
        <p:nvSpPr>
          <p:cNvPr id="58" name="Rectangle 57"/>
          <p:cNvSpPr/>
          <p:nvPr/>
        </p:nvSpPr>
        <p:spPr>
          <a:xfrm>
            <a:off x="11521440" y="1645920"/>
            <a:ext cx="1737360" cy="429768"/>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612880" y="1719072"/>
            <a:ext cx="1554480" cy="274320"/>
          </a:xfrm>
          <a:prstGeom prst="rect">
            <a:avLst/>
          </a:prstGeom>
          <a:noFill/>
        </p:spPr>
        <p:txBody>
          <a:bodyPr wrap="none">
            <a:spAutoFit/>
          </a:bodyPr>
          <a:lstStyle/>
          <a:p>
            <a:pPr>
              <a:defRPr sz="1000">
                <a:solidFill>
                  <a:srgbClr val="000000"/>
                </a:solidFill>
              </a:defRPr>
            </a:pPr>
            <a:r>
              <a:t>150 locations</a:t>
            </a:r>
          </a:p>
        </p:txBody>
      </p:sp>
      <p:sp>
        <p:nvSpPr>
          <p:cNvPr id="60" name="Rectangle 59"/>
          <p:cNvSpPr/>
          <p:nvPr/>
        </p:nvSpPr>
        <p:spPr>
          <a:xfrm>
            <a:off x="4572000" y="2103120"/>
            <a:ext cx="1737360" cy="429768"/>
          </a:xfrm>
          <a:prstGeom prst="rect">
            <a:avLst/>
          </a:prstGeom>
          <a:solidFill>
            <a:srgbClr val="F5F5F5"/>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663440" y="2176272"/>
            <a:ext cx="1554480" cy="274320"/>
          </a:xfrm>
          <a:prstGeom prst="rect">
            <a:avLst/>
          </a:prstGeom>
          <a:noFill/>
        </p:spPr>
        <p:txBody>
          <a:bodyPr wrap="none">
            <a:spAutoFit/>
          </a:bodyPr>
          <a:lstStyle/>
          <a:p>
            <a:pPr>
              <a:defRPr sz="1000">
                <a:solidFill>
                  <a:srgbClr val="000000"/>
                </a:solidFill>
              </a:defRPr>
            </a:pPr>
            <a:r>
              <a:t>Year 2</a:t>
            </a:r>
          </a:p>
        </p:txBody>
      </p:sp>
      <p:sp>
        <p:nvSpPr>
          <p:cNvPr id="62" name="Rectangle 61"/>
          <p:cNvSpPr/>
          <p:nvPr/>
        </p:nvSpPr>
        <p:spPr>
          <a:xfrm>
            <a:off x="6309360" y="2103120"/>
            <a:ext cx="1737360" cy="429768"/>
          </a:xfrm>
          <a:prstGeom prst="rect">
            <a:avLst/>
          </a:prstGeom>
          <a:solidFill>
            <a:srgbClr val="F5F5F5"/>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400800" y="2176272"/>
            <a:ext cx="1554480" cy="274320"/>
          </a:xfrm>
          <a:prstGeom prst="rect">
            <a:avLst/>
          </a:prstGeom>
          <a:noFill/>
        </p:spPr>
        <p:txBody>
          <a:bodyPr wrap="none">
            <a:spAutoFit/>
          </a:bodyPr>
          <a:lstStyle/>
          <a:p>
            <a:pPr>
              <a:defRPr sz="1000">
                <a:solidFill>
                  <a:srgbClr val="000000"/>
                </a:solidFill>
              </a:defRPr>
            </a:pPr>
            <a:r>
              <a:t>5 Lakh</a:t>
            </a:r>
          </a:p>
        </p:txBody>
      </p:sp>
      <p:sp>
        <p:nvSpPr>
          <p:cNvPr id="64" name="Rectangle 63"/>
          <p:cNvSpPr/>
          <p:nvPr/>
        </p:nvSpPr>
        <p:spPr>
          <a:xfrm>
            <a:off x="8046720" y="2103120"/>
            <a:ext cx="1737360" cy="429768"/>
          </a:xfrm>
          <a:prstGeom prst="rect">
            <a:avLst/>
          </a:prstGeom>
          <a:solidFill>
            <a:srgbClr val="F5F5F5"/>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138160" y="2176272"/>
            <a:ext cx="1554480" cy="274320"/>
          </a:xfrm>
          <a:prstGeom prst="rect">
            <a:avLst/>
          </a:prstGeom>
          <a:noFill/>
        </p:spPr>
        <p:txBody>
          <a:bodyPr wrap="none">
            <a:spAutoFit/>
          </a:bodyPr>
          <a:lstStyle/>
          <a:p>
            <a:pPr>
              <a:defRPr sz="1000">
                <a:solidFill>
                  <a:srgbClr val="000000"/>
                </a:solidFill>
              </a:defRPr>
            </a:pPr>
            <a:r>
              <a:t>₹1.27 Crore</a:t>
            </a:r>
          </a:p>
        </p:txBody>
      </p:sp>
      <p:sp>
        <p:nvSpPr>
          <p:cNvPr id="66" name="Rectangle 65"/>
          <p:cNvSpPr/>
          <p:nvPr/>
        </p:nvSpPr>
        <p:spPr>
          <a:xfrm>
            <a:off x="9784080" y="2103120"/>
            <a:ext cx="1737360" cy="429768"/>
          </a:xfrm>
          <a:prstGeom prst="rect">
            <a:avLst/>
          </a:prstGeom>
          <a:solidFill>
            <a:srgbClr val="F5F5F5"/>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875520" y="2176272"/>
            <a:ext cx="1554480" cy="274320"/>
          </a:xfrm>
          <a:prstGeom prst="rect">
            <a:avLst/>
          </a:prstGeom>
          <a:noFill/>
        </p:spPr>
        <p:txBody>
          <a:bodyPr wrap="none">
            <a:spAutoFit/>
          </a:bodyPr>
          <a:lstStyle/>
          <a:p>
            <a:pPr>
              <a:defRPr sz="1000">
                <a:solidFill>
                  <a:srgbClr val="000000"/>
                </a:solidFill>
              </a:defRPr>
            </a:pPr>
            <a:r>
              <a:t>25 people</a:t>
            </a:r>
          </a:p>
        </p:txBody>
      </p:sp>
      <p:sp>
        <p:nvSpPr>
          <p:cNvPr id="68" name="Rectangle 67"/>
          <p:cNvSpPr/>
          <p:nvPr/>
        </p:nvSpPr>
        <p:spPr>
          <a:xfrm>
            <a:off x="11521440" y="2103120"/>
            <a:ext cx="1737360" cy="429768"/>
          </a:xfrm>
          <a:prstGeom prst="rect">
            <a:avLst/>
          </a:prstGeom>
          <a:solidFill>
            <a:srgbClr val="F5F5F5"/>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612880" y="2176272"/>
            <a:ext cx="1554480" cy="274320"/>
          </a:xfrm>
          <a:prstGeom prst="rect">
            <a:avLst/>
          </a:prstGeom>
          <a:noFill/>
        </p:spPr>
        <p:txBody>
          <a:bodyPr wrap="none">
            <a:spAutoFit/>
          </a:bodyPr>
          <a:lstStyle/>
          <a:p>
            <a:pPr>
              <a:defRPr sz="1000">
                <a:solidFill>
                  <a:srgbClr val="000000"/>
                </a:solidFill>
              </a:defRPr>
            </a:pPr>
            <a:r>
              <a:t>500 locations</a:t>
            </a:r>
          </a:p>
        </p:txBody>
      </p:sp>
      <p:sp>
        <p:nvSpPr>
          <p:cNvPr id="70" name="Rectangle 69"/>
          <p:cNvSpPr/>
          <p:nvPr/>
        </p:nvSpPr>
        <p:spPr>
          <a:xfrm>
            <a:off x="4572000" y="2560320"/>
            <a:ext cx="1737360" cy="429768"/>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663440" y="2633472"/>
            <a:ext cx="1554480" cy="274320"/>
          </a:xfrm>
          <a:prstGeom prst="rect">
            <a:avLst/>
          </a:prstGeom>
          <a:noFill/>
        </p:spPr>
        <p:txBody>
          <a:bodyPr wrap="none">
            <a:spAutoFit/>
          </a:bodyPr>
          <a:lstStyle/>
          <a:p>
            <a:pPr>
              <a:defRPr sz="1000">
                <a:solidFill>
                  <a:srgbClr val="000000"/>
                </a:solidFill>
              </a:defRPr>
            </a:pPr>
            <a:r>
              <a:t>Year 3</a:t>
            </a:r>
          </a:p>
        </p:txBody>
      </p:sp>
      <p:sp>
        <p:nvSpPr>
          <p:cNvPr id="72" name="Rectangle 71"/>
          <p:cNvSpPr/>
          <p:nvPr/>
        </p:nvSpPr>
        <p:spPr>
          <a:xfrm>
            <a:off x="6309360" y="2560320"/>
            <a:ext cx="1737360" cy="429768"/>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400800" y="2633472"/>
            <a:ext cx="1554480" cy="274320"/>
          </a:xfrm>
          <a:prstGeom prst="rect">
            <a:avLst/>
          </a:prstGeom>
          <a:noFill/>
        </p:spPr>
        <p:txBody>
          <a:bodyPr wrap="none">
            <a:spAutoFit/>
          </a:bodyPr>
          <a:lstStyle/>
          <a:p>
            <a:pPr>
              <a:defRPr sz="1000">
                <a:solidFill>
                  <a:srgbClr val="000000"/>
                </a:solidFill>
              </a:defRPr>
            </a:pPr>
            <a:r>
              <a:t>15 Lakh</a:t>
            </a:r>
          </a:p>
        </p:txBody>
      </p:sp>
      <p:sp>
        <p:nvSpPr>
          <p:cNvPr id="74" name="Rectangle 73"/>
          <p:cNvSpPr/>
          <p:nvPr/>
        </p:nvSpPr>
        <p:spPr>
          <a:xfrm>
            <a:off x="8046720" y="2560320"/>
            <a:ext cx="1737360" cy="429768"/>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138160" y="2633472"/>
            <a:ext cx="1554480" cy="274320"/>
          </a:xfrm>
          <a:prstGeom prst="rect">
            <a:avLst/>
          </a:prstGeom>
          <a:noFill/>
        </p:spPr>
        <p:txBody>
          <a:bodyPr wrap="none">
            <a:spAutoFit/>
          </a:bodyPr>
          <a:lstStyle/>
          <a:p>
            <a:pPr>
              <a:defRPr sz="1000">
                <a:solidFill>
                  <a:srgbClr val="000000"/>
                </a:solidFill>
              </a:defRPr>
            </a:pPr>
            <a:r>
              <a:t>₹3.82 Crore</a:t>
            </a:r>
          </a:p>
        </p:txBody>
      </p:sp>
      <p:sp>
        <p:nvSpPr>
          <p:cNvPr id="76" name="Rectangle 75"/>
          <p:cNvSpPr/>
          <p:nvPr/>
        </p:nvSpPr>
        <p:spPr>
          <a:xfrm>
            <a:off x="9784080" y="2560320"/>
            <a:ext cx="1737360" cy="429768"/>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875520" y="2633472"/>
            <a:ext cx="1554480" cy="274320"/>
          </a:xfrm>
          <a:prstGeom prst="rect">
            <a:avLst/>
          </a:prstGeom>
          <a:noFill/>
        </p:spPr>
        <p:txBody>
          <a:bodyPr wrap="none">
            <a:spAutoFit/>
          </a:bodyPr>
          <a:lstStyle/>
          <a:p>
            <a:pPr>
              <a:defRPr sz="1000">
                <a:solidFill>
                  <a:srgbClr val="000000"/>
                </a:solidFill>
              </a:defRPr>
            </a:pPr>
            <a:r>
              <a:t>60 people</a:t>
            </a:r>
          </a:p>
        </p:txBody>
      </p:sp>
      <p:sp>
        <p:nvSpPr>
          <p:cNvPr id="78" name="Rectangle 77"/>
          <p:cNvSpPr/>
          <p:nvPr/>
        </p:nvSpPr>
        <p:spPr>
          <a:xfrm>
            <a:off x="11521440" y="2560320"/>
            <a:ext cx="1737360" cy="429768"/>
          </a:xfrm>
          <a:prstGeom prst="rect">
            <a:avLst/>
          </a:prstGeom>
          <a:solidFill>
            <a:srgbClr val="FFFFFF"/>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1612880" y="2633472"/>
            <a:ext cx="1554480" cy="274320"/>
          </a:xfrm>
          <a:prstGeom prst="rect">
            <a:avLst/>
          </a:prstGeom>
          <a:noFill/>
        </p:spPr>
        <p:txBody>
          <a:bodyPr wrap="none">
            <a:spAutoFit/>
          </a:bodyPr>
          <a:lstStyle/>
          <a:p>
            <a:pPr>
              <a:defRPr sz="1000">
                <a:solidFill>
                  <a:srgbClr val="000000"/>
                </a:solidFill>
              </a:defRPr>
            </a:pPr>
            <a:r>
              <a:t>1,500 locations</a:t>
            </a:r>
          </a:p>
        </p:txBody>
      </p:sp>
      <p:sp>
        <p:nvSpPr>
          <p:cNvPr id="80" name="Rounded Rectangle 79"/>
          <p:cNvSpPr/>
          <p:nvPr/>
        </p:nvSpPr>
        <p:spPr>
          <a:xfrm>
            <a:off x="457200" y="4114800"/>
            <a:ext cx="4114800" cy="914400"/>
          </a:xfrm>
          <a:prstGeom prst="roundRect">
            <a:avLst/>
          </a:prstGeom>
          <a:solidFill>
            <a:srgbClr val="EBFFEB"/>
          </a:solidFill>
          <a:ln>
            <a:solidFill>
              <a:srgbClr val="3296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40080" y="4251960"/>
            <a:ext cx="3749039" cy="640080"/>
          </a:xfrm>
          <a:prstGeom prst="rect">
            <a:avLst/>
          </a:prstGeom>
          <a:noFill/>
        </p:spPr>
        <p:txBody>
          <a:bodyPr wrap="none">
            <a:spAutoFit/>
          </a:bodyPr>
          <a:lstStyle/>
          <a:p>
            <a:pPr>
              <a:defRPr sz="1400" b="1">
                <a:solidFill>
                  <a:srgbClr val="329632"/>
                </a:solidFill>
              </a:defRPr>
            </a:pPr>
            <a:r>
              <a:t>Break-even: Month 10-11</a:t>
            </a:r>
          </a:p>
          <a:p>
            <a:pPr>
              <a:defRPr sz="1100">
                <a:solidFill>
                  <a:srgbClr val="404040"/>
                </a:solidFill>
              </a:defRPr>
            </a:pPr>
            <a:r>
              <a:t>Profitable from Q4 onwards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600" b="1">
                <a:solidFill>
                  <a:srgbClr val="000000"/>
                </a:solidFill>
              </a:defRPr>
            </a:pPr>
            <a:r>
              <a:t>The Ask</a:t>
            </a:r>
          </a:p>
          <a:p>
            <a:pPr>
              <a:defRPr sz="1600">
                <a:solidFill>
                  <a:srgbClr val="808080"/>
                </a:solidFill>
              </a:defRPr>
            </a:pPr>
            <a:r>
              <a:t>Seed funding requirements</a:t>
            </a:r>
          </a:p>
        </p:txBody>
      </p:sp>
      <p:sp>
        <p:nvSpPr>
          <p:cNvPr id="4" name="Rounded Rectangle 3"/>
          <p:cNvSpPr/>
          <p:nvPr/>
        </p:nvSpPr>
        <p:spPr>
          <a:xfrm>
            <a:off x="457200" y="1188720"/>
            <a:ext cx="5486400" cy="1645920"/>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5120640" cy="1280160"/>
          </a:xfrm>
          <a:prstGeom prst="rect">
            <a:avLst/>
          </a:prstGeom>
          <a:noFill/>
        </p:spPr>
        <p:txBody>
          <a:bodyPr wrap="none">
            <a:spAutoFit/>
          </a:bodyPr>
          <a:lstStyle/>
          <a:p>
            <a:pPr>
              <a:defRPr sz="1800" b="1">
                <a:solidFill>
                  <a:srgbClr val="000000"/>
                </a:solidFill>
              </a:defRPr>
            </a:pPr>
            <a:r>
              <a:t>SEED FUNDING</a:t>
            </a:r>
          </a:p>
          <a:p/>
          <a:p>
            <a:pPr algn="ctr">
              <a:defRPr sz="4800" b="1">
                <a:solidFill>
                  <a:srgbClr val="000000"/>
                </a:solidFill>
              </a:defRPr>
            </a:pPr>
            <a:r>
              <a:t>₹36 Lakh</a:t>
            </a:r>
          </a:p>
          <a:p>
            <a:pPr algn="ctr">
              <a:defRPr sz="1400">
                <a:solidFill>
                  <a:srgbClr val="404040"/>
                </a:solidFill>
              </a:defRPr>
            </a:pPr>
            <a:r>
              <a:t>(~$430,000 USD)</a:t>
            </a:r>
          </a:p>
        </p:txBody>
      </p:sp>
      <p:sp>
        <p:nvSpPr>
          <p:cNvPr id="6" name="TextBox 5"/>
          <p:cNvSpPr txBox="1"/>
          <p:nvPr/>
        </p:nvSpPr>
        <p:spPr>
          <a:xfrm>
            <a:off x="6400800" y="1280160"/>
            <a:ext cx="2743200" cy="365760"/>
          </a:xfrm>
          <a:prstGeom prst="rect">
            <a:avLst/>
          </a:prstGeom>
          <a:noFill/>
        </p:spPr>
        <p:txBody>
          <a:bodyPr wrap="none">
            <a:spAutoFit/>
          </a:bodyPr>
          <a:lstStyle/>
          <a:p>
            <a:pPr>
              <a:defRPr sz="1400" b="1">
                <a:solidFill>
                  <a:srgbClr val="000000"/>
                </a:solidFill>
              </a:defRPr>
            </a:pPr>
            <a:r>
              <a:t>Tech Development</a:t>
            </a:r>
          </a:p>
        </p:txBody>
      </p:sp>
      <p:sp>
        <p:nvSpPr>
          <p:cNvPr id="7" name="TextBox 6"/>
          <p:cNvSpPr txBox="1"/>
          <p:nvPr/>
        </p:nvSpPr>
        <p:spPr>
          <a:xfrm>
            <a:off x="9326880" y="1280160"/>
            <a:ext cx="2286000" cy="365760"/>
          </a:xfrm>
          <a:prstGeom prst="rect">
            <a:avLst/>
          </a:prstGeom>
          <a:noFill/>
        </p:spPr>
        <p:txBody>
          <a:bodyPr wrap="none">
            <a:spAutoFit/>
          </a:bodyPr>
          <a:lstStyle/>
          <a:p>
            <a:pPr>
              <a:defRPr sz="1400" b="1">
                <a:solidFill>
                  <a:srgbClr val="329632"/>
                </a:solidFill>
              </a:defRPr>
            </a:pPr>
            <a:r>
              <a:t>₹5 Lakh</a:t>
            </a:r>
          </a:p>
        </p:txBody>
      </p:sp>
      <p:sp>
        <p:nvSpPr>
          <p:cNvPr id="8" name="TextBox 7"/>
          <p:cNvSpPr txBox="1"/>
          <p:nvPr/>
        </p:nvSpPr>
        <p:spPr>
          <a:xfrm>
            <a:off x="6400800" y="1600200"/>
            <a:ext cx="5029200" cy="365760"/>
          </a:xfrm>
          <a:prstGeom prst="rect">
            <a:avLst/>
          </a:prstGeom>
          <a:noFill/>
        </p:spPr>
        <p:txBody>
          <a:bodyPr wrap="none">
            <a:spAutoFit/>
          </a:bodyPr>
          <a:lstStyle/>
          <a:p>
            <a:pPr>
              <a:defRPr sz="1100">
                <a:solidFill>
                  <a:srgbClr val="808080"/>
                </a:solidFill>
              </a:defRPr>
            </a:pPr>
            <a:r>
              <a:t>App, dashboard, payment gateway</a:t>
            </a:r>
          </a:p>
        </p:txBody>
      </p:sp>
      <p:sp>
        <p:nvSpPr>
          <p:cNvPr id="9" name="TextBox 8"/>
          <p:cNvSpPr txBox="1"/>
          <p:nvPr/>
        </p:nvSpPr>
        <p:spPr>
          <a:xfrm>
            <a:off x="6400800" y="2103120"/>
            <a:ext cx="2743200" cy="365760"/>
          </a:xfrm>
          <a:prstGeom prst="rect">
            <a:avLst/>
          </a:prstGeom>
          <a:noFill/>
        </p:spPr>
        <p:txBody>
          <a:bodyPr wrap="none">
            <a:spAutoFit/>
          </a:bodyPr>
          <a:lstStyle/>
          <a:p>
            <a:pPr>
              <a:defRPr sz="1400" b="1">
                <a:solidFill>
                  <a:srgbClr val="000000"/>
                </a:solidFill>
              </a:defRPr>
            </a:pPr>
            <a:r>
              <a:t>6-Month Runway</a:t>
            </a:r>
          </a:p>
        </p:txBody>
      </p:sp>
      <p:sp>
        <p:nvSpPr>
          <p:cNvPr id="10" name="TextBox 9"/>
          <p:cNvSpPr txBox="1"/>
          <p:nvPr/>
        </p:nvSpPr>
        <p:spPr>
          <a:xfrm>
            <a:off x="9326880" y="2103120"/>
            <a:ext cx="2286000" cy="365760"/>
          </a:xfrm>
          <a:prstGeom prst="rect">
            <a:avLst/>
          </a:prstGeom>
          <a:noFill/>
        </p:spPr>
        <p:txBody>
          <a:bodyPr wrap="none">
            <a:spAutoFit/>
          </a:bodyPr>
          <a:lstStyle/>
          <a:p>
            <a:pPr>
              <a:defRPr sz="1400" b="1">
                <a:solidFill>
                  <a:srgbClr val="329632"/>
                </a:solidFill>
              </a:defRPr>
            </a:pPr>
            <a:r>
              <a:t>₹18 Lakh</a:t>
            </a:r>
          </a:p>
        </p:txBody>
      </p:sp>
      <p:sp>
        <p:nvSpPr>
          <p:cNvPr id="11" name="TextBox 10"/>
          <p:cNvSpPr txBox="1"/>
          <p:nvPr/>
        </p:nvSpPr>
        <p:spPr>
          <a:xfrm>
            <a:off x="6400800" y="2423160"/>
            <a:ext cx="5029200" cy="365760"/>
          </a:xfrm>
          <a:prstGeom prst="rect">
            <a:avLst/>
          </a:prstGeom>
          <a:noFill/>
        </p:spPr>
        <p:txBody>
          <a:bodyPr wrap="none">
            <a:spAutoFit/>
          </a:bodyPr>
          <a:lstStyle/>
          <a:p>
            <a:pPr>
              <a:defRPr sz="1100">
                <a:solidFill>
                  <a:srgbClr val="808080"/>
                </a:solidFill>
              </a:defRPr>
            </a:pPr>
            <a:r>
              <a:t>Salaries + operations</a:t>
            </a:r>
          </a:p>
        </p:txBody>
      </p:sp>
      <p:sp>
        <p:nvSpPr>
          <p:cNvPr id="12" name="TextBox 11"/>
          <p:cNvSpPr txBox="1"/>
          <p:nvPr/>
        </p:nvSpPr>
        <p:spPr>
          <a:xfrm>
            <a:off x="6400800" y="2926080"/>
            <a:ext cx="2743200" cy="365760"/>
          </a:xfrm>
          <a:prstGeom prst="rect">
            <a:avLst/>
          </a:prstGeom>
          <a:noFill/>
        </p:spPr>
        <p:txBody>
          <a:bodyPr wrap="none">
            <a:spAutoFit/>
          </a:bodyPr>
          <a:lstStyle/>
          <a:p>
            <a:pPr>
              <a:defRPr sz="1400" b="1">
                <a:solidFill>
                  <a:srgbClr val="000000"/>
                </a:solidFill>
              </a:defRPr>
            </a:pPr>
            <a:r>
              <a:t>Marketing</a:t>
            </a:r>
          </a:p>
        </p:txBody>
      </p:sp>
      <p:sp>
        <p:nvSpPr>
          <p:cNvPr id="13" name="TextBox 12"/>
          <p:cNvSpPr txBox="1"/>
          <p:nvPr/>
        </p:nvSpPr>
        <p:spPr>
          <a:xfrm>
            <a:off x="9326880" y="2926080"/>
            <a:ext cx="2286000" cy="365760"/>
          </a:xfrm>
          <a:prstGeom prst="rect">
            <a:avLst/>
          </a:prstGeom>
          <a:noFill/>
        </p:spPr>
        <p:txBody>
          <a:bodyPr wrap="none">
            <a:spAutoFit/>
          </a:bodyPr>
          <a:lstStyle/>
          <a:p>
            <a:pPr>
              <a:defRPr sz="1400" b="1">
                <a:solidFill>
                  <a:srgbClr val="329632"/>
                </a:solidFill>
              </a:defRPr>
            </a:pPr>
            <a:r>
              <a:t>₹6.5 Lakh</a:t>
            </a:r>
          </a:p>
        </p:txBody>
      </p:sp>
      <p:sp>
        <p:nvSpPr>
          <p:cNvPr id="14" name="TextBox 13"/>
          <p:cNvSpPr txBox="1"/>
          <p:nvPr/>
        </p:nvSpPr>
        <p:spPr>
          <a:xfrm>
            <a:off x="6400800" y="3246120"/>
            <a:ext cx="5029200" cy="365760"/>
          </a:xfrm>
          <a:prstGeom prst="rect">
            <a:avLst/>
          </a:prstGeom>
          <a:noFill/>
        </p:spPr>
        <p:txBody>
          <a:bodyPr wrap="none">
            <a:spAutoFit/>
          </a:bodyPr>
          <a:lstStyle/>
          <a:p>
            <a:pPr>
              <a:defRPr sz="1100">
                <a:solidFill>
                  <a:srgbClr val="808080"/>
                </a:solidFill>
              </a:defRPr>
            </a:pPr>
            <a:r>
              <a:t>Digital + on-ground campaigns</a:t>
            </a:r>
          </a:p>
        </p:txBody>
      </p:sp>
      <p:sp>
        <p:nvSpPr>
          <p:cNvPr id="15" name="TextBox 14"/>
          <p:cNvSpPr txBox="1"/>
          <p:nvPr/>
        </p:nvSpPr>
        <p:spPr>
          <a:xfrm>
            <a:off x="6400800" y="3749039"/>
            <a:ext cx="2743200" cy="365760"/>
          </a:xfrm>
          <a:prstGeom prst="rect">
            <a:avLst/>
          </a:prstGeom>
          <a:noFill/>
        </p:spPr>
        <p:txBody>
          <a:bodyPr wrap="none">
            <a:spAutoFit/>
          </a:bodyPr>
          <a:lstStyle/>
          <a:p>
            <a:pPr>
              <a:defRPr sz="1400" b="1">
                <a:solidFill>
                  <a:srgbClr val="000000"/>
                </a:solidFill>
              </a:defRPr>
            </a:pPr>
            <a:r>
              <a:t>Equipment &amp; Setup</a:t>
            </a:r>
          </a:p>
        </p:txBody>
      </p:sp>
      <p:sp>
        <p:nvSpPr>
          <p:cNvPr id="16" name="TextBox 15"/>
          <p:cNvSpPr txBox="1"/>
          <p:nvPr/>
        </p:nvSpPr>
        <p:spPr>
          <a:xfrm>
            <a:off x="9326880" y="3749039"/>
            <a:ext cx="2286000" cy="365760"/>
          </a:xfrm>
          <a:prstGeom prst="rect">
            <a:avLst/>
          </a:prstGeom>
          <a:noFill/>
        </p:spPr>
        <p:txBody>
          <a:bodyPr wrap="none">
            <a:spAutoFit/>
          </a:bodyPr>
          <a:lstStyle/>
          <a:p>
            <a:pPr>
              <a:defRPr sz="1400" b="1">
                <a:solidFill>
                  <a:srgbClr val="329632"/>
                </a:solidFill>
              </a:defRPr>
            </a:pPr>
            <a:r>
              <a:t>₹3 Lakh</a:t>
            </a:r>
          </a:p>
        </p:txBody>
      </p:sp>
      <p:sp>
        <p:nvSpPr>
          <p:cNvPr id="17" name="TextBox 16"/>
          <p:cNvSpPr txBox="1"/>
          <p:nvPr/>
        </p:nvSpPr>
        <p:spPr>
          <a:xfrm>
            <a:off x="6400800" y="4069079"/>
            <a:ext cx="5029200" cy="365760"/>
          </a:xfrm>
          <a:prstGeom prst="rect">
            <a:avLst/>
          </a:prstGeom>
          <a:noFill/>
        </p:spPr>
        <p:txBody>
          <a:bodyPr wrap="none">
            <a:spAutoFit/>
          </a:bodyPr>
          <a:lstStyle/>
          <a:p>
            <a:pPr>
              <a:defRPr sz="1100">
                <a:solidFill>
                  <a:srgbClr val="808080"/>
                </a:solidFill>
              </a:defRPr>
            </a:pPr>
            <a:r>
              <a:t>Laptops, kiosks, office</a:t>
            </a:r>
          </a:p>
        </p:txBody>
      </p:sp>
      <p:sp>
        <p:nvSpPr>
          <p:cNvPr id="18" name="TextBox 17"/>
          <p:cNvSpPr txBox="1"/>
          <p:nvPr/>
        </p:nvSpPr>
        <p:spPr>
          <a:xfrm>
            <a:off x="6400800" y="4572000"/>
            <a:ext cx="2743200" cy="365760"/>
          </a:xfrm>
          <a:prstGeom prst="rect">
            <a:avLst/>
          </a:prstGeom>
          <a:noFill/>
        </p:spPr>
        <p:txBody>
          <a:bodyPr wrap="none">
            <a:spAutoFit/>
          </a:bodyPr>
          <a:lstStyle/>
          <a:p>
            <a:pPr>
              <a:defRPr sz="1400" b="1">
                <a:solidFill>
                  <a:srgbClr val="000000"/>
                </a:solidFill>
              </a:defRPr>
            </a:pPr>
            <a:r>
              <a:t>Contingency</a:t>
            </a:r>
          </a:p>
        </p:txBody>
      </p:sp>
      <p:sp>
        <p:nvSpPr>
          <p:cNvPr id="19" name="TextBox 18"/>
          <p:cNvSpPr txBox="1"/>
          <p:nvPr/>
        </p:nvSpPr>
        <p:spPr>
          <a:xfrm>
            <a:off x="9326880" y="4572000"/>
            <a:ext cx="2286000" cy="365760"/>
          </a:xfrm>
          <a:prstGeom prst="rect">
            <a:avLst/>
          </a:prstGeom>
          <a:noFill/>
        </p:spPr>
        <p:txBody>
          <a:bodyPr wrap="none">
            <a:spAutoFit/>
          </a:bodyPr>
          <a:lstStyle/>
          <a:p>
            <a:pPr>
              <a:defRPr sz="1400" b="1">
                <a:solidFill>
                  <a:srgbClr val="329632"/>
                </a:solidFill>
              </a:defRPr>
            </a:pPr>
            <a:r>
              <a:t>₹3.25 Lakh</a:t>
            </a:r>
          </a:p>
        </p:txBody>
      </p:sp>
      <p:sp>
        <p:nvSpPr>
          <p:cNvPr id="20" name="TextBox 19"/>
          <p:cNvSpPr txBox="1"/>
          <p:nvPr/>
        </p:nvSpPr>
        <p:spPr>
          <a:xfrm>
            <a:off x="6400800" y="4892040"/>
            <a:ext cx="5029200" cy="365760"/>
          </a:xfrm>
          <a:prstGeom prst="rect">
            <a:avLst/>
          </a:prstGeom>
          <a:noFill/>
        </p:spPr>
        <p:txBody>
          <a:bodyPr wrap="none">
            <a:spAutoFit/>
          </a:bodyPr>
          <a:lstStyle/>
          <a:p>
            <a:pPr>
              <a:defRPr sz="1100">
                <a:solidFill>
                  <a:srgbClr val="808080"/>
                </a:solidFill>
              </a:defRPr>
            </a:pPr>
            <a:r>
              <a:t>10% buffer</a:t>
            </a:r>
          </a:p>
        </p:txBody>
      </p:sp>
      <p:sp>
        <p:nvSpPr>
          <p:cNvPr id="21" name="Rounded Rectangle 20"/>
          <p:cNvSpPr/>
          <p:nvPr/>
        </p:nvSpPr>
        <p:spPr>
          <a:xfrm>
            <a:off x="457200" y="5029200"/>
            <a:ext cx="5486400" cy="1371600"/>
          </a:xfrm>
          <a:prstGeom prst="roundRect">
            <a:avLst/>
          </a:prstGeom>
          <a:solidFill>
            <a:srgbClr val="F0F8FF"/>
          </a:solidFill>
          <a:ln>
            <a:solidFill>
              <a:srgbClr val="649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212080"/>
            <a:ext cx="5120640" cy="1005840"/>
          </a:xfrm>
          <a:prstGeom prst="rect">
            <a:avLst/>
          </a:prstGeom>
          <a:noFill/>
        </p:spPr>
        <p:txBody>
          <a:bodyPr wrap="none">
            <a:spAutoFit/>
          </a:bodyPr>
          <a:lstStyle/>
          <a:p>
            <a:pPr>
              <a:defRPr sz="1600" b="1">
                <a:solidFill>
                  <a:srgbClr val="326496"/>
                </a:solidFill>
              </a:defRPr>
            </a:pPr>
            <a:r>
              <a:t>Expected Returns</a:t>
            </a:r>
          </a:p>
          <a:p>
            <a:pPr>
              <a:defRPr sz="1200">
                <a:solidFill>
                  <a:srgbClr val="404040"/>
                </a:solidFill>
              </a:defRPr>
            </a:pPr>
          </a:p>
          <a:p>
            <a:pPr>
              <a:defRPr sz="1200">
                <a:solidFill>
                  <a:srgbClr val="404040"/>
                </a:solidFill>
              </a:defRPr>
            </a:pPr>
            <a:r>
              <a:t>5-10x return for seed investors</a:t>
            </a:r>
          </a:p>
          <a:p>
            <a:pPr>
              <a:defRPr sz="1200">
                <a:solidFill>
                  <a:srgbClr val="404040"/>
                </a:solidFill>
              </a:defRPr>
            </a:pPr>
            <a:r>
              <a:t>By Year 5: ₹50+ Crore valuation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600" b="1">
                <a:solidFill>
                  <a:srgbClr val="000000"/>
                </a:solidFill>
              </a:defRPr>
            </a:pPr>
            <a:r>
              <a:t>Marketing Strategy</a:t>
            </a:r>
          </a:p>
          <a:p>
            <a:pPr>
              <a:defRPr sz="1600">
                <a:solidFill>
                  <a:srgbClr val="808080"/>
                </a:solidFill>
              </a:defRPr>
            </a:pPr>
            <a:r>
              <a:t>Multi-channel customer acquisition</a:t>
            </a:r>
          </a:p>
        </p:txBody>
      </p:sp>
      <p:sp>
        <p:nvSpPr>
          <p:cNvPr id="4" name="TextBox 3"/>
          <p:cNvSpPr txBox="1"/>
          <p:nvPr/>
        </p:nvSpPr>
        <p:spPr>
          <a:xfrm>
            <a:off x="457200" y="1280160"/>
            <a:ext cx="3200400" cy="365760"/>
          </a:xfrm>
          <a:prstGeom prst="rect">
            <a:avLst/>
          </a:prstGeom>
          <a:noFill/>
        </p:spPr>
        <p:txBody>
          <a:bodyPr wrap="none">
            <a:spAutoFit/>
          </a:bodyPr>
          <a:lstStyle/>
          <a:p>
            <a:pPr>
              <a:defRPr sz="1600" b="1">
                <a:solidFill>
                  <a:srgbClr val="000000"/>
                </a:solidFill>
              </a:defRPr>
            </a:pPr>
            <a:r>
              <a:t>Digital Marketing</a:t>
            </a:r>
          </a:p>
        </p:txBody>
      </p:sp>
      <p:sp>
        <p:nvSpPr>
          <p:cNvPr id="5" name="TextBox 4"/>
          <p:cNvSpPr txBox="1"/>
          <p:nvPr/>
        </p:nvSpPr>
        <p:spPr>
          <a:xfrm>
            <a:off x="3840480" y="1280160"/>
            <a:ext cx="1828800" cy="365760"/>
          </a:xfrm>
          <a:prstGeom prst="rect">
            <a:avLst/>
          </a:prstGeom>
          <a:noFill/>
        </p:spPr>
        <p:txBody>
          <a:bodyPr wrap="none">
            <a:spAutoFit/>
          </a:bodyPr>
          <a:lstStyle/>
          <a:p>
            <a:pPr>
              <a:defRPr sz="1400" b="1">
                <a:solidFill>
                  <a:srgbClr val="329632"/>
                </a:solidFill>
              </a:defRPr>
            </a:pPr>
            <a:r>
              <a:t>₹55K/month</a:t>
            </a:r>
          </a:p>
        </p:txBody>
      </p:sp>
      <p:sp>
        <p:nvSpPr>
          <p:cNvPr id="6" name="TextBox 5"/>
          <p:cNvSpPr txBox="1"/>
          <p:nvPr/>
        </p:nvSpPr>
        <p:spPr>
          <a:xfrm>
            <a:off x="5943600" y="1280160"/>
            <a:ext cx="5486400" cy="365760"/>
          </a:xfrm>
          <a:prstGeom prst="rect">
            <a:avLst/>
          </a:prstGeom>
          <a:noFill/>
        </p:spPr>
        <p:txBody>
          <a:bodyPr wrap="none">
            <a:spAutoFit/>
          </a:bodyPr>
          <a:lstStyle/>
          <a:p>
            <a:pPr>
              <a:defRPr sz="1200">
                <a:solidFill>
                  <a:srgbClr val="404040"/>
                </a:solidFill>
              </a:defRPr>
            </a:pPr>
            <a:r>
              <a:t>Instagram, Facebook, Google Ads</a:t>
            </a:r>
          </a:p>
        </p:txBody>
      </p:sp>
      <p:sp>
        <p:nvSpPr>
          <p:cNvPr id="7" name="TextBox 6"/>
          <p:cNvSpPr txBox="1"/>
          <p:nvPr/>
        </p:nvSpPr>
        <p:spPr>
          <a:xfrm>
            <a:off x="457200" y="2194560"/>
            <a:ext cx="3200400" cy="365760"/>
          </a:xfrm>
          <a:prstGeom prst="rect">
            <a:avLst/>
          </a:prstGeom>
          <a:noFill/>
        </p:spPr>
        <p:txBody>
          <a:bodyPr wrap="none">
            <a:spAutoFit/>
          </a:bodyPr>
          <a:lstStyle/>
          <a:p>
            <a:pPr>
              <a:defRPr sz="1600" b="1">
                <a:solidFill>
                  <a:srgbClr val="000000"/>
                </a:solidFill>
              </a:defRPr>
            </a:pPr>
            <a:r>
              <a:t>Influencer Marketing</a:t>
            </a:r>
          </a:p>
        </p:txBody>
      </p:sp>
      <p:sp>
        <p:nvSpPr>
          <p:cNvPr id="8" name="TextBox 7"/>
          <p:cNvSpPr txBox="1"/>
          <p:nvPr/>
        </p:nvSpPr>
        <p:spPr>
          <a:xfrm>
            <a:off x="3840480" y="2194560"/>
            <a:ext cx="1828800" cy="365760"/>
          </a:xfrm>
          <a:prstGeom prst="rect">
            <a:avLst/>
          </a:prstGeom>
          <a:noFill/>
        </p:spPr>
        <p:txBody>
          <a:bodyPr wrap="none">
            <a:spAutoFit/>
          </a:bodyPr>
          <a:lstStyle/>
          <a:p>
            <a:pPr>
              <a:defRPr sz="1400" b="1">
                <a:solidFill>
                  <a:srgbClr val="329632"/>
                </a:solidFill>
              </a:defRPr>
            </a:pPr>
            <a:r>
              <a:t>₹30K/month</a:t>
            </a:r>
          </a:p>
        </p:txBody>
      </p:sp>
      <p:sp>
        <p:nvSpPr>
          <p:cNvPr id="9" name="TextBox 8"/>
          <p:cNvSpPr txBox="1"/>
          <p:nvPr/>
        </p:nvSpPr>
        <p:spPr>
          <a:xfrm>
            <a:off x="5943600" y="2194560"/>
            <a:ext cx="5486400" cy="365760"/>
          </a:xfrm>
          <a:prstGeom prst="rect">
            <a:avLst/>
          </a:prstGeom>
          <a:noFill/>
        </p:spPr>
        <p:txBody>
          <a:bodyPr wrap="none">
            <a:spAutoFit/>
          </a:bodyPr>
          <a:lstStyle/>
          <a:p>
            <a:pPr>
              <a:defRPr sz="1200">
                <a:solidFill>
                  <a:srgbClr val="404040"/>
                </a:solidFill>
              </a:defRPr>
            </a:pPr>
            <a:r>
              <a:t>Travel vloggers, Gujarati creators</a:t>
            </a:r>
          </a:p>
        </p:txBody>
      </p:sp>
      <p:sp>
        <p:nvSpPr>
          <p:cNvPr id="10" name="TextBox 9"/>
          <p:cNvSpPr txBox="1"/>
          <p:nvPr/>
        </p:nvSpPr>
        <p:spPr>
          <a:xfrm>
            <a:off x="457200" y="3108960"/>
            <a:ext cx="3200400" cy="365760"/>
          </a:xfrm>
          <a:prstGeom prst="rect">
            <a:avLst/>
          </a:prstGeom>
          <a:noFill/>
        </p:spPr>
        <p:txBody>
          <a:bodyPr wrap="none">
            <a:spAutoFit/>
          </a:bodyPr>
          <a:lstStyle/>
          <a:p>
            <a:pPr>
              <a:defRPr sz="1600" b="1">
                <a:solidFill>
                  <a:srgbClr val="000000"/>
                </a:solidFill>
              </a:defRPr>
            </a:pPr>
            <a:r>
              <a:t>On-Ground (BTL)</a:t>
            </a:r>
          </a:p>
        </p:txBody>
      </p:sp>
      <p:sp>
        <p:nvSpPr>
          <p:cNvPr id="11" name="TextBox 10"/>
          <p:cNvSpPr txBox="1"/>
          <p:nvPr/>
        </p:nvSpPr>
        <p:spPr>
          <a:xfrm>
            <a:off x="3840480" y="3108960"/>
            <a:ext cx="1828800" cy="365760"/>
          </a:xfrm>
          <a:prstGeom prst="rect">
            <a:avLst/>
          </a:prstGeom>
          <a:noFill/>
        </p:spPr>
        <p:txBody>
          <a:bodyPr wrap="none">
            <a:spAutoFit/>
          </a:bodyPr>
          <a:lstStyle/>
          <a:p>
            <a:pPr>
              <a:defRPr sz="1400" b="1">
                <a:solidFill>
                  <a:srgbClr val="329632"/>
                </a:solidFill>
              </a:defRPr>
            </a:pPr>
            <a:r>
              <a:t>₹25K/month</a:t>
            </a:r>
          </a:p>
        </p:txBody>
      </p:sp>
      <p:sp>
        <p:nvSpPr>
          <p:cNvPr id="12" name="TextBox 11"/>
          <p:cNvSpPr txBox="1"/>
          <p:nvPr/>
        </p:nvSpPr>
        <p:spPr>
          <a:xfrm>
            <a:off x="5943600" y="3108960"/>
            <a:ext cx="5486400" cy="365760"/>
          </a:xfrm>
          <a:prstGeom prst="rect">
            <a:avLst/>
          </a:prstGeom>
          <a:noFill/>
        </p:spPr>
        <p:txBody>
          <a:bodyPr wrap="none">
            <a:spAutoFit/>
          </a:bodyPr>
          <a:lstStyle/>
          <a:p>
            <a:pPr>
              <a:defRPr sz="1200">
                <a:solidFill>
                  <a:srgbClr val="404040"/>
                </a:solidFill>
              </a:defRPr>
            </a:pPr>
            <a:r>
              <a:t>Railway stations, Rann Utsav kiosks</a:t>
            </a:r>
          </a:p>
        </p:txBody>
      </p:sp>
      <p:sp>
        <p:nvSpPr>
          <p:cNvPr id="13" name="TextBox 12"/>
          <p:cNvSpPr txBox="1"/>
          <p:nvPr/>
        </p:nvSpPr>
        <p:spPr>
          <a:xfrm>
            <a:off x="457200" y="4023360"/>
            <a:ext cx="3200400" cy="365760"/>
          </a:xfrm>
          <a:prstGeom prst="rect">
            <a:avLst/>
          </a:prstGeom>
          <a:noFill/>
        </p:spPr>
        <p:txBody>
          <a:bodyPr wrap="none">
            <a:spAutoFit/>
          </a:bodyPr>
          <a:lstStyle/>
          <a:p>
            <a:pPr>
              <a:defRPr sz="1600" b="1">
                <a:solidFill>
                  <a:srgbClr val="000000"/>
                </a:solidFill>
              </a:defRPr>
            </a:pPr>
            <a:r>
              <a:t>Referral Program</a:t>
            </a:r>
          </a:p>
        </p:txBody>
      </p:sp>
      <p:sp>
        <p:nvSpPr>
          <p:cNvPr id="14" name="TextBox 13"/>
          <p:cNvSpPr txBox="1"/>
          <p:nvPr/>
        </p:nvSpPr>
        <p:spPr>
          <a:xfrm>
            <a:off x="3840480" y="4023360"/>
            <a:ext cx="1828800" cy="365760"/>
          </a:xfrm>
          <a:prstGeom prst="rect">
            <a:avLst/>
          </a:prstGeom>
          <a:noFill/>
        </p:spPr>
        <p:txBody>
          <a:bodyPr wrap="none">
            <a:spAutoFit/>
          </a:bodyPr>
          <a:lstStyle/>
          <a:p>
            <a:pPr>
              <a:defRPr sz="1400" b="1">
                <a:solidFill>
                  <a:srgbClr val="329632"/>
                </a:solidFill>
              </a:defRPr>
            </a:pPr>
            <a:r>
              <a:t>₹5K/month</a:t>
            </a:r>
          </a:p>
        </p:txBody>
      </p:sp>
      <p:sp>
        <p:nvSpPr>
          <p:cNvPr id="15" name="TextBox 14"/>
          <p:cNvSpPr txBox="1"/>
          <p:nvPr/>
        </p:nvSpPr>
        <p:spPr>
          <a:xfrm>
            <a:off x="5943600" y="4023360"/>
            <a:ext cx="5486400" cy="365760"/>
          </a:xfrm>
          <a:prstGeom prst="rect">
            <a:avLst/>
          </a:prstGeom>
          <a:noFill/>
        </p:spPr>
        <p:txBody>
          <a:bodyPr wrap="none">
            <a:spAutoFit/>
          </a:bodyPr>
          <a:lstStyle/>
          <a:p>
            <a:pPr>
              <a:defRPr sz="1200">
                <a:solidFill>
                  <a:srgbClr val="404040"/>
                </a:solidFill>
              </a:defRPr>
            </a:pPr>
            <a:r>
              <a:t>User rewards, partner incentives</a:t>
            </a:r>
          </a:p>
        </p:txBody>
      </p:sp>
      <p:sp>
        <p:nvSpPr>
          <p:cNvPr id="16" name="TextBox 15"/>
          <p:cNvSpPr txBox="1"/>
          <p:nvPr/>
        </p:nvSpPr>
        <p:spPr>
          <a:xfrm>
            <a:off x="457200" y="4937760"/>
            <a:ext cx="3200400" cy="365760"/>
          </a:xfrm>
          <a:prstGeom prst="rect">
            <a:avLst/>
          </a:prstGeom>
          <a:noFill/>
        </p:spPr>
        <p:txBody>
          <a:bodyPr wrap="none">
            <a:spAutoFit/>
          </a:bodyPr>
          <a:lstStyle/>
          <a:p>
            <a:pPr>
              <a:defRPr sz="1600" b="1">
                <a:solidFill>
                  <a:srgbClr val="000000"/>
                </a:solidFill>
              </a:defRPr>
            </a:pPr>
            <a:r>
              <a:t>OTA Partnerships</a:t>
            </a:r>
          </a:p>
        </p:txBody>
      </p:sp>
      <p:sp>
        <p:nvSpPr>
          <p:cNvPr id="17" name="TextBox 16"/>
          <p:cNvSpPr txBox="1"/>
          <p:nvPr/>
        </p:nvSpPr>
        <p:spPr>
          <a:xfrm>
            <a:off x="3840480" y="4937760"/>
            <a:ext cx="1828800" cy="365760"/>
          </a:xfrm>
          <a:prstGeom prst="rect">
            <a:avLst/>
          </a:prstGeom>
          <a:noFill/>
        </p:spPr>
        <p:txBody>
          <a:bodyPr wrap="none">
            <a:spAutoFit/>
          </a:bodyPr>
          <a:lstStyle/>
          <a:p>
            <a:pPr>
              <a:defRPr sz="1400" b="1">
                <a:solidFill>
                  <a:srgbClr val="329632"/>
                </a:solidFill>
              </a:defRPr>
            </a:pPr>
            <a:r>
              <a:t>Commission-based</a:t>
            </a:r>
          </a:p>
        </p:txBody>
      </p:sp>
      <p:sp>
        <p:nvSpPr>
          <p:cNvPr id="18" name="TextBox 17"/>
          <p:cNvSpPr txBox="1"/>
          <p:nvPr/>
        </p:nvSpPr>
        <p:spPr>
          <a:xfrm>
            <a:off x="5943600" y="4937760"/>
            <a:ext cx="5486400" cy="365760"/>
          </a:xfrm>
          <a:prstGeom prst="rect">
            <a:avLst/>
          </a:prstGeom>
          <a:noFill/>
        </p:spPr>
        <p:txBody>
          <a:bodyPr wrap="none">
            <a:spAutoFit/>
          </a:bodyPr>
          <a:lstStyle/>
          <a:p>
            <a:pPr>
              <a:defRPr sz="1200">
                <a:solidFill>
                  <a:srgbClr val="404040"/>
                </a:solidFill>
              </a:defRPr>
            </a:pPr>
            <a:r>
              <a:t>MakeMyTrip, Goibibo integration</a:t>
            </a:r>
          </a:p>
        </p:txBody>
      </p:sp>
      <p:sp>
        <p:nvSpPr>
          <p:cNvPr id="19" name="Rounded Rectangle 18"/>
          <p:cNvSpPr/>
          <p:nvPr/>
        </p:nvSpPr>
        <p:spPr>
          <a:xfrm>
            <a:off x="457200" y="5760720"/>
            <a:ext cx="5486400" cy="731520"/>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852160"/>
            <a:ext cx="5120640" cy="548640"/>
          </a:xfrm>
          <a:prstGeom prst="rect">
            <a:avLst/>
          </a:prstGeom>
          <a:noFill/>
        </p:spPr>
        <p:txBody>
          <a:bodyPr wrap="none">
            <a:spAutoFit/>
          </a:bodyPr>
          <a:lstStyle/>
          <a:p>
            <a:pPr>
              <a:defRPr sz="1600" b="1">
                <a:solidFill>
                  <a:srgbClr val="000000"/>
                </a:solidFill>
              </a:defRPr>
            </a:pPr>
            <a:r>
              <a:t>Annual Marketing Budget: ₹6.45 Lakh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600" b="1">
                <a:solidFill>
                  <a:srgbClr val="000000"/>
                </a:solidFill>
              </a:defRPr>
            </a:pPr>
            <a:r>
              <a:t>Team TeamBack</a:t>
            </a:r>
          </a:p>
          <a:p>
            <a:pPr>
              <a:defRPr sz="1600">
                <a:solidFill>
                  <a:srgbClr val="808080"/>
                </a:solidFill>
              </a:defRPr>
            </a:pPr>
            <a:r>
              <a:t>Experienced, passionate, local</a:t>
            </a:r>
          </a:p>
        </p:txBody>
      </p:sp>
      <p:sp>
        <p:nvSpPr>
          <p:cNvPr id="4" name="TextBox 3"/>
          <p:cNvSpPr txBox="1"/>
          <p:nvPr/>
        </p:nvSpPr>
        <p:spPr>
          <a:xfrm>
            <a:off x="457200" y="1280160"/>
            <a:ext cx="2743200" cy="365760"/>
          </a:xfrm>
          <a:prstGeom prst="rect">
            <a:avLst/>
          </a:prstGeom>
          <a:noFill/>
        </p:spPr>
        <p:txBody>
          <a:bodyPr wrap="none">
            <a:spAutoFit/>
          </a:bodyPr>
          <a:lstStyle/>
          <a:p>
            <a:pPr>
              <a:defRPr sz="1600" b="1">
                <a:solidFill>
                  <a:srgbClr val="000000"/>
                </a:solidFill>
              </a:defRPr>
            </a:pPr>
            <a:r>
              <a:t>CEO / Founder</a:t>
            </a:r>
          </a:p>
        </p:txBody>
      </p:sp>
      <p:sp>
        <p:nvSpPr>
          <p:cNvPr id="5" name="TextBox 4"/>
          <p:cNvSpPr txBox="1"/>
          <p:nvPr/>
        </p:nvSpPr>
        <p:spPr>
          <a:xfrm>
            <a:off x="3474720" y="1280160"/>
            <a:ext cx="5029200" cy="365760"/>
          </a:xfrm>
          <a:prstGeom prst="rect">
            <a:avLst/>
          </a:prstGeom>
          <a:noFill/>
        </p:spPr>
        <p:txBody>
          <a:bodyPr wrap="none">
            <a:spAutoFit/>
          </a:bodyPr>
          <a:lstStyle/>
          <a:p>
            <a:pPr>
              <a:defRPr sz="1200">
                <a:solidFill>
                  <a:srgbClr val="404040"/>
                </a:solidFill>
              </a:defRPr>
            </a:pPr>
            <a:r>
              <a:t>Strategy, Vision, Partnerships</a:t>
            </a:r>
          </a:p>
        </p:txBody>
      </p:sp>
      <p:sp>
        <p:nvSpPr>
          <p:cNvPr id="6" name="TextBox 5"/>
          <p:cNvSpPr txBox="1"/>
          <p:nvPr/>
        </p:nvSpPr>
        <p:spPr>
          <a:xfrm>
            <a:off x="8686800" y="1280160"/>
            <a:ext cx="2286000" cy="365760"/>
          </a:xfrm>
          <a:prstGeom prst="rect">
            <a:avLst/>
          </a:prstGeom>
          <a:noFill/>
        </p:spPr>
        <p:txBody>
          <a:bodyPr wrap="none">
            <a:spAutoFit/>
          </a:bodyPr>
          <a:lstStyle/>
          <a:p>
            <a:pPr>
              <a:defRPr sz="1200">
                <a:solidFill>
                  <a:srgbClr val="808080"/>
                </a:solidFill>
              </a:defRPr>
            </a:pPr>
            <a:r>
              <a:t>Full-time</a:t>
            </a:r>
          </a:p>
        </p:txBody>
      </p:sp>
      <p:sp>
        <p:nvSpPr>
          <p:cNvPr id="7" name="TextBox 6"/>
          <p:cNvSpPr txBox="1"/>
          <p:nvPr/>
        </p:nvSpPr>
        <p:spPr>
          <a:xfrm>
            <a:off x="457200" y="2194560"/>
            <a:ext cx="2743200" cy="365760"/>
          </a:xfrm>
          <a:prstGeom prst="rect">
            <a:avLst/>
          </a:prstGeom>
          <a:noFill/>
        </p:spPr>
        <p:txBody>
          <a:bodyPr wrap="none">
            <a:spAutoFit/>
          </a:bodyPr>
          <a:lstStyle/>
          <a:p>
            <a:pPr>
              <a:defRPr sz="1600" b="1">
                <a:solidFill>
                  <a:srgbClr val="000000"/>
                </a:solidFill>
              </a:defRPr>
            </a:pPr>
            <a:r>
              <a:t>CTO</a:t>
            </a:r>
          </a:p>
        </p:txBody>
      </p:sp>
      <p:sp>
        <p:nvSpPr>
          <p:cNvPr id="8" name="TextBox 7"/>
          <p:cNvSpPr txBox="1"/>
          <p:nvPr/>
        </p:nvSpPr>
        <p:spPr>
          <a:xfrm>
            <a:off x="3474720" y="2194560"/>
            <a:ext cx="5029200" cy="365760"/>
          </a:xfrm>
          <a:prstGeom prst="rect">
            <a:avLst/>
          </a:prstGeom>
          <a:noFill/>
        </p:spPr>
        <p:txBody>
          <a:bodyPr wrap="none">
            <a:spAutoFit/>
          </a:bodyPr>
          <a:lstStyle/>
          <a:p>
            <a:pPr>
              <a:defRPr sz="1200">
                <a:solidFill>
                  <a:srgbClr val="404040"/>
                </a:solidFill>
              </a:defRPr>
            </a:pPr>
            <a:r>
              <a:t>App Development, Tech Stack</a:t>
            </a:r>
          </a:p>
        </p:txBody>
      </p:sp>
      <p:sp>
        <p:nvSpPr>
          <p:cNvPr id="9" name="TextBox 8"/>
          <p:cNvSpPr txBox="1"/>
          <p:nvPr/>
        </p:nvSpPr>
        <p:spPr>
          <a:xfrm>
            <a:off x="8686800" y="2194560"/>
            <a:ext cx="2286000" cy="365760"/>
          </a:xfrm>
          <a:prstGeom prst="rect">
            <a:avLst/>
          </a:prstGeom>
          <a:noFill/>
        </p:spPr>
        <p:txBody>
          <a:bodyPr wrap="none">
            <a:spAutoFit/>
          </a:bodyPr>
          <a:lstStyle/>
          <a:p>
            <a:pPr>
              <a:defRPr sz="1200">
                <a:solidFill>
                  <a:srgbClr val="808080"/>
                </a:solidFill>
              </a:defRPr>
            </a:pPr>
            <a:r>
              <a:t>Full-time</a:t>
            </a:r>
          </a:p>
        </p:txBody>
      </p:sp>
      <p:sp>
        <p:nvSpPr>
          <p:cNvPr id="10" name="TextBox 9"/>
          <p:cNvSpPr txBox="1"/>
          <p:nvPr/>
        </p:nvSpPr>
        <p:spPr>
          <a:xfrm>
            <a:off x="457200" y="3108960"/>
            <a:ext cx="2743200" cy="365760"/>
          </a:xfrm>
          <a:prstGeom prst="rect">
            <a:avLst/>
          </a:prstGeom>
          <a:noFill/>
        </p:spPr>
        <p:txBody>
          <a:bodyPr wrap="none">
            <a:spAutoFit/>
          </a:bodyPr>
          <a:lstStyle/>
          <a:p>
            <a:pPr>
              <a:defRPr sz="1600" b="1">
                <a:solidFill>
                  <a:srgbClr val="000000"/>
                </a:solidFill>
              </a:defRPr>
            </a:pPr>
            <a:r>
              <a:t>Operations Manager</a:t>
            </a:r>
          </a:p>
        </p:txBody>
      </p:sp>
      <p:sp>
        <p:nvSpPr>
          <p:cNvPr id="11" name="TextBox 10"/>
          <p:cNvSpPr txBox="1"/>
          <p:nvPr/>
        </p:nvSpPr>
        <p:spPr>
          <a:xfrm>
            <a:off x="3474720" y="3108960"/>
            <a:ext cx="5029200" cy="365760"/>
          </a:xfrm>
          <a:prstGeom prst="rect">
            <a:avLst/>
          </a:prstGeom>
          <a:noFill/>
        </p:spPr>
        <p:txBody>
          <a:bodyPr wrap="none">
            <a:spAutoFit/>
          </a:bodyPr>
          <a:lstStyle/>
          <a:p>
            <a:pPr>
              <a:defRPr sz="1200">
                <a:solidFill>
                  <a:srgbClr val="404040"/>
                </a:solidFill>
              </a:defRPr>
            </a:pPr>
            <a:r>
              <a:t>Partner Onboarding, Quality</a:t>
            </a:r>
          </a:p>
        </p:txBody>
      </p:sp>
      <p:sp>
        <p:nvSpPr>
          <p:cNvPr id="12" name="TextBox 11"/>
          <p:cNvSpPr txBox="1"/>
          <p:nvPr/>
        </p:nvSpPr>
        <p:spPr>
          <a:xfrm>
            <a:off x="8686800" y="3108960"/>
            <a:ext cx="2286000" cy="365760"/>
          </a:xfrm>
          <a:prstGeom prst="rect">
            <a:avLst/>
          </a:prstGeom>
          <a:noFill/>
        </p:spPr>
        <p:txBody>
          <a:bodyPr wrap="none">
            <a:spAutoFit/>
          </a:bodyPr>
          <a:lstStyle/>
          <a:p>
            <a:pPr>
              <a:defRPr sz="1200">
                <a:solidFill>
                  <a:srgbClr val="808080"/>
                </a:solidFill>
              </a:defRPr>
            </a:pPr>
            <a:r>
              <a:t>Full-time</a:t>
            </a:r>
          </a:p>
        </p:txBody>
      </p:sp>
      <p:sp>
        <p:nvSpPr>
          <p:cNvPr id="13" name="TextBox 12"/>
          <p:cNvSpPr txBox="1"/>
          <p:nvPr/>
        </p:nvSpPr>
        <p:spPr>
          <a:xfrm>
            <a:off x="457200" y="4023360"/>
            <a:ext cx="2743200" cy="365760"/>
          </a:xfrm>
          <a:prstGeom prst="rect">
            <a:avLst/>
          </a:prstGeom>
          <a:noFill/>
        </p:spPr>
        <p:txBody>
          <a:bodyPr wrap="none">
            <a:spAutoFit/>
          </a:bodyPr>
          <a:lstStyle/>
          <a:p>
            <a:pPr>
              <a:defRPr sz="1600" b="1">
                <a:solidFill>
                  <a:srgbClr val="000000"/>
                </a:solidFill>
              </a:defRPr>
            </a:pPr>
            <a:r>
              <a:t>Logistics Coordinator</a:t>
            </a:r>
          </a:p>
        </p:txBody>
      </p:sp>
      <p:sp>
        <p:nvSpPr>
          <p:cNvPr id="14" name="TextBox 13"/>
          <p:cNvSpPr txBox="1"/>
          <p:nvPr/>
        </p:nvSpPr>
        <p:spPr>
          <a:xfrm>
            <a:off x="3474720" y="4023360"/>
            <a:ext cx="5029200" cy="365760"/>
          </a:xfrm>
          <a:prstGeom prst="rect">
            <a:avLst/>
          </a:prstGeom>
          <a:noFill/>
        </p:spPr>
        <p:txBody>
          <a:bodyPr wrap="none">
            <a:spAutoFit/>
          </a:bodyPr>
          <a:lstStyle/>
          <a:p>
            <a:pPr>
              <a:defRPr sz="1200">
                <a:solidFill>
                  <a:srgbClr val="404040"/>
                </a:solidFill>
              </a:defRPr>
            </a:pPr>
            <a:r>
              <a:t>Delivery Partners, Couriers</a:t>
            </a:r>
          </a:p>
        </p:txBody>
      </p:sp>
      <p:sp>
        <p:nvSpPr>
          <p:cNvPr id="15" name="TextBox 14"/>
          <p:cNvSpPr txBox="1"/>
          <p:nvPr/>
        </p:nvSpPr>
        <p:spPr>
          <a:xfrm>
            <a:off x="8686800" y="4023360"/>
            <a:ext cx="2286000" cy="365760"/>
          </a:xfrm>
          <a:prstGeom prst="rect">
            <a:avLst/>
          </a:prstGeom>
          <a:noFill/>
        </p:spPr>
        <p:txBody>
          <a:bodyPr wrap="none">
            <a:spAutoFit/>
          </a:bodyPr>
          <a:lstStyle/>
          <a:p>
            <a:pPr>
              <a:defRPr sz="1200">
                <a:solidFill>
                  <a:srgbClr val="808080"/>
                </a:solidFill>
              </a:defRPr>
            </a:pPr>
            <a:r>
              <a:t>Full-time</a:t>
            </a:r>
          </a:p>
        </p:txBody>
      </p:sp>
      <p:sp>
        <p:nvSpPr>
          <p:cNvPr id="16" name="TextBox 15"/>
          <p:cNvSpPr txBox="1"/>
          <p:nvPr/>
        </p:nvSpPr>
        <p:spPr>
          <a:xfrm>
            <a:off x="457200" y="4937760"/>
            <a:ext cx="2743200" cy="365760"/>
          </a:xfrm>
          <a:prstGeom prst="rect">
            <a:avLst/>
          </a:prstGeom>
          <a:noFill/>
        </p:spPr>
        <p:txBody>
          <a:bodyPr wrap="none">
            <a:spAutoFit/>
          </a:bodyPr>
          <a:lstStyle/>
          <a:p>
            <a:pPr>
              <a:defRPr sz="1600" b="1">
                <a:solidFill>
                  <a:srgbClr val="000000"/>
                </a:solidFill>
              </a:defRPr>
            </a:pPr>
            <a:r>
              <a:t>Customer Support</a:t>
            </a:r>
          </a:p>
        </p:txBody>
      </p:sp>
      <p:sp>
        <p:nvSpPr>
          <p:cNvPr id="17" name="TextBox 16"/>
          <p:cNvSpPr txBox="1"/>
          <p:nvPr/>
        </p:nvSpPr>
        <p:spPr>
          <a:xfrm>
            <a:off x="3474720" y="4937760"/>
            <a:ext cx="5029200" cy="365760"/>
          </a:xfrm>
          <a:prstGeom prst="rect">
            <a:avLst/>
          </a:prstGeom>
          <a:noFill/>
        </p:spPr>
        <p:txBody>
          <a:bodyPr wrap="none">
            <a:spAutoFit/>
          </a:bodyPr>
          <a:lstStyle/>
          <a:p>
            <a:pPr>
              <a:defRPr sz="1200">
                <a:solidFill>
                  <a:srgbClr val="404040"/>
                </a:solidFill>
              </a:defRPr>
            </a:pPr>
            <a:r>
              <a:t>24/7 Support, Issue Resolution</a:t>
            </a:r>
          </a:p>
        </p:txBody>
      </p:sp>
      <p:sp>
        <p:nvSpPr>
          <p:cNvPr id="18" name="TextBox 17"/>
          <p:cNvSpPr txBox="1"/>
          <p:nvPr/>
        </p:nvSpPr>
        <p:spPr>
          <a:xfrm>
            <a:off x="8686800" y="4937760"/>
            <a:ext cx="2286000" cy="365760"/>
          </a:xfrm>
          <a:prstGeom prst="rect">
            <a:avLst/>
          </a:prstGeom>
          <a:noFill/>
        </p:spPr>
        <p:txBody>
          <a:bodyPr wrap="none">
            <a:spAutoFit/>
          </a:bodyPr>
          <a:lstStyle/>
          <a:p>
            <a:pPr>
              <a:defRPr sz="1200">
                <a:solidFill>
                  <a:srgbClr val="808080"/>
                </a:solidFill>
              </a:defRPr>
            </a:pPr>
            <a:r>
              <a:t>Full-time</a:t>
            </a:r>
          </a:p>
        </p:txBody>
      </p:sp>
      <p:sp>
        <p:nvSpPr>
          <p:cNvPr id="19" name="Rounded Rectangle 18"/>
          <p:cNvSpPr/>
          <p:nvPr/>
        </p:nvSpPr>
        <p:spPr>
          <a:xfrm>
            <a:off x="457200" y="5760720"/>
            <a:ext cx="5486400" cy="731520"/>
          </a:xfrm>
          <a:prstGeom prst="roundRect">
            <a:avLst/>
          </a:prstGeom>
          <a:solidFill>
            <a:srgbClr val="F0F8FF"/>
          </a:solidFill>
          <a:ln>
            <a:solidFill>
              <a:srgbClr val="649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852160"/>
            <a:ext cx="5120640" cy="548640"/>
          </a:xfrm>
          <a:prstGeom prst="rect">
            <a:avLst/>
          </a:prstGeom>
          <a:noFill/>
        </p:spPr>
        <p:txBody>
          <a:bodyPr wrap="none">
            <a:spAutoFit/>
          </a:bodyPr>
          <a:lstStyle/>
          <a:p>
            <a:pPr>
              <a:defRPr sz="1400" b="1">
                <a:solidFill>
                  <a:srgbClr val="326496"/>
                </a:solidFill>
              </a:defRPr>
            </a:pPr>
            <a:r>
              <a:t>Year 1 Hiring: 8 team members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600" b="1">
                <a:solidFill>
                  <a:srgbClr val="000000"/>
                </a:solidFill>
              </a:defRPr>
            </a:pPr>
            <a:r>
              <a:t>Product Features</a:t>
            </a:r>
          </a:p>
          <a:p>
            <a:pPr>
              <a:defRPr sz="1600">
                <a:solidFill>
                  <a:srgbClr val="808080"/>
                </a:solidFill>
              </a:defRPr>
            </a:pPr>
            <a:r>
              <a:t>Mobile app + Partner dashboard</a:t>
            </a:r>
          </a:p>
        </p:txBody>
      </p:sp>
      <p:sp>
        <p:nvSpPr>
          <p:cNvPr id="4" name="Oval 3"/>
          <p:cNvSpPr/>
          <p:nvPr/>
        </p:nvSpPr>
        <p:spPr>
          <a:xfrm>
            <a:off x="457200" y="1280160"/>
            <a:ext cx="320040" cy="32004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280160"/>
            <a:ext cx="4572000" cy="365760"/>
          </a:xfrm>
          <a:prstGeom prst="rect">
            <a:avLst/>
          </a:prstGeom>
          <a:noFill/>
        </p:spPr>
        <p:txBody>
          <a:bodyPr wrap="none">
            <a:spAutoFit/>
          </a:bodyPr>
          <a:lstStyle/>
          <a:p>
            <a:pPr>
              <a:defRPr sz="1400" b="1">
                <a:solidFill>
                  <a:srgbClr val="000000"/>
                </a:solidFill>
              </a:defRPr>
            </a:pPr>
            <a:r>
              <a:t>Real-time Location Tracking</a:t>
            </a:r>
          </a:p>
        </p:txBody>
      </p:sp>
      <p:sp>
        <p:nvSpPr>
          <p:cNvPr id="6" name="TextBox 5"/>
          <p:cNvSpPr txBox="1"/>
          <p:nvPr/>
        </p:nvSpPr>
        <p:spPr>
          <a:xfrm>
            <a:off x="914400" y="1600200"/>
            <a:ext cx="4572000" cy="365760"/>
          </a:xfrm>
          <a:prstGeom prst="rect">
            <a:avLst/>
          </a:prstGeom>
          <a:noFill/>
        </p:spPr>
        <p:txBody>
          <a:bodyPr wrap="none">
            <a:spAutoFit/>
          </a:bodyPr>
          <a:lstStyle/>
          <a:p>
            <a:pPr>
              <a:defRPr sz="1100">
                <a:solidFill>
                  <a:srgbClr val="808080"/>
                </a:solidFill>
              </a:defRPr>
            </a:pPr>
            <a:r>
              <a:t>Find nearest BagDrop points</a:t>
            </a:r>
          </a:p>
        </p:txBody>
      </p:sp>
      <p:sp>
        <p:nvSpPr>
          <p:cNvPr id="7" name="Oval 6"/>
          <p:cNvSpPr/>
          <p:nvPr/>
        </p:nvSpPr>
        <p:spPr>
          <a:xfrm>
            <a:off x="457200" y="2286000"/>
            <a:ext cx="320040" cy="32004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286000"/>
            <a:ext cx="4572000" cy="365760"/>
          </a:xfrm>
          <a:prstGeom prst="rect">
            <a:avLst/>
          </a:prstGeom>
          <a:noFill/>
        </p:spPr>
        <p:txBody>
          <a:bodyPr wrap="none">
            <a:spAutoFit/>
          </a:bodyPr>
          <a:lstStyle/>
          <a:p>
            <a:pPr>
              <a:defRPr sz="1400" b="1">
                <a:solidFill>
                  <a:srgbClr val="000000"/>
                </a:solidFill>
              </a:defRPr>
            </a:pPr>
            <a:r>
              <a:t>Secure OTP/NFC Tokens</a:t>
            </a:r>
          </a:p>
        </p:txBody>
      </p:sp>
      <p:sp>
        <p:nvSpPr>
          <p:cNvPr id="9" name="TextBox 8"/>
          <p:cNvSpPr txBox="1"/>
          <p:nvPr/>
        </p:nvSpPr>
        <p:spPr>
          <a:xfrm>
            <a:off x="914400" y="2606040"/>
            <a:ext cx="4572000" cy="365760"/>
          </a:xfrm>
          <a:prstGeom prst="rect">
            <a:avLst/>
          </a:prstGeom>
          <a:noFill/>
        </p:spPr>
        <p:txBody>
          <a:bodyPr wrap="none">
            <a:spAutoFit/>
          </a:bodyPr>
          <a:lstStyle/>
          <a:p>
            <a:pPr>
              <a:defRPr sz="1100">
                <a:solidFill>
                  <a:srgbClr val="808080"/>
                </a:solidFill>
              </a:defRPr>
            </a:pPr>
            <a:r>
              <a:t>Contactless bag retrieval</a:t>
            </a:r>
          </a:p>
        </p:txBody>
      </p:sp>
      <p:sp>
        <p:nvSpPr>
          <p:cNvPr id="10" name="Oval 9"/>
          <p:cNvSpPr/>
          <p:nvPr/>
        </p:nvSpPr>
        <p:spPr>
          <a:xfrm>
            <a:off x="457200" y="3291840"/>
            <a:ext cx="320040" cy="32004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291840"/>
            <a:ext cx="4572000" cy="365760"/>
          </a:xfrm>
          <a:prstGeom prst="rect">
            <a:avLst/>
          </a:prstGeom>
          <a:noFill/>
        </p:spPr>
        <p:txBody>
          <a:bodyPr wrap="none">
            <a:spAutoFit/>
          </a:bodyPr>
          <a:lstStyle/>
          <a:p>
            <a:pPr>
              <a:defRPr sz="1400" b="1">
                <a:solidFill>
                  <a:srgbClr val="000000"/>
                </a:solidFill>
              </a:defRPr>
            </a:pPr>
            <a:r>
              <a:t>Multiple Payment Options</a:t>
            </a:r>
          </a:p>
        </p:txBody>
      </p:sp>
      <p:sp>
        <p:nvSpPr>
          <p:cNvPr id="12" name="TextBox 11"/>
          <p:cNvSpPr txBox="1"/>
          <p:nvPr/>
        </p:nvSpPr>
        <p:spPr>
          <a:xfrm>
            <a:off x="914400" y="3611880"/>
            <a:ext cx="4572000" cy="365760"/>
          </a:xfrm>
          <a:prstGeom prst="rect">
            <a:avLst/>
          </a:prstGeom>
          <a:noFill/>
        </p:spPr>
        <p:txBody>
          <a:bodyPr wrap="none">
            <a:spAutoFit/>
          </a:bodyPr>
          <a:lstStyle/>
          <a:p>
            <a:pPr>
              <a:defRPr sz="1100">
                <a:solidFill>
                  <a:srgbClr val="808080"/>
                </a:solidFill>
              </a:defRPr>
            </a:pPr>
            <a:r>
              <a:t>UPI, Cards, NFC wallets</a:t>
            </a:r>
          </a:p>
        </p:txBody>
      </p:sp>
      <p:sp>
        <p:nvSpPr>
          <p:cNvPr id="13" name="Oval 12"/>
          <p:cNvSpPr/>
          <p:nvPr/>
        </p:nvSpPr>
        <p:spPr>
          <a:xfrm>
            <a:off x="457200" y="4297680"/>
            <a:ext cx="320040" cy="32004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297680"/>
            <a:ext cx="4572000" cy="365760"/>
          </a:xfrm>
          <a:prstGeom prst="rect">
            <a:avLst/>
          </a:prstGeom>
          <a:noFill/>
        </p:spPr>
        <p:txBody>
          <a:bodyPr wrap="none">
            <a:spAutoFit/>
          </a:bodyPr>
          <a:lstStyle/>
          <a:p>
            <a:pPr>
              <a:defRPr sz="1400" b="1">
                <a:solidFill>
                  <a:srgbClr val="000000"/>
                </a:solidFill>
              </a:defRPr>
            </a:pPr>
            <a:r>
              <a:t>Booking Management</a:t>
            </a:r>
          </a:p>
        </p:txBody>
      </p:sp>
      <p:sp>
        <p:nvSpPr>
          <p:cNvPr id="15" name="TextBox 14"/>
          <p:cNvSpPr txBox="1"/>
          <p:nvPr/>
        </p:nvSpPr>
        <p:spPr>
          <a:xfrm>
            <a:off x="914400" y="4617720"/>
            <a:ext cx="4572000" cy="365760"/>
          </a:xfrm>
          <a:prstGeom prst="rect">
            <a:avLst/>
          </a:prstGeom>
          <a:noFill/>
        </p:spPr>
        <p:txBody>
          <a:bodyPr wrap="none">
            <a:spAutoFit/>
          </a:bodyPr>
          <a:lstStyle/>
          <a:p>
            <a:pPr>
              <a:defRPr sz="1100">
                <a:solidFill>
                  <a:srgbClr val="808080"/>
                </a:solidFill>
              </a:defRPr>
            </a:pPr>
            <a:r>
              <a:t>Modify, extend, cancel bookings</a:t>
            </a:r>
          </a:p>
        </p:txBody>
      </p:sp>
      <p:sp>
        <p:nvSpPr>
          <p:cNvPr id="16" name="Oval 15"/>
          <p:cNvSpPr/>
          <p:nvPr/>
        </p:nvSpPr>
        <p:spPr>
          <a:xfrm>
            <a:off x="6400800" y="1280160"/>
            <a:ext cx="320040" cy="32004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0" y="1280160"/>
            <a:ext cx="4572000" cy="365760"/>
          </a:xfrm>
          <a:prstGeom prst="rect">
            <a:avLst/>
          </a:prstGeom>
          <a:noFill/>
        </p:spPr>
        <p:txBody>
          <a:bodyPr wrap="none">
            <a:spAutoFit/>
          </a:bodyPr>
          <a:lstStyle/>
          <a:p>
            <a:pPr>
              <a:defRPr sz="1400" b="1">
                <a:solidFill>
                  <a:srgbClr val="000000"/>
                </a:solidFill>
              </a:defRPr>
            </a:pPr>
            <a:r>
              <a:t>Forgotten Luggage Delivery</a:t>
            </a:r>
          </a:p>
        </p:txBody>
      </p:sp>
      <p:sp>
        <p:nvSpPr>
          <p:cNvPr id="18" name="TextBox 17"/>
          <p:cNvSpPr txBox="1"/>
          <p:nvPr/>
        </p:nvSpPr>
        <p:spPr>
          <a:xfrm>
            <a:off x="6858000" y="1600200"/>
            <a:ext cx="4572000" cy="365760"/>
          </a:xfrm>
          <a:prstGeom prst="rect">
            <a:avLst/>
          </a:prstGeom>
          <a:noFill/>
        </p:spPr>
        <p:txBody>
          <a:bodyPr wrap="none">
            <a:spAutoFit/>
          </a:bodyPr>
          <a:lstStyle/>
          <a:p>
            <a:pPr>
              <a:defRPr sz="1100">
                <a:solidFill>
                  <a:srgbClr val="808080"/>
                </a:solidFill>
              </a:defRPr>
            </a:pPr>
            <a:r>
              <a:t>Door-to-door courier service</a:t>
            </a:r>
          </a:p>
        </p:txBody>
      </p:sp>
      <p:sp>
        <p:nvSpPr>
          <p:cNvPr id="19" name="Oval 18"/>
          <p:cNvSpPr/>
          <p:nvPr/>
        </p:nvSpPr>
        <p:spPr>
          <a:xfrm>
            <a:off x="6400800" y="2286000"/>
            <a:ext cx="320040" cy="32004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0" y="2286000"/>
            <a:ext cx="4572000" cy="365760"/>
          </a:xfrm>
          <a:prstGeom prst="rect">
            <a:avLst/>
          </a:prstGeom>
          <a:noFill/>
        </p:spPr>
        <p:txBody>
          <a:bodyPr wrap="none">
            <a:spAutoFit/>
          </a:bodyPr>
          <a:lstStyle/>
          <a:p>
            <a:pPr>
              <a:defRPr sz="1400" b="1">
                <a:solidFill>
                  <a:srgbClr val="000000"/>
                </a:solidFill>
              </a:defRPr>
            </a:pPr>
            <a:r>
              <a:t>24/7 Customer Support</a:t>
            </a:r>
          </a:p>
        </p:txBody>
      </p:sp>
      <p:sp>
        <p:nvSpPr>
          <p:cNvPr id="21" name="TextBox 20"/>
          <p:cNvSpPr txBox="1"/>
          <p:nvPr/>
        </p:nvSpPr>
        <p:spPr>
          <a:xfrm>
            <a:off x="6858000" y="2606040"/>
            <a:ext cx="4572000" cy="365760"/>
          </a:xfrm>
          <a:prstGeom prst="rect">
            <a:avLst/>
          </a:prstGeom>
          <a:noFill/>
        </p:spPr>
        <p:txBody>
          <a:bodyPr wrap="none">
            <a:spAutoFit/>
          </a:bodyPr>
          <a:lstStyle/>
          <a:p>
            <a:pPr>
              <a:defRPr sz="1100">
                <a:solidFill>
                  <a:srgbClr val="808080"/>
                </a:solidFill>
              </a:defRPr>
            </a:pPr>
            <a:r>
              <a:t>In-app chat, phone support</a:t>
            </a:r>
          </a:p>
        </p:txBody>
      </p:sp>
      <p:sp>
        <p:nvSpPr>
          <p:cNvPr id="22" name="Oval 21"/>
          <p:cNvSpPr/>
          <p:nvPr/>
        </p:nvSpPr>
        <p:spPr>
          <a:xfrm>
            <a:off x="6400800" y="3291840"/>
            <a:ext cx="320040" cy="32004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0" y="3291840"/>
            <a:ext cx="4572000" cy="365760"/>
          </a:xfrm>
          <a:prstGeom prst="rect">
            <a:avLst/>
          </a:prstGeom>
          <a:noFill/>
        </p:spPr>
        <p:txBody>
          <a:bodyPr wrap="none">
            <a:spAutoFit/>
          </a:bodyPr>
          <a:lstStyle/>
          <a:p>
            <a:pPr>
              <a:defRPr sz="1400" b="1">
                <a:solidFill>
                  <a:srgbClr val="000000"/>
                </a:solidFill>
              </a:defRPr>
            </a:pPr>
            <a:r>
              <a:t>Partner Dashboard</a:t>
            </a:r>
          </a:p>
        </p:txBody>
      </p:sp>
      <p:sp>
        <p:nvSpPr>
          <p:cNvPr id="24" name="TextBox 23"/>
          <p:cNvSpPr txBox="1"/>
          <p:nvPr/>
        </p:nvSpPr>
        <p:spPr>
          <a:xfrm>
            <a:off x="6858000" y="3611880"/>
            <a:ext cx="4572000" cy="365760"/>
          </a:xfrm>
          <a:prstGeom prst="rect">
            <a:avLst/>
          </a:prstGeom>
          <a:noFill/>
        </p:spPr>
        <p:txBody>
          <a:bodyPr wrap="none">
            <a:spAutoFit/>
          </a:bodyPr>
          <a:lstStyle/>
          <a:p>
            <a:pPr>
              <a:defRPr sz="1100">
                <a:solidFill>
                  <a:srgbClr val="808080"/>
                </a:solidFill>
              </a:defRPr>
            </a:pPr>
            <a:r>
              <a:t>For shop owners to manage storage</a:t>
            </a:r>
          </a:p>
        </p:txBody>
      </p:sp>
      <p:sp>
        <p:nvSpPr>
          <p:cNvPr id="25" name="Oval 24"/>
          <p:cNvSpPr/>
          <p:nvPr/>
        </p:nvSpPr>
        <p:spPr>
          <a:xfrm>
            <a:off x="6400800" y="4297680"/>
            <a:ext cx="320040" cy="32004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0" y="4297680"/>
            <a:ext cx="4572000" cy="365760"/>
          </a:xfrm>
          <a:prstGeom prst="rect">
            <a:avLst/>
          </a:prstGeom>
          <a:noFill/>
        </p:spPr>
        <p:txBody>
          <a:bodyPr wrap="none">
            <a:spAutoFit/>
          </a:bodyPr>
          <a:lstStyle/>
          <a:p>
            <a:pPr>
              <a:defRPr sz="1400" b="1">
                <a:solidFill>
                  <a:srgbClr val="000000"/>
                </a:solidFill>
              </a:defRPr>
            </a:pPr>
            <a:r>
              <a:t>Insurance Coverage</a:t>
            </a:r>
          </a:p>
        </p:txBody>
      </p:sp>
      <p:sp>
        <p:nvSpPr>
          <p:cNvPr id="27" name="TextBox 26"/>
          <p:cNvSpPr txBox="1"/>
          <p:nvPr/>
        </p:nvSpPr>
        <p:spPr>
          <a:xfrm>
            <a:off x="6858000" y="4617720"/>
            <a:ext cx="4572000" cy="365760"/>
          </a:xfrm>
          <a:prstGeom prst="rect">
            <a:avLst/>
          </a:prstGeom>
          <a:noFill/>
        </p:spPr>
        <p:txBody>
          <a:bodyPr wrap="none">
            <a:spAutoFit/>
          </a:bodyPr>
          <a:lstStyle/>
          <a:p>
            <a:pPr>
              <a:defRPr sz="1100">
                <a:solidFill>
                  <a:srgbClr val="808080"/>
                </a:solidFill>
              </a:defRPr>
            </a:pPr>
            <a:r>
              <a:t>Up to ₹25,000 per bag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600" b="1">
                <a:solidFill>
                  <a:srgbClr val="000000"/>
                </a:solidFill>
              </a:defRPr>
            </a:pPr>
            <a:r>
              <a:t>Partner Network</a:t>
            </a:r>
          </a:p>
          <a:p>
            <a:pPr>
              <a:defRPr sz="1600">
                <a:solidFill>
                  <a:srgbClr val="808080"/>
                </a:solidFill>
              </a:defRPr>
            </a:pPr>
            <a:r>
              <a:t>Verified local shop partners</a:t>
            </a:r>
          </a:p>
        </p:txBody>
      </p:sp>
      <p:sp>
        <p:nvSpPr>
          <p:cNvPr id="4" name="TextBox 3"/>
          <p:cNvSpPr txBox="1"/>
          <p:nvPr/>
        </p:nvSpPr>
        <p:spPr>
          <a:xfrm>
            <a:off x="457200" y="1280160"/>
            <a:ext cx="3200400" cy="365760"/>
          </a:xfrm>
          <a:prstGeom prst="rect">
            <a:avLst/>
          </a:prstGeom>
          <a:noFill/>
        </p:spPr>
        <p:txBody>
          <a:bodyPr wrap="none">
            <a:spAutoFit/>
          </a:bodyPr>
          <a:lstStyle/>
          <a:p>
            <a:pPr>
              <a:defRPr sz="1600" b="1">
                <a:solidFill>
                  <a:srgbClr val="000000"/>
                </a:solidFill>
              </a:defRPr>
            </a:pPr>
            <a:r>
              <a:t>General Stores</a:t>
            </a:r>
          </a:p>
        </p:txBody>
      </p:sp>
      <p:sp>
        <p:nvSpPr>
          <p:cNvPr id="5" name="TextBox 4"/>
          <p:cNvSpPr txBox="1"/>
          <p:nvPr/>
        </p:nvSpPr>
        <p:spPr>
          <a:xfrm>
            <a:off x="3840480" y="1280160"/>
            <a:ext cx="2743200" cy="365760"/>
          </a:xfrm>
          <a:prstGeom prst="rect">
            <a:avLst/>
          </a:prstGeom>
          <a:noFill/>
        </p:spPr>
        <p:txBody>
          <a:bodyPr wrap="none">
            <a:spAutoFit/>
          </a:bodyPr>
          <a:lstStyle/>
          <a:p>
            <a:pPr>
              <a:defRPr sz="1200">
                <a:solidFill>
                  <a:srgbClr val="404040"/>
                </a:solidFill>
              </a:defRPr>
            </a:pPr>
            <a:r>
              <a:t>Near transit hubs</a:t>
            </a:r>
          </a:p>
        </p:txBody>
      </p:sp>
      <p:sp>
        <p:nvSpPr>
          <p:cNvPr id="6" name="TextBox 5"/>
          <p:cNvSpPr txBox="1"/>
          <p:nvPr/>
        </p:nvSpPr>
        <p:spPr>
          <a:xfrm>
            <a:off x="457200" y="2011680"/>
            <a:ext cx="3200400" cy="365760"/>
          </a:xfrm>
          <a:prstGeom prst="rect">
            <a:avLst/>
          </a:prstGeom>
          <a:noFill/>
        </p:spPr>
        <p:txBody>
          <a:bodyPr wrap="none">
            <a:spAutoFit/>
          </a:bodyPr>
          <a:lstStyle/>
          <a:p>
            <a:pPr>
              <a:defRPr sz="1600" b="1">
                <a:solidFill>
                  <a:srgbClr val="000000"/>
                </a:solidFill>
              </a:defRPr>
            </a:pPr>
            <a:r>
              <a:t>Cafes &amp; Restaurants</a:t>
            </a:r>
          </a:p>
        </p:txBody>
      </p:sp>
      <p:sp>
        <p:nvSpPr>
          <p:cNvPr id="7" name="TextBox 6"/>
          <p:cNvSpPr txBox="1"/>
          <p:nvPr/>
        </p:nvSpPr>
        <p:spPr>
          <a:xfrm>
            <a:off x="3840480" y="2011680"/>
            <a:ext cx="2743200" cy="365760"/>
          </a:xfrm>
          <a:prstGeom prst="rect">
            <a:avLst/>
          </a:prstGeom>
          <a:noFill/>
        </p:spPr>
        <p:txBody>
          <a:bodyPr wrap="none">
            <a:spAutoFit/>
          </a:bodyPr>
          <a:lstStyle/>
          <a:p>
            <a:pPr>
              <a:defRPr sz="1200">
                <a:solidFill>
                  <a:srgbClr val="404040"/>
                </a:solidFill>
              </a:defRPr>
            </a:pPr>
            <a:r>
              <a:t>Extended hours</a:t>
            </a:r>
          </a:p>
        </p:txBody>
      </p:sp>
      <p:sp>
        <p:nvSpPr>
          <p:cNvPr id="8" name="TextBox 7"/>
          <p:cNvSpPr txBox="1"/>
          <p:nvPr/>
        </p:nvSpPr>
        <p:spPr>
          <a:xfrm>
            <a:off x="457200" y="2743200"/>
            <a:ext cx="3200400" cy="365760"/>
          </a:xfrm>
          <a:prstGeom prst="rect">
            <a:avLst/>
          </a:prstGeom>
          <a:noFill/>
        </p:spPr>
        <p:txBody>
          <a:bodyPr wrap="none">
            <a:spAutoFit/>
          </a:bodyPr>
          <a:lstStyle/>
          <a:p>
            <a:pPr>
              <a:defRPr sz="1600" b="1">
                <a:solidFill>
                  <a:srgbClr val="000000"/>
                </a:solidFill>
              </a:defRPr>
            </a:pPr>
            <a:r>
              <a:t>Budget Hotels</a:t>
            </a:r>
          </a:p>
        </p:txBody>
      </p:sp>
      <p:sp>
        <p:nvSpPr>
          <p:cNvPr id="9" name="TextBox 8"/>
          <p:cNvSpPr txBox="1"/>
          <p:nvPr/>
        </p:nvSpPr>
        <p:spPr>
          <a:xfrm>
            <a:off x="3840480" y="2743200"/>
            <a:ext cx="2743200" cy="365760"/>
          </a:xfrm>
          <a:prstGeom prst="rect">
            <a:avLst/>
          </a:prstGeom>
          <a:noFill/>
        </p:spPr>
        <p:txBody>
          <a:bodyPr wrap="none">
            <a:spAutoFit/>
          </a:bodyPr>
          <a:lstStyle/>
          <a:p>
            <a:pPr>
              <a:defRPr sz="1200">
                <a:solidFill>
                  <a:srgbClr val="404040"/>
                </a:solidFill>
              </a:defRPr>
            </a:pPr>
            <a:r>
              <a:t>Existing infrastructure</a:t>
            </a:r>
          </a:p>
        </p:txBody>
      </p:sp>
      <p:sp>
        <p:nvSpPr>
          <p:cNvPr id="10" name="TextBox 9"/>
          <p:cNvSpPr txBox="1"/>
          <p:nvPr/>
        </p:nvSpPr>
        <p:spPr>
          <a:xfrm>
            <a:off x="457200" y="3474720"/>
            <a:ext cx="3200400" cy="365760"/>
          </a:xfrm>
          <a:prstGeom prst="rect">
            <a:avLst/>
          </a:prstGeom>
          <a:noFill/>
        </p:spPr>
        <p:txBody>
          <a:bodyPr wrap="none">
            <a:spAutoFit/>
          </a:bodyPr>
          <a:lstStyle/>
          <a:p>
            <a:pPr>
              <a:defRPr sz="1600" b="1">
                <a:solidFill>
                  <a:srgbClr val="000000"/>
                </a:solidFill>
              </a:defRPr>
            </a:pPr>
            <a:r>
              <a:t>Pharmacies</a:t>
            </a:r>
          </a:p>
        </p:txBody>
      </p:sp>
      <p:sp>
        <p:nvSpPr>
          <p:cNvPr id="11" name="TextBox 10"/>
          <p:cNvSpPr txBox="1"/>
          <p:nvPr/>
        </p:nvSpPr>
        <p:spPr>
          <a:xfrm>
            <a:off x="3840480" y="3474720"/>
            <a:ext cx="2743200" cy="365760"/>
          </a:xfrm>
          <a:prstGeom prst="rect">
            <a:avLst/>
          </a:prstGeom>
          <a:noFill/>
        </p:spPr>
        <p:txBody>
          <a:bodyPr wrap="none">
            <a:spAutoFit/>
          </a:bodyPr>
          <a:lstStyle/>
          <a:p>
            <a:pPr>
              <a:defRPr sz="1200">
                <a:solidFill>
                  <a:srgbClr val="404040"/>
                </a:solidFill>
              </a:defRPr>
            </a:pPr>
            <a:r>
              <a:t>High trust, secure</a:t>
            </a:r>
          </a:p>
        </p:txBody>
      </p:sp>
      <p:sp>
        <p:nvSpPr>
          <p:cNvPr id="12" name="TextBox 11"/>
          <p:cNvSpPr txBox="1"/>
          <p:nvPr/>
        </p:nvSpPr>
        <p:spPr>
          <a:xfrm>
            <a:off x="457200" y="4206240"/>
            <a:ext cx="3200400" cy="365760"/>
          </a:xfrm>
          <a:prstGeom prst="rect">
            <a:avLst/>
          </a:prstGeom>
          <a:noFill/>
        </p:spPr>
        <p:txBody>
          <a:bodyPr wrap="none">
            <a:spAutoFit/>
          </a:bodyPr>
          <a:lstStyle/>
          <a:p>
            <a:pPr>
              <a:defRPr sz="1600" b="1">
                <a:solidFill>
                  <a:srgbClr val="000000"/>
                </a:solidFill>
              </a:defRPr>
            </a:pPr>
            <a:r>
              <a:t>Hostels</a:t>
            </a:r>
          </a:p>
        </p:txBody>
      </p:sp>
      <p:sp>
        <p:nvSpPr>
          <p:cNvPr id="13" name="TextBox 12"/>
          <p:cNvSpPr txBox="1"/>
          <p:nvPr/>
        </p:nvSpPr>
        <p:spPr>
          <a:xfrm>
            <a:off x="3840480" y="4206240"/>
            <a:ext cx="2743200" cy="365760"/>
          </a:xfrm>
          <a:prstGeom prst="rect">
            <a:avLst/>
          </a:prstGeom>
          <a:noFill/>
        </p:spPr>
        <p:txBody>
          <a:bodyPr wrap="none">
            <a:spAutoFit/>
          </a:bodyPr>
          <a:lstStyle/>
          <a:p>
            <a:pPr>
              <a:defRPr sz="1200">
                <a:solidFill>
                  <a:srgbClr val="404040"/>
                </a:solidFill>
              </a:defRPr>
            </a:pPr>
            <a:r>
              <a:t>Tourist-focused</a:t>
            </a:r>
          </a:p>
        </p:txBody>
      </p:sp>
      <p:sp>
        <p:nvSpPr>
          <p:cNvPr id="14" name="TextBox 13"/>
          <p:cNvSpPr txBox="1"/>
          <p:nvPr/>
        </p:nvSpPr>
        <p:spPr>
          <a:xfrm>
            <a:off x="7315200" y="1280160"/>
            <a:ext cx="2743200" cy="365760"/>
          </a:xfrm>
          <a:prstGeom prst="rect">
            <a:avLst/>
          </a:prstGeom>
          <a:noFill/>
        </p:spPr>
        <p:txBody>
          <a:bodyPr wrap="none">
            <a:spAutoFit/>
          </a:bodyPr>
          <a:lstStyle/>
          <a:p>
            <a:pPr>
              <a:defRPr sz="1400" b="1">
                <a:solidFill>
                  <a:srgbClr val="329632"/>
                </a:solidFill>
              </a:defRPr>
            </a:pPr>
            <a:r>
              <a:t>70% Revenue Share</a:t>
            </a:r>
          </a:p>
        </p:txBody>
      </p:sp>
      <p:sp>
        <p:nvSpPr>
          <p:cNvPr id="15" name="TextBox 14"/>
          <p:cNvSpPr txBox="1"/>
          <p:nvPr/>
        </p:nvSpPr>
        <p:spPr>
          <a:xfrm>
            <a:off x="10241280" y="1280160"/>
            <a:ext cx="1645920" cy="365760"/>
          </a:xfrm>
          <a:prstGeom prst="rect">
            <a:avLst/>
          </a:prstGeom>
          <a:noFill/>
        </p:spPr>
        <p:txBody>
          <a:bodyPr wrap="none">
            <a:spAutoFit/>
          </a:bodyPr>
          <a:lstStyle/>
          <a:p>
            <a:pPr>
              <a:defRPr sz="1000">
                <a:solidFill>
                  <a:srgbClr val="808080"/>
                </a:solidFill>
              </a:defRPr>
            </a:pPr>
            <a:r>
              <a:t>Partners keep majority</a:t>
            </a:r>
          </a:p>
        </p:txBody>
      </p:sp>
      <p:sp>
        <p:nvSpPr>
          <p:cNvPr id="16" name="TextBox 15"/>
          <p:cNvSpPr txBox="1"/>
          <p:nvPr/>
        </p:nvSpPr>
        <p:spPr>
          <a:xfrm>
            <a:off x="7315200" y="2011680"/>
            <a:ext cx="2743200" cy="365760"/>
          </a:xfrm>
          <a:prstGeom prst="rect">
            <a:avLst/>
          </a:prstGeom>
          <a:noFill/>
        </p:spPr>
        <p:txBody>
          <a:bodyPr wrap="none">
            <a:spAutoFit/>
          </a:bodyPr>
          <a:lstStyle/>
          <a:p>
            <a:pPr>
              <a:defRPr sz="1400" b="1">
                <a:solidFill>
                  <a:srgbClr val="329632"/>
                </a:solidFill>
              </a:defRPr>
            </a:pPr>
            <a:r>
              <a:t>Weekly Settlement</a:t>
            </a:r>
          </a:p>
        </p:txBody>
      </p:sp>
      <p:sp>
        <p:nvSpPr>
          <p:cNvPr id="17" name="TextBox 16"/>
          <p:cNvSpPr txBox="1"/>
          <p:nvPr/>
        </p:nvSpPr>
        <p:spPr>
          <a:xfrm>
            <a:off x="10241280" y="2011680"/>
            <a:ext cx="1645920" cy="365760"/>
          </a:xfrm>
          <a:prstGeom prst="rect">
            <a:avLst/>
          </a:prstGeom>
          <a:noFill/>
        </p:spPr>
        <p:txBody>
          <a:bodyPr wrap="none">
            <a:spAutoFit/>
          </a:bodyPr>
          <a:lstStyle/>
          <a:p>
            <a:pPr>
              <a:defRPr sz="1000">
                <a:solidFill>
                  <a:srgbClr val="808080"/>
                </a:solidFill>
              </a:defRPr>
            </a:pPr>
            <a:r>
              <a:t>Every Monday via bank</a:t>
            </a:r>
          </a:p>
        </p:txBody>
      </p:sp>
      <p:sp>
        <p:nvSpPr>
          <p:cNvPr id="18" name="TextBox 17"/>
          <p:cNvSpPr txBox="1"/>
          <p:nvPr/>
        </p:nvSpPr>
        <p:spPr>
          <a:xfrm>
            <a:off x="7315200" y="2743200"/>
            <a:ext cx="2743200" cy="365760"/>
          </a:xfrm>
          <a:prstGeom prst="rect">
            <a:avLst/>
          </a:prstGeom>
          <a:noFill/>
        </p:spPr>
        <p:txBody>
          <a:bodyPr wrap="none">
            <a:spAutoFit/>
          </a:bodyPr>
          <a:lstStyle/>
          <a:p>
            <a:pPr>
              <a:defRPr sz="1400" b="1">
                <a:solidFill>
                  <a:srgbClr val="329632"/>
                </a:solidFill>
              </a:defRPr>
            </a:pPr>
            <a:r>
              <a:t>No Lock-in Period</a:t>
            </a:r>
          </a:p>
        </p:txBody>
      </p:sp>
      <p:sp>
        <p:nvSpPr>
          <p:cNvPr id="19" name="TextBox 18"/>
          <p:cNvSpPr txBox="1"/>
          <p:nvPr/>
        </p:nvSpPr>
        <p:spPr>
          <a:xfrm>
            <a:off x="10241280" y="2743200"/>
            <a:ext cx="1645920" cy="365760"/>
          </a:xfrm>
          <a:prstGeom prst="rect">
            <a:avLst/>
          </a:prstGeom>
          <a:noFill/>
        </p:spPr>
        <p:txBody>
          <a:bodyPr wrap="none">
            <a:spAutoFit/>
          </a:bodyPr>
          <a:lstStyle/>
          <a:p>
            <a:pPr>
              <a:defRPr sz="1000">
                <a:solidFill>
                  <a:srgbClr val="808080"/>
                </a:solidFill>
              </a:defRPr>
            </a:pPr>
            <a:r>
              <a:t>Flexible partnership</a:t>
            </a:r>
          </a:p>
        </p:txBody>
      </p:sp>
      <p:sp>
        <p:nvSpPr>
          <p:cNvPr id="20" name="TextBox 19"/>
          <p:cNvSpPr txBox="1"/>
          <p:nvPr/>
        </p:nvSpPr>
        <p:spPr>
          <a:xfrm>
            <a:off x="7315200" y="3474720"/>
            <a:ext cx="2743200" cy="365760"/>
          </a:xfrm>
          <a:prstGeom prst="rect">
            <a:avLst/>
          </a:prstGeom>
          <a:noFill/>
        </p:spPr>
        <p:txBody>
          <a:bodyPr wrap="none">
            <a:spAutoFit/>
          </a:bodyPr>
          <a:lstStyle/>
          <a:p>
            <a:pPr>
              <a:defRPr sz="1400" b="1">
                <a:solidFill>
                  <a:srgbClr val="329632"/>
                </a:solidFill>
              </a:defRPr>
            </a:pPr>
            <a:r>
              <a:t>Training &amp; Support</a:t>
            </a:r>
          </a:p>
        </p:txBody>
      </p:sp>
      <p:sp>
        <p:nvSpPr>
          <p:cNvPr id="21" name="TextBox 20"/>
          <p:cNvSpPr txBox="1"/>
          <p:nvPr/>
        </p:nvSpPr>
        <p:spPr>
          <a:xfrm>
            <a:off x="10241280" y="3474720"/>
            <a:ext cx="1645920" cy="365760"/>
          </a:xfrm>
          <a:prstGeom prst="rect">
            <a:avLst/>
          </a:prstGeom>
          <a:noFill/>
        </p:spPr>
        <p:txBody>
          <a:bodyPr wrap="none">
            <a:spAutoFit/>
          </a:bodyPr>
          <a:lstStyle/>
          <a:p>
            <a:pPr>
              <a:defRPr sz="1000">
                <a:solidFill>
                  <a:srgbClr val="808080"/>
                </a:solidFill>
              </a:defRPr>
            </a:pPr>
            <a:r>
              <a:t>Video + manual in Gujarati</a:t>
            </a:r>
          </a:p>
        </p:txBody>
      </p:sp>
      <p:sp>
        <p:nvSpPr>
          <p:cNvPr id="22" name="TextBox 21"/>
          <p:cNvSpPr txBox="1"/>
          <p:nvPr/>
        </p:nvSpPr>
        <p:spPr>
          <a:xfrm>
            <a:off x="7315200" y="4206240"/>
            <a:ext cx="2743200" cy="365760"/>
          </a:xfrm>
          <a:prstGeom prst="rect">
            <a:avLst/>
          </a:prstGeom>
          <a:noFill/>
        </p:spPr>
        <p:txBody>
          <a:bodyPr wrap="none">
            <a:spAutoFit/>
          </a:bodyPr>
          <a:lstStyle/>
          <a:p>
            <a:pPr>
              <a:defRPr sz="1400" b="1">
                <a:solidFill>
                  <a:srgbClr val="329632"/>
                </a:solidFill>
              </a:defRPr>
            </a:pPr>
            <a:r>
              <a:t>Free Marketing</a:t>
            </a:r>
          </a:p>
        </p:txBody>
      </p:sp>
      <p:sp>
        <p:nvSpPr>
          <p:cNvPr id="23" name="TextBox 22"/>
          <p:cNvSpPr txBox="1"/>
          <p:nvPr/>
        </p:nvSpPr>
        <p:spPr>
          <a:xfrm>
            <a:off x="10241280" y="4206240"/>
            <a:ext cx="1645920" cy="365760"/>
          </a:xfrm>
          <a:prstGeom prst="rect">
            <a:avLst/>
          </a:prstGeom>
          <a:noFill/>
        </p:spPr>
        <p:txBody>
          <a:bodyPr wrap="none">
            <a:spAutoFit/>
          </a:bodyPr>
          <a:lstStyle/>
          <a:p>
            <a:pPr>
              <a:defRPr sz="1000">
                <a:solidFill>
                  <a:srgbClr val="808080"/>
                </a:solidFill>
              </a:defRPr>
            </a:pPr>
            <a:r>
              <a:t>Listed on BagDrop app</a:t>
            </a:r>
          </a:p>
        </p:txBody>
      </p:sp>
      <p:sp>
        <p:nvSpPr>
          <p:cNvPr id="24" name="Rounded Rectangle 23"/>
          <p:cNvSpPr/>
          <p:nvPr/>
        </p:nvSpPr>
        <p:spPr>
          <a:xfrm>
            <a:off x="457200" y="5029200"/>
            <a:ext cx="5486400" cy="1371600"/>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212080"/>
            <a:ext cx="5120640" cy="1005840"/>
          </a:xfrm>
          <a:prstGeom prst="rect">
            <a:avLst/>
          </a:prstGeom>
          <a:noFill/>
        </p:spPr>
        <p:txBody>
          <a:bodyPr wrap="none">
            <a:spAutoFit/>
          </a:bodyPr>
          <a:lstStyle/>
          <a:p>
            <a:pPr>
              <a:defRPr sz="1800" b="1">
                <a:solidFill>
                  <a:srgbClr val="000000"/>
                </a:solidFill>
              </a:defRPr>
            </a:pPr>
            <a:r>
              <a:t>Partner Growth Target</a:t>
            </a:r>
          </a:p>
          <a:p>
            <a:pPr>
              <a:defRPr sz="1400">
                <a:solidFill>
                  <a:srgbClr val="404040"/>
                </a:solidFill>
              </a:defRPr>
            </a:pPr>
          </a:p>
          <a:p>
            <a:pPr>
              <a:defRPr sz="1400">
                <a:solidFill>
                  <a:srgbClr val="404040"/>
                </a:solidFill>
              </a:defRPr>
            </a:pPr>
            <a:r>
              <a:t>Year 1: 150 locations</a:t>
            </a:r>
          </a:p>
          <a:p>
            <a:pPr>
              <a:defRPr sz="1400">
                <a:solidFill>
                  <a:srgbClr val="404040"/>
                </a:solidFill>
              </a:defRPr>
            </a:pPr>
            <a:r>
              <a:t>Year 3: 1,500 locations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600" b="1">
                <a:solidFill>
                  <a:srgbClr val="000000"/>
                </a:solidFill>
              </a:defRPr>
            </a:pPr>
            <a:r>
              <a:t>Exit Strategy</a:t>
            </a:r>
          </a:p>
          <a:p>
            <a:pPr>
              <a:defRPr sz="1600">
                <a:solidFill>
                  <a:srgbClr val="808080"/>
                </a:solidFill>
              </a:defRPr>
            </a:pPr>
            <a:r>
              <a:t>Multiple paths to liquidity</a:t>
            </a:r>
          </a:p>
        </p:txBody>
      </p:sp>
      <p:sp>
        <p:nvSpPr>
          <p:cNvPr id="4" name="TextBox 3"/>
          <p:cNvSpPr txBox="1"/>
          <p:nvPr/>
        </p:nvSpPr>
        <p:spPr>
          <a:xfrm>
            <a:off x="457200" y="1280160"/>
            <a:ext cx="3200400" cy="365760"/>
          </a:xfrm>
          <a:prstGeom prst="rect">
            <a:avLst/>
          </a:prstGeom>
          <a:noFill/>
        </p:spPr>
        <p:txBody>
          <a:bodyPr wrap="none">
            <a:spAutoFit/>
          </a:bodyPr>
          <a:lstStyle/>
          <a:p>
            <a:pPr>
              <a:defRPr sz="1600" b="1">
                <a:solidFill>
                  <a:srgbClr val="000000"/>
                </a:solidFill>
              </a:defRPr>
            </a:pPr>
            <a:r>
              <a:t>Strategic Acquisition</a:t>
            </a:r>
          </a:p>
        </p:txBody>
      </p:sp>
      <p:sp>
        <p:nvSpPr>
          <p:cNvPr id="5" name="TextBox 4"/>
          <p:cNvSpPr txBox="1"/>
          <p:nvPr/>
        </p:nvSpPr>
        <p:spPr>
          <a:xfrm>
            <a:off x="3840480" y="1280160"/>
            <a:ext cx="1828800" cy="365760"/>
          </a:xfrm>
          <a:prstGeom prst="rect">
            <a:avLst/>
          </a:prstGeom>
          <a:noFill/>
        </p:spPr>
        <p:txBody>
          <a:bodyPr wrap="none">
            <a:spAutoFit/>
          </a:bodyPr>
          <a:lstStyle/>
          <a:p>
            <a:pPr>
              <a:defRPr sz="1300">
                <a:solidFill>
                  <a:srgbClr val="329632"/>
                </a:solidFill>
              </a:defRPr>
            </a:pPr>
            <a:r>
              <a:t>70% probability</a:t>
            </a:r>
          </a:p>
        </p:txBody>
      </p:sp>
      <p:sp>
        <p:nvSpPr>
          <p:cNvPr id="6" name="TextBox 5"/>
          <p:cNvSpPr txBox="1"/>
          <p:nvPr/>
        </p:nvSpPr>
        <p:spPr>
          <a:xfrm>
            <a:off x="5943600" y="1280160"/>
            <a:ext cx="5029200" cy="365760"/>
          </a:xfrm>
          <a:prstGeom prst="rect">
            <a:avLst/>
          </a:prstGeom>
          <a:noFill/>
        </p:spPr>
        <p:txBody>
          <a:bodyPr wrap="none">
            <a:spAutoFit/>
          </a:bodyPr>
          <a:lstStyle/>
          <a:p>
            <a:pPr>
              <a:defRPr sz="1200">
                <a:solidFill>
                  <a:srgbClr val="404040"/>
                </a:solidFill>
              </a:defRPr>
            </a:pPr>
            <a:r>
              <a:t>MakeMyTrip, Goibibo, Delhivery</a:t>
            </a:r>
          </a:p>
        </p:txBody>
      </p:sp>
      <p:sp>
        <p:nvSpPr>
          <p:cNvPr id="7" name="TextBox 6"/>
          <p:cNvSpPr txBox="1"/>
          <p:nvPr/>
        </p:nvSpPr>
        <p:spPr>
          <a:xfrm>
            <a:off x="457200" y="2286000"/>
            <a:ext cx="3200400" cy="365760"/>
          </a:xfrm>
          <a:prstGeom prst="rect">
            <a:avLst/>
          </a:prstGeom>
          <a:noFill/>
        </p:spPr>
        <p:txBody>
          <a:bodyPr wrap="none">
            <a:spAutoFit/>
          </a:bodyPr>
          <a:lstStyle/>
          <a:p>
            <a:pPr>
              <a:defRPr sz="1600" b="1">
                <a:solidFill>
                  <a:srgbClr val="000000"/>
                </a:solidFill>
              </a:defRPr>
            </a:pPr>
            <a:r>
              <a:t>Merger (Logistics)</a:t>
            </a:r>
          </a:p>
        </p:txBody>
      </p:sp>
      <p:sp>
        <p:nvSpPr>
          <p:cNvPr id="8" name="TextBox 7"/>
          <p:cNvSpPr txBox="1"/>
          <p:nvPr/>
        </p:nvSpPr>
        <p:spPr>
          <a:xfrm>
            <a:off x="3840480" y="2286000"/>
            <a:ext cx="1828800" cy="365760"/>
          </a:xfrm>
          <a:prstGeom prst="rect">
            <a:avLst/>
          </a:prstGeom>
          <a:noFill/>
        </p:spPr>
        <p:txBody>
          <a:bodyPr wrap="none">
            <a:spAutoFit/>
          </a:bodyPr>
          <a:lstStyle/>
          <a:p>
            <a:pPr>
              <a:defRPr sz="1300">
                <a:solidFill>
                  <a:srgbClr val="329632"/>
                </a:solidFill>
              </a:defRPr>
            </a:pPr>
            <a:r>
              <a:t>15% probability</a:t>
            </a:r>
          </a:p>
        </p:txBody>
      </p:sp>
      <p:sp>
        <p:nvSpPr>
          <p:cNvPr id="9" name="TextBox 8"/>
          <p:cNvSpPr txBox="1"/>
          <p:nvPr/>
        </p:nvSpPr>
        <p:spPr>
          <a:xfrm>
            <a:off x="5943600" y="2286000"/>
            <a:ext cx="5029200" cy="365760"/>
          </a:xfrm>
          <a:prstGeom prst="rect">
            <a:avLst/>
          </a:prstGeom>
          <a:noFill/>
        </p:spPr>
        <p:txBody>
          <a:bodyPr wrap="none">
            <a:spAutoFit/>
          </a:bodyPr>
          <a:lstStyle/>
          <a:p>
            <a:pPr>
              <a:defRPr sz="1200">
                <a:solidFill>
                  <a:srgbClr val="404040"/>
                </a:solidFill>
              </a:defRPr>
            </a:pPr>
            <a:r>
              <a:t>Delhivery, Dunzo, Porter</a:t>
            </a:r>
          </a:p>
        </p:txBody>
      </p:sp>
      <p:sp>
        <p:nvSpPr>
          <p:cNvPr id="10" name="TextBox 9"/>
          <p:cNvSpPr txBox="1"/>
          <p:nvPr/>
        </p:nvSpPr>
        <p:spPr>
          <a:xfrm>
            <a:off x="457200" y="3291840"/>
            <a:ext cx="3200400" cy="365760"/>
          </a:xfrm>
          <a:prstGeom prst="rect">
            <a:avLst/>
          </a:prstGeom>
          <a:noFill/>
        </p:spPr>
        <p:txBody>
          <a:bodyPr wrap="none">
            <a:spAutoFit/>
          </a:bodyPr>
          <a:lstStyle/>
          <a:p>
            <a:pPr>
              <a:defRPr sz="1600" b="1">
                <a:solidFill>
                  <a:srgbClr val="000000"/>
                </a:solidFill>
              </a:defRPr>
            </a:pPr>
            <a:r>
              <a:t>Technology Licensing</a:t>
            </a:r>
          </a:p>
        </p:txBody>
      </p:sp>
      <p:sp>
        <p:nvSpPr>
          <p:cNvPr id="11" name="TextBox 10"/>
          <p:cNvSpPr txBox="1"/>
          <p:nvPr/>
        </p:nvSpPr>
        <p:spPr>
          <a:xfrm>
            <a:off x="3840480" y="3291840"/>
            <a:ext cx="1828800" cy="365760"/>
          </a:xfrm>
          <a:prstGeom prst="rect">
            <a:avLst/>
          </a:prstGeom>
          <a:noFill/>
        </p:spPr>
        <p:txBody>
          <a:bodyPr wrap="none">
            <a:spAutoFit/>
          </a:bodyPr>
          <a:lstStyle/>
          <a:p>
            <a:pPr>
              <a:defRPr sz="1300">
                <a:solidFill>
                  <a:srgbClr val="329632"/>
                </a:solidFill>
              </a:defRPr>
            </a:pPr>
            <a:r>
              <a:t>10% probability</a:t>
            </a:r>
          </a:p>
        </p:txBody>
      </p:sp>
      <p:sp>
        <p:nvSpPr>
          <p:cNvPr id="12" name="TextBox 11"/>
          <p:cNvSpPr txBox="1"/>
          <p:nvPr/>
        </p:nvSpPr>
        <p:spPr>
          <a:xfrm>
            <a:off x="5943600" y="3291840"/>
            <a:ext cx="5029200" cy="365760"/>
          </a:xfrm>
          <a:prstGeom prst="rect">
            <a:avLst/>
          </a:prstGeom>
          <a:noFill/>
        </p:spPr>
        <p:txBody>
          <a:bodyPr wrap="none">
            <a:spAutoFit/>
          </a:bodyPr>
          <a:lstStyle/>
          <a:p>
            <a:pPr>
              <a:defRPr sz="1200">
                <a:solidFill>
                  <a:srgbClr val="404040"/>
                </a:solidFill>
              </a:defRPr>
            </a:pPr>
            <a:r>
              <a:t>White-label platform</a:t>
            </a:r>
          </a:p>
        </p:txBody>
      </p:sp>
      <p:sp>
        <p:nvSpPr>
          <p:cNvPr id="13" name="TextBox 12"/>
          <p:cNvSpPr txBox="1"/>
          <p:nvPr/>
        </p:nvSpPr>
        <p:spPr>
          <a:xfrm>
            <a:off x="457200" y="4297680"/>
            <a:ext cx="3200400" cy="365760"/>
          </a:xfrm>
          <a:prstGeom prst="rect">
            <a:avLst/>
          </a:prstGeom>
          <a:noFill/>
        </p:spPr>
        <p:txBody>
          <a:bodyPr wrap="none">
            <a:spAutoFit/>
          </a:bodyPr>
          <a:lstStyle/>
          <a:p>
            <a:pPr>
              <a:defRPr sz="1600" b="1">
                <a:solidFill>
                  <a:srgbClr val="000000"/>
                </a:solidFill>
              </a:defRPr>
            </a:pPr>
            <a:r>
              <a:t>IPO (Long-term)</a:t>
            </a:r>
          </a:p>
        </p:txBody>
      </p:sp>
      <p:sp>
        <p:nvSpPr>
          <p:cNvPr id="14" name="TextBox 13"/>
          <p:cNvSpPr txBox="1"/>
          <p:nvPr/>
        </p:nvSpPr>
        <p:spPr>
          <a:xfrm>
            <a:off x="3840480" y="4297680"/>
            <a:ext cx="1828800" cy="365760"/>
          </a:xfrm>
          <a:prstGeom prst="rect">
            <a:avLst/>
          </a:prstGeom>
          <a:noFill/>
        </p:spPr>
        <p:txBody>
          <a:bodyPr wrap="none">
            <a:spAutoFit/>
          </a:bodyPr>
          <a:lstStyle/>
          <a:p>
            <a:pPr>
              <a:defRPr sz="1300">
                <a:solidFill>
                  <a:srgbClr val="329632"/>
                </a:solidFill>
              </a:defRPr>
            </a:pPr>
            <a:r>
              <a:t>5% probability</a:t>
            </a:r>
          </a:p>
        </p:txBody>
      </p:sp>
      <p:sp>
        <p:nvSpPr>
          <p:cNvPr id="15" name="TextBox 14"/>
          <p:cNvSpPr txBox="1"/>
          <p:nvPr/>
        </p:nvSpPr>
        <p:spPr>
          <a:xfrm>
            <a:off x="5943600" y="4297680"/>
            <a:ext cx="5029200" cy="365760"/>
          </a:xfrm>
          <a:prstGeom prst="rect">
            <a:avLst/>
          </a:prstGeom>
          <a:noFill/>
        </p:spPr>
        <p:txBody>
          <a:bodyPr wrap="none">
            <a:spAutoFit/>
          </a:bodyPr>
          <a:lstStyle/>
          <a:p>
            <a:pPr>
              <a:defRPr sz="1200">
                <a:solidFill>
                  <a:srgbClr val="404040"/>
                </a:solidFill>
              </a:defRPr>
            </a:pPr>
            <a:r>
              <a:t>Year 7+ horizon</a:t>
            </a:r>
          </a:p>
        </p:txBody>
      </p:sp>
      <p:sp>
        <p:nvSpPr>
          <p:cNvPr id="16" name="Rounded Rectangle 15"/>
          <p:cNvSpPr/>
          <p:nvPr/>
        </p:nvSpPr>
        <p:spPr>
          <a:xfrm>
            <a:off x="457200" y="5303520"/>
            <a:ext cx="5486400" cy="1097280"/>
          </a:xfrm>
          <a:prstGeom prst="roundRect">
            <a:avLst/>
          </a:prstGeom>
          <a:solidFill>
            <a:srgbClr val="F0FFF0"/>
          </a:solidFill>
          <a:ln>
            <a:solidFill>
              <a:srgbClr val="3296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5486400"/>
            <a:ext cx="5120640" cy="731520"/>
          </a:xfrm>
          <a:prstGeom prst="rect">
            <a:avLst/>
          </a:prstGeom>
          <a:noFill/>
        </p:spPr>
        <p:txBody>
          <a:bodyPr wrap="none">
            <a:spAutoFit/>
          </a:bodyPr>
          <a:lstStyle/>
          <a:p>
            <a:pPr>
              <a:defRPr sz="1800" b="1">
                <a:solidFill>
                  <a:srgbClr val="329632"/>
                </a:solidFill>
              </a:defRPr>
            </a:pPr>
            <a:r>
              <a:t>Target Valuation: ₹50+ Crore</a:t>
            </a:r>
          </a:p>
          <a:p>
            <a:pPr>
              <a:defRPr sz="1200">
                <a:solidFill>
                  <a:srgbClr val="404040"/>
                </a:solidFill>
              </a:defRPr>
            </a:pPr>
            <a:r>
              <a:t>By Year 5 (3-8x ARR multiple)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600" b="1">
                <a:solidFill>
                  <a:srgbClr val="000000"/>
                </a:solidFill>
              </a:defRPr>
            </a:pPr>
            <a:r>
              <a:t>Risk Mitigation</a:t>
            </a:r>
          </a:p>
          <a:p>
            <a:pPr>
              <a:defRPr sz="1600">
                <a:solidFill>
                  <a:srgbClr val="808080"/>
                </a:solidFill>
              </a:defRPr>
            </a:pPr>
            <a:r>
              <a:t>Addressing potential challenges</a:t>
            </a:r>
          </a:p>
        </p:txBody>
      </p:sp>
      <p:sp>
        <p:nvSpPr>
          <p:cNvPr id="4" name="TextBox 3"/>
          <p:cNvSpPr txBox="1"/>
          <p:nvPr/>
        </p:nvSpPr>
        <p:spPr>
          <a:xfrm>
            <a:off x="457200" y="1280160"/>
            <a:ext cx="3200400" cy="365760"/>
          </a:xfrm>
          <a:prstGeom prst="rect">
            <a:avLst/>
          </a:prstGeom>
          <a:noFill/>
        </p:spPr>
        <p:txBody>
          <a:bodyPr wrap="none">
            <a:spAutoFit/>
          </a:bodyPr>
          <a:lstStyle/>
          <a:p>
            <a:pPr>
              <a:defRPr sz="1500" b="1">
                <a:solidFill>
                  <a:srgbClr val="963232"/>
                </a:solidFill>
              </a:defRPr>
            </a:pPr>
            <a:r>
              <a:t>Low Bookings</a:t>
            </a:r>
          </a:p>
        </p:txBody>
      </p:sp>
      <p:sp>
        <p:nvSpPr>
          <p:cNvPr id="5" name="TextBox 4"/>
          <p:cNvSpPr txBox="1"/>
          <p:nvPr/>
        </p:nvSpPr>
        <p:spPr>
          <a:xfrm>
            <a:off x="3840480" y="1280160"/>
            <a:ext cx="457200" cy="365760"/>
          </a:xfrm>
          <a:prstGeom prst="rect">
            <a:avLst/>
          </a:prstGeom>
          <a:noFill/>
        </p:spPr>
        <p:txBody>
          <a:bodyPr wrap="none">
            <a:spAutoFit/>
          </a:bodyPr>
          <a:lstStyle/>
          <a:p>
            <a:pPr>
              <a:defRPr sz="1600">
                <a:solidFill>
                  <a:srgbClr val="FFD700"/>
                </a:solidFill>
              </a:defRPr>
            </a:pPr>
            <a:r>
              <a:t>→</a:t>
            </a:r>
          </a:p>
        </p:txBody>
      </p:sp>
      <p:sp>
        <p:nvSpPr>
          <p:cNvPr id="6" name="TextBox 5"/>
          <p:cNvSpPr txBox="1"/>
          <p:nvPr/>
        </p:nvSpPr>
        <p:spPr>
          <a:xfrm>
            <a:off x="4389120" y="1280160"/>
            <a:ext cx="6858000" cy="365760"/>
          </a:xfrm>
          <a:prstGeom prst="rect">
            <a:avLst/>
          </a:prstGeom>
          <a:noFill/>
        </p:spPr>
        <p:txBody>
          <a:bodyPr wrap="none">
            <a:spAutoFit/>
          </a:bodyPr>
          <a:lstStyle/>
          <a:p>
            <a:pPr>
              <a:defRPr sz="1200">
                <a:solidFill>
                  <a:srgbClr val="404040"/>
                </a:solidFill>
              </a:defRPr>
            </a:pPr>
            <a:r>
              <a:t>Aggressive referral program, dynamic pricing</a:t>
            </a:r>
          </a:p>
        </p:txBody>
      </p:sp>
      <p:sp>
        <p:nvSpPr>
          <p:cNvPr id="7" name="TextBox 6"/>
          <p:cNvSpPr txBox="1"/>
          <p:nvPr/>
        </p:nvSpPr>
        <p:spPr>
          <a:xfrm>
            <a:off x="457200" y="2194560"/>
            <a:ext cx="3200400" cy="365760"/>
          </a:xfrm>
          <a:prstGeom prst="rect">
            <a:avLst/>
          </a:prstGeom>
          <a:noFill/>
        </p:spPr>
        <p:txBody>
          <a:bodyPr wrap="none">
            <a:spAutoFit/>
          </a:bodyPr>
          <a:lstStyle/>
          <a:p>
            <a:pPr>
              <a:defRPr sz="1500" b="1">
                <a:solidFill>
                  <a:srgbClr val="963232"/>
                </a:solidFill>
              </a:defRPr>
            </a:pPr>
            <a:r>
              <a:t>Partner Defaults</a:t>
            </a:r>
          </a:p>
        </p:txBody>
      </p:sp>
      <p:sp>
        <p:nvSpPr>
          <p:cNvPr id="8" name="TextBox 7"/>
          <p:cNvSpPr txBox="1"/>
          <p:nvPr/>
        </p:nvSpPr>
        <p:spPr>
          <a:xfrm>
            <a:off x="3840480" y="2194560"/>
            <a:ext cx="457200" cy="365760"/>
          </a:xfrm>
          <a:prstGeom prst="rect">
            <a:avLst/>
          </a:prstGeom>
          <a:noFill/>
        </p:spPr>
        <p:txBody>
          <a:bodyPr wrap="none">
            <a:spAutoFit/>
          </a:bodyPr>
          <a:lstStyle/>
          <a:p>
            <a:pPr>
              <a:defRPr sz="1600">
                <a:solidFill>
                  <a:srgbClr val="FFD700"/>
                </a:solidFill>
              </a:defRPr>
            </a:pPr>
            <a:r>
              <a:t>→</a:t>
            </a:r>
          </a:p>
        </p:txBody>
      </p:sp>
      <p:sp>
        <p:nvSpPr>
          <p:cNvPr id="9" name="TextBox 8"/>
          <p:cNvSpPr txBox="1"/>
          <p:nvPr/>
        </p:nvSpPr>
        <p:spPr>
          <a:xfrm>
            <a:off x="4389120" y="2194560"/>
            <a:ext cx="6858000" cy="365760"/>
          </a:xfrm>
          <a:prstGeom prst="rect">
            <a:avLst/>
          </a:prstGeom>
          <a:noFill/>
        </p:spPr>
        <p:txBody>
          <a:bodyPr wrap="none">
            <a:spAutoFit/>
          </a:bodyPr>
          <a:lstStyle/>
          <a:p>
            <a:pPr>
              <a:defRPr sz="1200">
                <a:solidFill>
                  <a:srgbClr val="404040"/>
                </a:solidFill>
              </a:defRPr>
            </a:pPr>
            <a:r>
              <a:t>Weekly settlements, ₹5K security deposit</a:t>
            </a:r>
          </a:p>
        </p:txBody>
      </p:sp>
      <p:sp>
        <p:nvSpPr>
          <p:cNvPr id="10" name="TextBox 9"/>
          <p:cNvSpPr txBox="1"/>
          <p:nvPr/>
        </p:nvSpPr>
        <p:spPr>
          <a:xfrm>
            <a:off x="457200" y="3108960"/>
            <a:ext cx="3200400" cy="365760"/>
          </a:xfrm>
          <a:prstGeom prst="rect">
            <a:avLst/>
          </a:prstGeom>
          <a:noFill/>
        </p:spPr>
        <p:txBody>
          <a:bodyPr wrap="none">
            <a:spAutoFit/>
          </a:bodyPr>
          <a:lstStyle/>
          <a:p>
            <a:pPr>
              <a:defRPr sz="1500" b="1">
                <a:solidFill>
                  <a:srgbClr val="963232"/>
                </a:solidFill>
              </a:defRPr>
            </a:pPr>
            <a:r>
              <a:t>Fraud/Theft</a:t>
            </a:r>
          </a:p>
        </p:txBody>
      </p:sp>
      <p:sp>
        <p:nvSpPr>
          <p:cNvPr id="11" name="TextBox 10"/>
          <p:cNvSpPr txBox="1"/>
          <p:nvPr/>
        </p:nvSpPr>
        <p:spPr>
          <a:xfrm>
            <a:off x="3840480" y="3108960"/>
            <a:ext cx="457200" cy="365760"/>
          </a:xfrm>
          <a:prstGeom prst="rect">
            <a:avLst/>
          </a:prstGeom>
          <a:noFill/>
        </p:spPr>
        <p:txBody>
          <a:bodyPr wrap="none">
            <a:spAutoFit/>
          </a:bodyPr>
          <a:lstStyle/>
          <a:p>
            <a:pPr>
              <a:defRPr sz="1600">
                <a:solidFill>
                  <a:srgbClr val="FFD700"/>
                </a:solidFill>
              </a:defRPr>
            </a:pPr>
            <a:r>
              <a:t>→</a:t>
            </a:r>
          </a:p>
        </p:txBody>
      </p:sp>
      <p:sp>
        <p:nvSpPr>
          <p:cNvPr id="12" name="TextBox 11"/>
          <p:cNvSpPr txBox="1"/>
          <p:nvPr/>
        </p:nvSpPr>
        <p:spPr>
          <a:xfrm>
            <a:off x="4389120" y="3108960"/>
            <a:ext cx="6858000" cy="365760"/>
          </a:xfrm>
          <a:prstGeom prst="rect">
            <a:avLst/>
          </a:prstGeom>
          <a:noFill/>
        </p:spPr>
        <p:txBody>
          <a:bodyPr wrap="none">
            <a:spAutoFit/>
          </a:bodyPr>
          <a:lstStyle/>
          <a:p>
            <a:pPr>
              <a:defRPr sz="1200">
                <a:solidFill>
                  <a:srgbClr val="404040"/>
                </a:solidFill>
              </a:defRPr>
            </a:pPr>
            <a:r>
              <a:t>Insurance, partner verification, CCTV</a:t>
            </a:r>
          </a:p>
        </p:txBody>
      </p:sp>
      <p:sp>
        <p:nvSpPr>
          <p:cNvPr id="13" name="TextBox 12"/>
          <p:cNvSpPr txBox="1"/>
          <p:nvPr/>
        </p:nvSpPr>
        <p:spPr>
          <a:xfrm>
            <a:off x="457200" y="4023360"/>
            <a:ext cx="3200400" cy="365760"/>
          </a:xfrm>
          <a:prstGeom prst="rect">
            <a:avLst/>
          </a:prstGeom>
          <a:noFill/>
        </p:spPr>
        <p:txBody>
          <a:bodyPr wrap="none">
            <a:spAutoFit/>
          </a:bodyPr>
          <a:lstStyle/>
          <a:p>
            <a:pPr>
              <a:defRPr sz="1500" b="1">
                <a:solidFill>
                  <a:srgbClr val="963232"/>
                </a:solidFill>
              </a:defRPr>
            </a:pPr>
            <a:r>
              <a:t>Competition Entry</a:t>
            </a:r>
          </a:p>
        </p:txBody>
      </p:sp>
      <p:sp>
        <p:nvSpPr>
          <p:cNvPr id="14" name="TextBox 13"/>
          <p:cNvSpPr txBox="1"/>
          <p:nvPr/>
        </p:nvSpPr>
        <p:spPr>
          <a:xfrm>
            <a:off x="3840480" y="4023360"/>
            <a:ext cx="457200" cy="365760"/>
          </a:xfrm>
          <a:prstGeom prst="rect">
            <a:avLst/>
          </a:prstGeom>
          <a:noFill/>
        </p:spPr>
        <p:txBody>
          <a:bodyPr wrap="none">
            <a:spAutoFit/>
          </a:bodyPr>
          <a:lstStyle/>
          <a:p>
            <a:pPr>
              <a:defRPr sz="1600">
                <a:solidFill>
                  <a:srgbClr val="FFD700"/>
                </a:solidFill>
              </a:defRPr>
            </a:pPr>
            <a:r>
              <a:t>→</a:t>
            </a:r>
          </a:p>
        </p:txBody>
      </p:sp>
      <p:sp>
        <p:nvSpPr>
          <p:cNvPr id="15" name="TextBox 14"/>
          <p:cNvSpPr txBox="1"/>
          <p:nvPr/>
        </p:nvSpPr>
        <p:spPr>
          <a:xfrm>
            <a:off x="4389120" y="4023360"/>
            <a:ext cx="6858000" cy="365760"/>
          </a:xfrm>
          <a:prstGeom prst="rect">
            <a:avLst/>
          </a:prstGeom>
          <a:noFill/>
        </p:spPr>
        <p:txBody>
          <a:bodyPr wrap="none">
            <a:spAutoFit/>
          </a:bodyPr>
          <a:lstStyle/>
          <a:p>
            <a:pPr>
              <a:defRPr sz="1200">
                <a:solidFill>
                  <a:srgbClr val="404040"/>
                </a:solidFill>
              </a:defRPr>
            </a:pPr>
            <a:r>
              <a:t>Focus on USP, partner lock-in</a:t>
            </a:r>
          </a:p>
        </p:txBody>
      </p:sp>
      <p:sp>
        <p:nvSpPr>
          <p:cNvPr id="16" name="TextBox 15"/>
          <p:cNvSpPr txBox="1"/>
          <p:nvPr/>
        </p:nvSpPr>
        <p:spPr>
          <a:xfrm>
            <a:off x="457200" y="4937760"/>
            <a:ext cx="3200400" cy="365760"/>
          </a:xfrm>
          <a:prstGeom prst="rect">
            <a:avLst/>
          </a:prstGeom>
          <a:noFill/>
        </p:spPr>
        <p:txBody>
          <a:bodyPr wrap="none">
            <a:spAutoFit/>
          </a:bodyPr>
          <a:lstStyle/>
          <a:p>
            <a:pPr>
              <a:defRPr sz="1500" b="1">
                <a:solidFill>
                  <a:srgbClr val="963232"/>
                </a:solidFill>
              </a:defRPr>
            </a:pPr>
            <a:r>
              <a:t>Payment Disputes</a:t>
            </a:r>
          </a:p>
        </p:txBody>
      </p:sp>
      <p:sp>
        <p:nvSpPr>
          <p:cNvPr id="17" name="TextBox 16"/>
          <p:cNvSpPr txBox="1"/>
          <p:nvPr/>
        </p:nvSpPr>
        <p:spPr>
          <a:xfrm>
            <a:off x="3840480" y="4937760"/>
            <a:ext cx="457200" cy="365760"/>
          </a:xfrm>
          <a:prstGeom prst="rect">
            <a:avLst/>
          </a:prstGeom>
          <a:noFill/>
        </p:spPr>
        <p:txBody>
          <a:bodyPr wrap="none">
            <a:spAutoFit/>
          </a:bodyPr>
          <a:lstStyle/>
          <a:p>
            <a:pPr>
              <a:defRPr sz="1600">
                <a:solidFill>
                  <a:srgbClr val="FFD700"/>
                </a:solidFill>
              </a:defRPr>
            </a:pPr>
            <a:r>
              <a:t>→</a:t>
            </a:r>
          </a:p>
        </p:txBody>
      </p:sp>
      <p:sp>
        <p:nvSpPr>
          <p:cNvPr id="18" name="TextBox 17"/>
          <p:cNvSpPr txBox="1"/>
          <p:nvPr/>
        </p:nvSpPr>
        <p:spPr>
          <a:xfrm>
            <a:off x="4389120" y="4937760"/>
            <a:ext cx="6858000" cy="365760"/>
          </a:xfrm>
          <a:prstGeom prst="rect">
            <a:avLst/>
          </a:prstGeom>
          <a:noFill/>
        </p:spPr>
        <p:txBody>
          <a:bodyPr wrap="none">
            <a:spAutoFit/>
          </a:bodyPr>
          <a:lstStyle/>
          <a:p>
            <a:pPr>
              <a:defRPr sz="1200">
                <a:solidFill>
                  <a:srgbClr val="404040"/>
                </a:solidFill>
              </a:defRPr>
            </a:pPr>
            <a:r>
              <a:t>Clear T&amp;C, escrow for high-value items</a:t>
            </a:r>
          </a:p>
        </p:txBody>
      </p:sp>
      <p:sp>
        <p:nvSpPr>
          <p:cNvPr id="19" name="Rectangle 18"/>
          <p:cNvSpPr/>
          <p:nvPr/>
        </p:nvSpPr>
        <p:spPr>
          <a:xfrm>
            <a:off x="457200" y="5760720"/>
            <a:ext cx="11277295" cy="7315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897880"/>
            <a:ext cx="10362895" cy="457200"/>
          </a:xfrm>
          <a:prstGeom prst="rect">
            <a:avLst/>
          </a:prstGeom>
          <a:noFill/>
        </p:spPr>
        <p:txBody>
          <a:bodyPr wrap="none">
            <a:spAutoFit/>
          </a:bodyPr>
          <a:lstStyle/>
          <a:p>
            <a:pPr algn="ctr">
              <a:defRPr sz="1300">
                <a:solidFill>
                  <a:srgbClr val="FFD700"/>
                </a:solidFill>
              </a:defRPr>
            </a:pPr>
            <a:r>
              <a:t>Insurance Coverage: Public Liability ₹10L | Storage Insurance ₹25K/bag | Employee Health + Accident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600" b="1">
                <a:solidFill>
                  <a:srgbClr val="000000"/>
                </a:solidFill>
              </a:defRPr>
            </a:pPr>
            <a:r>
              <a:t>Key Milestones</a:t>
            </a:r>
          </a:p>
          <a:p>
            <a:pPr>
              <a:defRPr sz="1600">
                <a:solidFill>
                  <a:srgbClr val="808080"/>
                </a:solidFill>
              </a:defRPr>
            </a:pPr>
            <a:r>
              <a:t>Roadmap to success</a:t>
            </a:r>
          </a:p>
        </p:txBody>
      </p:sp>
      <p:sp>
        <p:nvSpPr>
          <p:cNvPr id="4" name="Oval 3"/>
          <p:cNvSpPr/>
          <p:nvPr/>
        </p:nvSpPr>
        <p:spPr>
          <a:xfrm>
            <a:off x="548640" y="1325880"/>
            <a:ext cx="228600" cy="22860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9224" y="1554480"/>
            <a:ext cx="27432" cy="411480"/>
          </a:xfrm>
          <a:prstGeom prst="rect">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280160"/>
            <a:ext cx="1828800" cy="365760"/>
          </a:xfrm>
          <a:prstGeom prst="rect">
            <a:avLst/>
          </a:prstGeom>
          <a:noFill/>
        </p:spPr>
        <p:txBody>
          <a:bodyPr wrap="none">
            <a:spAutoFit/>
          </a:bodyPr>
          <a:lstStyle/>
          <a:p>
            <a:pPr>
              <a:defRPr sz="1400" b="1">
                <a:solidFill>
                  <a:srgbClr val="000000"/>
                </a:solidFill>
              </a:defRPr>
            </a:pPr>
            <a:r>
              <a:t>Q1 2026</a:t>
            </a:r>
          </a:p>
        </p:txBody>
      </p:sp>
      <p:sp>
        <p:nvSpPr>
          <p:cNvPr id="7" name="TextBox 6"/>
          <p:cNvSpPr txBox="1"/>
          <p:nvPr/>
        </p:nvSpPr>
        <p:spPr>
          <a:xfrm>
            <a:off x="3200400" y="1280160"/>
            <a:ext cx="8229600" cy="365760"/>
          </a:xfrm>
          <a:prstGeom prst="rect">
            <a:avLst/>
          </a:prstGeom>
          <a:noFill/>
        </p:spPr>
        <p:txBody>
          <a:bodyPr wrap="none">
            <a:spAutoFit/>
          </a:bodyPr>
          <a:lstStyle/>
          <a:p>
            <a:pPr>
              <a:defRPr sz="1300">
                <a:solidFill>
                  <a:srgbClr val="404040"/>
                </a:solidFill>
              </a:defRPr>
            </a:pPr>
            <a:r>
              <a:t>App launch, 50 partners in Gujarat</a:t>
            </a:r>
          </a:p>
        </p:txBody>
      </p:sp>
      <p:sp>
        <p:nvSpPr>
          <p:cNvPr id="8" name="Oval 7"/>
          <p:cNvSpPr/>
          <p:nvPr/>
        </p:nvSpPr>
        <p:spPr>
          <a:xfrm>
            <a:off x="548640" y="2011680"/>
            <a:ext cx="228600" cy="22860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9224" y="2240280"/>
            <a:ext cx="27432" cy="411480"/>
          </a:xfrm>
          <a:prstGeom prst="rect">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1965960"/>
            <a:ext cx="1828800" cy="365760"/>
          </a:xfrm>
          <a:prstGeom prst="rect">
            <a:avLst/>
          </a:prstGeom>
          <a:noFill/>
        </p:spPr>
        <p:txBody>
          <a:bodyPr wrap="none">
            <a:spAutoFit/>
          </a:bodyPr>
          <a:lstStyle/>
          <a:p>
            <a:pPr>
              <a:defRPr sz="1400" b="1">
                <a:solidFill>
                  <a:srgbClr val="000000"/>
                </a:solidFill>
              </a:defRPr>
            </a:pPr>
            <a:r>
              <a:t>Q2 2026</a:t>
            </a:r>
          </a:p>
        </p:txBody>
      </p:sp>
      <p:sp>
        <p:nvSpPr>
          <p:cNvPr id="11" name="TextBox 10"/>
          <p:cNvSpPr txBox="1"/>
          <p:nvPr/>
        </p:nvSpPr>
        <p:spPr>
          <a:xfrm>
            <a:off x="3200400" y="1965960"/>
            <a:ext cx="8229600" cy="365760"/>
          </a:xfrm>
          <a:prstGeom prst="rect">
            <a:avLst/>
          </a:prstGeom>
          <a:noFill/>
        </p:spPr>
        <p:txBody>
          <a:bodyPr wrap="none">
            <a:spAutoFit/>
          </a:bodyPr>
          <a:lstStyle/>
          <a:p>
            <a:pPr>
              <a:defRPr sz="1300">
                <a:solidFill>
                  <a:srgbClr val="404040"/>
                </a:solidFill>
              </a:defRPr>
            </a:pPr>
            <a:r>
              <a:t>5,000 monthly bookings, expand to 3 cities</a:t>
            </a:r>
          </a:p>
        </p:txBody>
      </p:sp>
      <p:sp>
        <p:nvSpPr>
          <p:cNvPr id="12" name="Oval 11"/>
          <p:cNvSpPr/>
          <p:nvPr/>
        </p:nvSpPr>
        <p:spPr>
          <a:xfrm>
            <a:off x="548640" y="2697480"/>
            <a:ext cx="228600" cy="22860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9224" y="2926080"/>
            <a:ext cx="27432" cy="411480"/>
          </a:xfrm>
          <a:prstGeom prst="rect">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2651760"/>
            <a:ext cx="1828800" cy="365760"/>
          </a:xfrm>
          <a:prstGeom prst="rect">
            <a:avLst/>
          </a:prstGeom>
          <a:noFill/>
        </p:spPr>
        <p:txBody>
          <a:bodyPr wrap="none">
            <a:spAutoFit/>
          </a:bodyPr>
          <a:lstStyle/>
          <a:p>
            <a:pPr>
              <a:defRPr sz="1400" b="1">
                <a:solidFill>
                  <a:srgbClr val="000000"/>
                </a:solidFill>
              </a:defRPr>
            </a:pPr>
            <a:r>
              <a:t>Q3 2026</a:t>
            </a:r>
          </a:p>
        </p:txBody>
      </p:sp>
      <p:sp>
        <p:nvSpPr>
          <p:cNvPr id="15" name="TextBox 14"/>
          <p:cNvSpPr txBox="1"/>
          <p:nvPr/>
        </p:nvSpPr>
        <p:spPr>
          <a:xfrm>
            <a:off x="3200400" y="2651760"/>
            <a:ext cx="8229600" cy="365760"/>
          </a:xfrm>
          <a:prstGeom prst="rect">
            <a:avLst/>
          </a:prstGeom>
          <a:noFill/>
        </p:spPr>
        <p:txBody>
          <a:bodyPr wrap="none">
            <a:spAutoFit/>
          </a:bodyPr>
          <a:lstStyle/>
          <a:p>
            <a:pPr>
              <a:defRPr sz="1300">
                <a:solidFill>
                  <a:srgbClr val="404040"/>
                </a:solidFill>
              </a:defRPr>
            </a:pPr>
            <a:r>
              <a:t>10,000 bookings, delivery service live</a:t>
            </a:r>
          </a:p>
        </p:txBody>
      </p:sp>
      <p:sp>
        <p:nvSpPr>
          <p:cNvPr id="16" name="Oval 15"/>
          <p:cNvSpPr/>
          <p:nvPr/>
        </p:nvSpPr>
        <p:spPr>
          <a:xfrm>
            <a:off x="548640" y="3383280"/>
            <a:ext cx="228600" cy="22860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9224" y="3611880"/>
            <a:ext cx="27432" cy="411480"/>
          </a:xfrm>
          <a:prstGeom prst="rect">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3337560"/>
            <a:ext cx="1828800" cy="365760"/>
          </a:xfrm>
          <a:prstGeom prst="rect">
            <a:avLst/>
          </a:prstGeom>
          <a:noFill/>
        </p:spPr>
        <p:txBody>
          <a:bodyPr wrap="none">
            <a:spAutoFit/>
          </a:bodyPr>
          <a:lstStyle/>
          <a:p>
            <a:pPr>
              <a:defRPr sz="1400" b="1">
                <a:solidFill>
                  <a:srgbClr val="000000"/>
                </a:solidFill>
              </a:defRPr>
            </a:pPr>
            <a:r>
              <a:t>Q4 2026</a:t>
            </a:r>
          </a:p>
        </p:txBody>
      </p:sp>
      <p:sp>
        <p:nvSpPr>
          <p:cNvPr id="19" name="TextBox 18"/>
          <p:cNvSpPr txBox="1"/>
          <p:nvPr/>
        </p:nvSpPr>
        <p:spPr>
          <a:xfrm>
            <a:off x="3200400" y="3337560"/>
            <a:ext cx="8229600" cy="365760"/>
          </a:xfrm>
          <a:prstGeom prst="rect">
            <a:avLst/>
          </a:prstGeom>
          <a:noFill/>
        </p:spPr>
        <p:txBody>
          <a:bodyPr wrap="none">
            <a:spAutoFit/>
          </a:bodyPr>
          <a:lstStyle/>
          <a:p>
            <a:pPr>
              <a:defRPr sz="1300">
                <a:solidFill>
                  <a:srgbClr val="404040"/>
                </a:solidFill>
              </a:defRPr>
            </a:pPr>
            <a:r>
              <a:t>30,000 bookings, break-even achieved</a:t>
            </a:r>
          </a:p>
        </p:txBody>
      </p:sp>
      <p:sp>
        <p:nvSpPr>
          <p:cNvPr id="20" name="Oval 19"/>
          <p:cNvSpPr/>
          <p:nvPr/>
        </p:nvSpPr>
        <p:spPr>
          <a:xfrm>
            <a:off x="548640" y="4069080"/>
            <a:ext cx="228600" cy="22860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9224" y="4297680"/>
            <a:ext cx="27432" cy="411480"/>
          </a:xfrm>
          <a:prstGeom prst="rect">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 y="4023360"/>
            <a:ext cx="1828800" cy="365760"/>
          </a:xfrm>
          <a:prstGeom prst="rect">
            <a:avLst/>
          </a:prstGeom>
          <a:noFill/>
        </p:spPr>
        <p:txBody>
          <a:bodyPr wrap="none">
            <a:spAutoFit/>
          </a:bodyPr>
          <a:lstStyle/>
          <a:p>
            <a:pPr>
              <a:defRPr sz="1400" b="1">
                <a:solidFill>
                  <a:srgbClr val="000000"/>
                </a:solidFill>
              </a:defRPr>
            </a:pPr>
            <a:r>
              <a:t>Year 2</a:t>
            </a:r>
          </a:p>
        </p:txBody>
      </p:sp>
      <p:sp>
        <p:nvSpPr>
          <p:cNvPr id="23" name="TextBox 22"/>
          <p:cNvSpPr txBox="1"/>
          <p:nvPr/>
        </p:nvSpPr>
        <p:spPr>
          <a:xfrm>
            <a:off x="3200400" y="4023360"/>
            <a:ext cx="8229600" cy="365760"/>
          </a:xfrm>
          <a:prstGeom prst="rect">
            <a:avLst/>
          </a:prstGeom>
          <a:noFill/>
        </p:spPr>
        <p:txBody>
          <a:bodyPr wrap="none">
            <a:spAutoFit/>
          </a:bodyPr>
          <a:lstStyle/>
          <a:p>
            <a:pPr>
              <a:defRPr sz="1300">
                <a:solidFill>
                  <a:srgbClr val="404040"/>
                </a:solidFill>
              </a:defRPr>
            </a:pPr>
            <a:r>
              <a:t>50 cities, 500 partners, ₹1.27 Cr revenue</a:t>
            </a:r>
          </a:p>
        </p:txBody>
      </p:sp>
      <p:sp>
        <p:nvSpPr>
          <p:cNvPr id="24" name="Oval 23"/>
          <p:cNvSpPr/>
          <p:nvPr/>
        </p:nvSpPr>
        <p:spPr>
          <a:xfrm>
            <a:off x="548640" y="4754880"/>
            <a:ext cx="228600" cy="22860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9224" y="4983480"/>
            <a:ext cx="27432" cy="411480"/>
          </a:xfrm>
          <a:prstGeom prst="rect">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 y="4709160"/>
            <a:ext cx="1828800" cy="365760"/>
          </a:xfrm>
          <a:prstGeom prst="rect">
            <a:avLst/>
          </a:prstGeom>
          <a:noFill/>
        </p:spPr>
        <p:txBody>
          <a:bodyPr wrap="none">
            <a:spAutoFit/>
          </a:bodyPr>
          <a:lstStyle/>
          <a:p>
            <a:pPr>
              <a:defRPr sz="1400" b="1">
                <a:solidFill>
                  <a:srgbClr val="000000"/>
                </a:solidFill>
              </a:defRPr>
            </a:pPr>
            <a:r>
              <a:t>Year 3</a:t>
            </a:r>
          </a:p>
        </p:txBody>
      </p:sp>
      <p:sp>
        <p:nvSpPr>
          <p:cNvPr id="27" name="TextBox 26"/>
          <p:cNvSpPr txBox="1"/>
          <p:nvPr/>
        </p:nvSpPr>
        <p:spPr>
          <a:xfrm>
            <a:off x="3200400" y="4709160"/>
            <a:ext cx="8229600" cy="365760"/>
          </a:xfrm>
          <a:prstGeom prst="rect">
            <a:avLst/>
          </a:prstGeom>
          <a:noFill/>
        </p:spPr>
        <p:txBody>
          <a:bodyPr wrap="none">
            <a:spAutoFit/>
          </a:bodyPr>
          <a:lstStyle/>
          <a:p>
            <a:pPr>
              <a:defRPr sz="1300">
                <a:solidFill>
                  <a:srgbClr val="404040"/>
                </a:solidFill>
              </a:defRPr>
            </a:pPr>
            <a:r>
              <a:t>150 cities, 1,500 partners, ₹3.82 Cr revenue</a:t>
            </a:r>
          </a:p>
        </p:txBody>
      </p:sp>
      <p:sp>
        <p:nvSpPr>
          <p:cNvPr id="28" name="Oval 27"/>
          <p:cNvSpPr/>
          <p:nvPr/>
        </p:nvSpPr>
        <p:spPr>
          <a:xfrm>
            <a:off x="548640" y="5440680"/>
            <a:ext cx="228600" cy="22860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97280" y="5394960"/>
            <a:ext cx="1828800" cy="365760"/>
          </a:xfrm>
          <a:prstGeom prst="rect">
            <a:avLst/>
          </a:prstGeom>
          <a:noFill/>
        </p:spPr>
        <p:txBody>
          <a:bodyPr wrap="none">
            <a:spAutoFit/>
          </a:bodyPr>
          <a:lstStyle/>
          <a:p>
            <a:pPr>
              <a:defRPr sz="1400" b="1">
                <a:solidFill>
                  <a:srgbClr val="000000"/>
                </a:solidFill>
              </a:defRPr>
            </a:pPr>
            <a:r>
              <a:t>Year 5</a:t>
            </a:r>
          </a:p>
        </p:txBody>
      </p:sp>
      <p:sp>
        <p:nvSpPr>
          <p:cNvPr id="30" name="TextBox 29"/>
          <p:cNvSpPr txBox="1"/>
          <p:nvPr/>
        </p:nvSpPr>
        <p:spPr>
          <a:xfrm>
            <a:off x="3200400" y="5394960"/>
            <a:ext cx="8229600" cy="365760"/>
          </a:xfrm>
          <a:prstGeom prst="rect">
            <a:avLst/>
          </a:prstGeom>
          <a:noFill/>
        </p:spPr>
        <p:txBody>
          <a:bodyPr wrap="none">
            <a:spAutoFit/>
          </a:bodyPr>
          <a:lstStyle/>
          <a:p>
            <a:pPr>
              <a:defRPr sz="1300">
                <a:solidFill>
                  <a:srgbClr val="404040"/>
                </a:solidFill>
              </a:defRPr>
            </a:pPr>
            <a:r>
              <a:t>Exit readiness, ₹50+ Cr valuation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600" b="1">
                <a:solidFill>
                  <a:srgbClr val="000000"/>
                </a:solidFill>
              </a:defRPr>
            </a:pPr>
            <a:r>
              <a:t>Government Support</a:t>
            </a:r>
          </a:p>
          <a:p>
            <a:pPr>
              <a:defRPr sz="1600">
                <a:solidFill>
                  <a:srgbClr val="808080"/>
                </a:solidFill>
              </a:defRPr>
            </a:pPr>
            <a:r>
              <a:t>Leveraging startup policies</a:t>
            </a:r>
          </a:p>
        </p:txBody>
      </p:sp>
      <p:sp>
        <p:nvSpPr>
          <p:cNvPr id="4" name="TextBox 3"/>
          <p:cNvSpPr txBox="1"/>
          <p:nvPr/>
        </p:nvSpPr>
        <p:spPr>
          <a:xfrm>
            <a:off x="457200" y="1280160"/>
            <a:ext cx="4114800" cy="365760"/>
          </a:xfrm>
          <a:prstGeom prst="rect">
            <a:avLst/>
          </a:prstGeom>
          <a:noFill/>
        </p:spPr>
        <p:txBody>
          <a:bodyPr wrap="none">
            <a:spAutoFit/>
          </a:bodyPr>
          <a:lstStyle/>
          <a:p>
            <a:pPr>
              <a:defRPr sz="1600" b="1">
                <a:solidFill>
                  <a:srgbClr val="000000"/>
                </a:solidFill>
              </a:defRPr>
            </a:pPr>
            <a:r>
              <a:t>Gujarat Startup Policy</a:t>
            </a:r>
          </a:p>
        </p:txBody>
      </p:sp>
      <p:sp>
        <p:nvSpPr>
          <p:cNvPr id="5" name="TextBox 4"/>
          <p:cNvSpPr txBox="1"/>
          <p:nvPr/>
        </p:nvSpPr>
        <p:spPr>
          <a:xfrm>
            <a:off x="4754880" y="1280160"/>
            <a:ext cx="457200" cy="365760"/>
          </a:xfrm>
          <a:prstGeom prst="rect">
            <a:avLst/>
          </a:prstGeom>
          <a:noFill/>
        </p:spPr>
        <p:txBody>
          <a:bodyPr wrap="none">
            <a:spAutoFit/>
          </a:bodyPr>
          <a:lstStyle/>
          <a:p>
            <a:pPr>
              <a:defRPr sz="1800">
                <a:solidFill>
                  <a:srgbClr val="FFD700"/>
                </a:solidFill>
              </a:defRPr>
            </a:pPr>
            <a:r>
              <a:t>→</a:t>
            </a:r>
          </a:p>
        </p:txBody>
      </p:sp>
      <p:sp>
        <p:nvSpPr>
          <p:cNvPr id="6" name="TextBox 5"/>
          <p:cNvSpPr txBox="1"/>
          <p:nvPr/>
        </p:nvSpPr>
        <p:spPr>
          <a:xfrm>
            <a:off x="5303520" y="1280160"/>
            <a:ext cx="5943600" cy="365760"/>
          </a:xfrm>
          <a:prstGeom prst="rect">
            <a:avLst/>
          </a:prstGeom>
          <a:noFill/>
        </p:spPr>
        <p:txBody>
          <a:bodyPr wrap="none">
            <a:spAutoFit/>
          </a:bodyPr>
          <a:lstStyle/>
          <a:p>
            <a:pPr>
              <a:defRPr sz="1300">
                <a:solidFill>
                  <a:srgbClr val="404040"/>
                </a:solidFill>
              </a:defRPr>
            </a:pPr>
            <a:r>
              <a:t>Up to ₹30 Lakh seed funding</a:t>
            </a:r>
          </a:p>
        </p:txBody>
      </p:sp>
      <p:sp>
        <p:nvSpPr>
          <p:cNvPr id="7" name="TextBox 6"/>
          <p:cNvSpPr txBox="1"/>
          <p:nvPr/>
        </p:nvSpPr>
        <p:spPr>
          <a:xfrm>
            <a:off x="457200" y="2194560"/>
            <a:ext cx="4114800" cy="365760"/>
          </a:xfrm>
          <a:prstGeom prst="rect">
            <a:avLst/>
          </a:prstGeom>
          <a:noFill/>
        </p:spPr>
        <p:txBody>
          <a:bodyPr wrap="none">
            <a:spAutoFit/>
          </a:bodyPr>
          <a:lstStyle/>
          <a:p>
            <a:pPr>
              <a:defRPr sz="1600" b="1">
                <a:solidFill>
                  <a:srgbClr val="000000"/>
                </a:solidFill>
              </a:defRPr>
            </a:pPr>
            <a:r>
              <a:t>Startup India</a:t>
            </a:r>
          </a:p>
        </p:txBody>
      </p:sp>
      <p:sp>
        <p:nvSpPr>
          <p:cNvPr id="8" name="TextBox 7"/>
          <p:cNvSpPr txBox="1"/>
          <p:nvPr/>
        </p:nvSpPr>
        <p:spPr>
          <a:xfrm>
            <a:off x="4754880" y="2194560"/>
            <a:ext cx="457200" cy="365760"/>
          </a:xfrm>
          <a:prstGeom prst="rect">
            <a:avLst/>
          </a:prstGeom>
          <a:noFill/>
        </p:spPr>
        <p:txBody>
          <a:bodyPr wrap="none">
            <a:spAutoFit/>
          </a:bodyPr>
          <a:lstStyle/>
          <a:p>
            <a:pPr>
              <a:defRPr sz="1800">
                <a:solidFill>
                  <a:srgbClr val="FFD700"/>
                </a:solidFill>
              </a:defRPr>
            </a:pPr>
            <a:r>
              <a:t>→</a:t>
            </a:r>
          </a:p>
        </p:txBody>
      </p:sp>
      <p:sp>
        <p:nvSpPr>
          <p:cNvPr id="9" name="TextBox 8"/>
          <p:cNvSpPr txBox="1"/>
          <p:nvPr/>
        </p:nvSpPr>
        <p:spPr>
          <a:xfrm>
            <a:off x="5303520" y="2194560"/>
            <a:ext cx="5943600" cy="365760"/>
          </a:xfrm>
          <a:prstGeom prst="rect">
            <a:avLst/>
          </a:prstGeom>
          <a:noFill/>
        </p:spPr>
        <p:txBody>
          <a:bodyPr wrap="none">
            <a:spAutoFit/>
          </a:bodyPr>
          <a:lstStyle/>
          <a:p>
            <a:pPr>
              <a:defRPr sz="1300">
                <a:solidFill>
                  <a:srgbClr val="404040"/>
                </a:solidFill>
              </a:defRPr>
            </a:pPr>
            <a:r>
              <a:t>Tax holiday for 3 years</a:t>
            </a:r>
          </a:p>
        </p:txBody>
      </p:sp>
      <p:sp>
        <p:nvSpPr>
          <p:cNvPr id="10" name="TextBox 9"/>
          <p:cNvSpPr txBox="1"/>
          <p:nvPr/>
        </p:nvSpPr>
        <p:spPr>
          <a:xfrm>
            <a:off x="457200" y="3108960"/>
            <a:ext cx="4114800" cy="365760"/>
          </a:xfrm>
          <a:prstGeom prst="rect">
            <a:avLst/>
          </a:prstGeom>
          <a:noFill/>
        </p:spPr>
        <p:txBody>
          <a:bodyPr wrap="none">
            <a:spAutoFit/>
          </a:bodyPr>
          <a:lstStyle/>
          <a:p>
            <a:pPr>
              <a:defRPr sz="1600" b="1">
                <a:solidFill>
                  <a:srgbClr val="000000"/>
                </a:solidFill>
              </a:defRPr>
            </a:pPr>
            <a:r>
              <a:t>GST Benefits</a:t>
            </a:r>
          </a:p>
        </p:txBody>
      </p:sp>
      <p:sp>
        <p:nvSpPr>
          <p:cNvPr id="11" name="TextBox 10"/>
          <p:cNvSpPr txBox="1"/>
          <p:nvPr/>
        </p:nvSpPr>
        <p:spPr>
          <a:xfrm>
            <a:off x="4754880" y="3108960"/>
            <a:ext cx="457200" cy="365760"/>
          </a:xfrm>
          <a:prstGeom prst="rect">
            <a:avLst/>
          </a:prstGeom>
          <a:noFill/>
        </p:spPr>
        <p:txBody>
          <a:bodyPr wrap="none">
            <a:spAutoFit/>
          </a:bodyPr>
          <a:lstStyle/>
          <a:p>
            <a:pPr>
              <a:defRPr sz="1800">
                <a:solidFill>
                  <a:srgbClr val="FFD700"/>
                </a:solidFill>
              </a:defRPr>
            </a:pPr>
            <a:r>
              <a:t>→</a:t>
            </a:r>
          </a:p>
        </p:txBody>
      </p:sp>
      <p:sp>
        <p:nvSpPr>
          <p:cNvPr id="12" name="TextBox 11"/>
          <p:cNvSpPr txBox="1"/>
          <p:nvPr/>
        </p:nvSpPr>
        <p:spPr>
          <a:xfrm>
            <a:off x="5303520" y="3108960"/>
            <a:ext cx="5943600" cy="365760"/>
          </a:xfrm>
          <a:prstGeom prst="rect">
            <a:avLst/>
          </a:prstGeom>
          <a:noFill/>
        </p:spPr>
        <p:txBody>
          <a:bodyPr wrap="none">
            <a:spAutoFit/>
          </a:bodyPr>
          <a:lstStyle/>
          <a:p>
            <a:pPr>
              <a:defRPr sz="1300">
                <a:solidFill>
                  <a:srgbClr val="404040"/>
                </a:solidFill>
              </a:defRPr>
            </a:pPr>
            <a:r>
              <a:t>Input credit on tech expenses</a:t>
            </a:r>
          </a:p>
        </p:txBody>
      </p:sp>
      <p:sp>
        <p:nvSpPr>
          <p:cNvPr id="13" name="TextBox 12"/>
          <p:cNvSpPr txBox="1"/>
          <p:nvPr/>
        </p:nvSpPr>
        <p:spPr>
          <a:xfrm>
            <a:off x="457200" y="4023360"/>
            <a:ext cx="4114800" cy="365760"/>
          </a:xfrm>
          <a:prstGeom prst="rect">
            <a:avLst/>
          </a:prstGeom>
          <a:noFill/>
        </p:spPr>
        <p:txBody>
          <a:bodyPr wrap="none">
            <a:spAutoFit/>
          </a:bodyPr>
          <a:lstStyle/>
          <a:p>
            <a:pPr>
              <a:defRPr sz="1600" b="1">
                <a:solidFill>
                  <a:srgbClr val="000000"/>
                </a:solidFill>
              </a:defRPr>
            </a:pPr>
            <a:r>
              <a:t>MUDRA/MSME Loans</a:t>
            </a:r>
          </a:p>
        </p:txBody>
      </p:sp>
      <p:sp>
        <p:nvSpPr>
          <p:cNvPr id="14" name="TextBox 13"/>
          <p:cNvSpPr txBox="1"/>
          <p:nvPr/>
        </p:nvSpPr>
        <p:spPr>
          <a:xfrm>
            <a:off x="4754880" y="4023360"/>
            <a:ext cx="457200" cy="365760"/>
          </a:xfrm>
          <a:prstGeom prst="rect">
            <a:avLst/>
          </a:prstGeom>
          <a:noFill/>
        </p:spPr>
        <p:txBody>
          <a:bodyPr wrap="none">
            <a:spAutoFit/>
          </a:bodyPr>
          <a:lstStyle/>
          <a:p>
            <a:pPr>
              <a:defRPr sz="1800">
                <a:solidFill>
                  <a:srgbClr val="FFD700"/>
                </a:solidFill>
              </a:defRPr>
            </a:pPr>
            <a:r>
              <a:t>→</a:t>
            </a:r>
          </a:p>
        </p:txBody>
      </p:sp>
      <p:sp>
        <p:nvSpPr>
          <p:cNvPr id="15" name="TextBox 14"/>
          <p:cNvSpPr txBox="1"/>
          <p:nvPr/>
        </p:nvSpPr>
        <p:spPr>
          <a:xfrm>
            <a:off x="5303520" y="4023360"/>
            <a:ext cx="5943600" cy="365760"/>
          </a:xfrm>
          <a:prstGeom prst="rect">
            <a:avLst/>
          </a:prstGeom>
          <a:noFill/>
        </p:spPr>
        <p:txBody>
          <a:bodyPr wrap="none">
            <a:spAutoFit/>
          </a:bodyPr>
          <a:lstStyle/>
          <a:p>
            <a:pPr>
              <a:defRPr sz="1300">
                <a:solidFill>
                  <a:srgbClr val="404040"/>
                </a:solidFill>
              </a:defRPr>
            </a:pPr>
            <a:r>
              <a:t>₹10-50 Lakh low-interest debt</a:t>
            </a:r>
          </a:p>
        </p:txBody>
      </p:sp>
      <p:sp>
        <p:nvSpPr>
          <p:cNvPr id="16" name="TextBox 15"/>
          <p:cNvSpPr txBox="1"/>
          <p:nvPr/>
        </p:nvSpPr>
        <p:spPr>
          <a:xfrm>
            <a:off x="457200" y="4937760"/>
            <a:ext cx="4114800" cy="365760"/>
          </a:xfrm>
          <a:prstGeom prst="rect">
            <a:avLst/>
          </a:prstGeom>
          <a:noFill/>
        </p:spPr>
        <p:txBody>
          <a:bodyPr wrap="none">
            <a:spAutoFit/>
          </a:bodyPr>
          <a:lstStyle/>
          <a:p>
            <a:pPr>
              <a:defRPr sz="1600" b="1">
                <a:solidFill>
                  <a:srgbClr val="000000"/>
                </a:solidFill>
              </a:defRPr>
            </a:pPr>
            <a:r>
              <a:t>iCreate/AIC Support</a:t>
            </a:r>
          </a:p>
        </p:txBody>
      </p:sp>
      <p:sp>
        <p:nvSpPr>
          <p:cNvPr id="17" name="TextBox 16"/>
          <p:cNvSpPr txBox="1"/>
          <p:nvPr/>
        </p:nvSpPr>
        <p:spPr>
          <a:xfrm>
            <a:off x="4754880" y="4937760"/>
            <a:ext cx="457200" cy="365760"/>
          </a:xfrm>
          <a:prstGeom prst="rect">
            <a:avLst/>
          </a:prstGeom>
          <a:noFill/>
        </p:spPr>
        <p:txBody>
          <a:bodyPr wrap="none">
            <a:spAutoFit/>
          </a:bodyPr>
          <a:lstStyle/>
          <a:p>
            <a:pPr>
              <a:defRPr sz="1800">
                <a:solidFill>
                  <a:srgbClr val="FFD700"/>
                </a:solidFill>
              </a:defRPr>
            </a:pPr>
            <a:r>
              <a:t>→</a:t>
            </a:r>
          </a:p>
        </p:txBody>
      </p:sp>
      <p:sp>
        <p:nvSpPr>
          <p:cNvPr id="18" name="TextBox 17"/>
          <p:cNvSpPr txBox="1"/>
          <p:nvPr/>
        </p:nvSpPr>
        <p:spPr>
          <a:xfrm>
            <a:off x="5303520" y="4937760"/>
            <a:ext cx="5943600" cy="365760"/>
          </a:xfrm>
          <a:prstGeom prst="rect">
            <a:avLst/>
          </a:prstGeom>
          <a:noFill/>
        </p:spPr>
        <p:txBody>
          <a:bodyPr wrap="none">
            <a:spAutoFit/>
          </a:bodyPr>
          <a:lstStyle/>
          <a:p>
            <a:pPr>
              <a:defRPr sz="1300">
                <a:solidFill>
                  <a:srgbClr val="404040"/>
                </a:solidFill>
              </a:defRPr>
            </a:pPr>
            <a:r>
              <a:t>Free mentoring, co-working space</a:t>
            </a:r>
          </a:p>
        </p:txBody>
      </p:sp>
      <p:sp>
        <p:nvSpPr>
          <p:cNvPr id="19" name="Rounded Rectangle 18"/>
          <p:cNvSpPr/>
          <p:nvPr/>
        </p:nvSpPr>
        <p:spPr>
          <a:xfrm>
            <a:off x="457200" y="5486400"/>
            <a:ext cx="5486400" cy="1097280"/>
          </a:xfrm>
          <a:prstGeom prst="roundRect">
            <a:avLst/>
          </a:prstGeom>
          <a:solidFill>
            <a:srgbClr val="FFFADC"/>
          </a:solidFill>
          <a:ln>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623560"/>
            <a:ext cx="5120640" cy="822960"/>
          </a:xfrm>
          <a:prstGeom prst="rect">
            <a:avLst/>
          </a:prstGeom>
          <a:noFill/>
        </p:spPr>
        <p:txBody>
          <a:bodyPr wrap="none">
            <a:spAutoFit/>
          </a:bodyPr>
          <a:lstStyle/>
          <a:p>
            <a:pPr>
              <a:defRPr sz="1600" b="1">
                <a:solidFill>
                  <a:srgbClr val="000000"/>
                </a:solidFill>
              </a:defRPr>
            </a:pPr>
            <a:r>
              <a:t>Kutch Advantage</a:t>
            </a:r>
          </a:p>
          <a:p>
            <a:pPr>
              <a:defRPr sz="1200">
                <a:solidFill>
                  <a:srgbClr val="404040"/>
                </a:solidFill>
              </a:defRPr>
            </a:pPr>
            <a:r>
              <a:t>Gujarat government actively supports</a:t>
            </a:r>
          </a:p>
          <a:p>
            <a:pPr>
              <a:defRPr sz="1200">
                <a:solidFill>
                  <a:srgbClr val="404040"/>
                </a:solidFill>
              </a:defRPr>
            </a:pPr>
            <a:r>
              <a:t>tourism &amp; logistics startups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600" b="1">
                <a:solidFill>
                  <a:srgbClr val="000000"/>
                </a:solidFill>
              </a:defRPr>
            </a:pPr>
            <a:r>
              <a:t>Join Us</a:t>
            </a:r>
          </a:p>
          <a:p>
            <a:pPr>
              <a:defRPr sz="1600">
                <a:solidFill>
                  <a:srgbClr val="808080"/>
                </a:solidFill>
              </a:defRPr>
            </a:pPr>
            <a:r>
              <a:t>Be part of India's travel revolution</a:t>
            </a:r>
          </a:p>
        </p:txBody>
      </p:sp>
      <p:sp>
        <p:nvSpPr>
          <p:cNvPr id="4" name="Rounded Rectangle 3"/>
          <p:cNvSpPr/>
          <p:nvPr/>
        </p:nvSpPr>
        <p:spPr>
          <a:xfrm>
            <a:off x="457200" y="1188720"/>
            <a:ext cx="5486400" cy="2743200"/>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5120640" cy="2377440"/>
          </a:xfrm>
          <a:prstGeom prst="rect">
            <a:avLst/>
          </a:prstGeom>
          <a:noFill/>
        </p:spPr>
        <p:txBody>
          <a:bodyPr wrap="none">
            <a:spAutoFit/>
          </a:bodyPr>
          <a:lstStyle/>
          <a:p>
            <a:pPr>
              <a:defRPr sz="2000" b="1">
                <a:solidFill>
                  <a:srgbClr val="000000"/>
                </a:solidFill>
              </a:defRPr>
            </a:pPr>
            <a:r>
              <a:t>Investment Opportunity</a:t>
            </a:r>
          </a:p>
          <a:p>
            <a:pPr>
              <a:defRPr sz="1600">
                <a:solidFill>
                  <a:srgbClr val="000000"/>
                </a:solidFill>
              </a:defRPr>
            </a:pPr>
          </a:p>
          <a:p>
            <a:pPr>
              <a:defRPr sz="1600" b="1">
                <a:solidFill>
                  <a:srgbClr val="404040"/>
                </a:solidFill>
              </a:defRPr>
            </a:pPr>
            <a:r>
              <a:t>Seed Funding: ₹36 Lakh</a:t>
            </a:r>
          </a:p>
          <a:p>
            <a:pPr>
              <a:defRPr sz="1600">
                <a:solidFill>
                  <a:srgbClr val="404040"/>
                </a:solidFill>
              </a:defRPr>
            </a:pPr>
            <a:r>
              <a:t>Expected Return: 5-10x</a:t>
            </a:r>
          </a:p>
          <a:p>
            <a:pPr>
              <a:defRPr sz="1600">
                <a:solidFill>
                  <a:srgbClr val="404040"/>
                </a:solidFill>
              </a:defRPr>
            </a:pPr>
            <a:r>
              <a:t>Break-even: Month 10-11</a:t>
            </a:r>
          </a:p>
          <a:p>
            <a:pPr>
              <a:defRPr sz="1600">
                <a:solidFill>
                  <a:srgbClr val="404040"/>
                </a:solidFill>
              </a:defRPr>
            </a:pPr>
            <a:r>
              <a:t>Market: ₹2,000+ Crore TAM</a:t>
            </a:r>
          </a:p>
        </p:txBody>
      </p:sp>
      <p:sp>
        <p:nvSpPr>
          <p:cNvPr id="6" name="TextBox 5"/>
          <p:cNvSpPr txBox="1"/>
          <p:nvPr/>
        </p:nvSpPr>
        <p:spPr>
          <a:xfrm>
            <a:off x="6400800" y="1280160"/>
            <a:ext cx="5303520" cy="457200"/>
          </a:xfrm>
          <a:prstGeom prst="rect">
            <a:avLst/>
          </a:prstGeom>
          <a:noFill/>
        </p:spPr>
        <p:txBody>
          <a:bodyPr wrap="none">
            <a:spAutoFit/>
          </a:bodyPr>
          <a:lstStyle/>
          <a:p>
            <a:pPr>
              <a:defRPr sz="1300">
                <a:solidFill>
                  <a:srgbClr val="000000"/>
                </a:solidFill>
              </a:defRPr>
            </a:pPr>
            <a:r>
              <a:t>✓ Solves real pain point (70% travelers affected)</a:t>
            </a:r>
          </a:p>
        </p:txBody>
      </p:sp>
      <p:sp>
        <p:nvSpPr>
          <p:cNvPr id="7" name="TextBox 6"/>
          <p:cNvSpPr txBox="1"/>
          <p:nvPr/>
        </p:nvSpPr>
        <p:spPr>
          <a:xfrm>
            <a:off x="6400800" y="1920239"/>
            <a:ext cx="5303520" cy="457200"/>
          </a:xfrm>
          <a:prstGeom prst="rect">
            <a:avLst/>
          </a:prstGeom>
          <a:noFill/>
        </p:spPr>
        <p:txBody>
          <a:bodyPr wrap="none">
            <a:spAutoFit/>
          </a:bodyPr>
          <a:lstStyle/>
          <a:p>
            <a:pPr>
              <a:defRPr sz="1300">
                <a:solidFill>
                  <a:srgbClr val="000000"/>
                </a:solidFill>
              </a:defRPr>
            </a:pPr>
            <a:r>
              <a:t>✓ Unique USP: Forgotten luggage delivery</a:t>
            </a:r>
          </a:p>
        </p:txBody>
      </p:sp>
      <p:sp>
        <p:nvSpPr>
          <p:cNvPr id="8" name="TextBox 7"/>
          <p:cNvSpPr txBox="1"/>
          <p:nvPr/>
        </p:nvSpPr>
        <p:spPr>
          <a:xfrm>
            <a:off x="6400800" y="2560320"/>
            <a:ext cx="5303520" cy="457200"/>
          </a:xfrm>
          <a:prstGeom prst="rect">
            <a:avLst/>
          </a:prstGeom>
          <a:noFill/>
        </p:spPr>
        <p:txBody>
          <a:bodyPr wrap="none">
            <a:spAutoFit/>
          </a:bodyPr>
          <a:lstStyle/>
          <a:p>
            <a:pPr>
              <a:defRPr sz="1300">
                <a:solidFill>
                  <a:srgbClr val="000000"/>
                </a:solidFill>
              </a:defRPr>
            </a:pPr>
            <a:r>
              <a:t>✓ Asset-light, scalable model</a:t>
            </a:r>
          </a:p>
        </p:txBody>
      </p:sp>
      <p:sp>
        <p:nvSpPr>
          <p:cNvPr id="9" name="TextBox 8"/>
          <p:cNvSpPr txBox="1"/>
          <p:nvPr/>
        </p:nvSpPr>
        <p:spPr>
          <a:xfrm>
            <a:off x="6400800" y="3200399"/>
            <a:ext cx="5303520" cy="457200"/>
          </a:xfrm>
          <a:prstGeom prst="rect">
            <a:avLst/>
          </a:prstGeom>
          <a:noFill/>
        </p:spPr>
        <p:txBody>
          <a:bodyPr wrap="none">
            <a:spAutoFit/>
          </a:bodyPr>
          <a:lstStyle/>
          <a:p>
            <a:pPr>
              <a:defRPr sz="1300">
                <a:solidFill>
                  <a:srgbClr val="000000"/>
                </a:solidFill>
              </a:defRPr>
            </a:pPr>
            <a:r>
              <a:t>✓ Experienced team with local expertise</a:t>
            </a:r>
          </a:p>
        </p:txBody>
      </p:sp>
      <p:sp>
        <p:nvSpPr>
          <p:cNvPr id="10" name="TextBox 9"/>
          <p:cNvSpPr txBox="1"/>
          <p:nvPr/>
        </p:nvSpPr>
        <p:spPr>
          <a:xfrm>
            <a:off x="6400800" y="3840479"/>
            <a:ext cx="5303520" cy="457200"/>
          </a:xfrm>
          <a:prstGeom prst="rect">
            <a:avLst/>
          </a:prstGeom>
          <a:noFill/>
        </p:spPr>
        <p:txBody>
          <a:bodyPr wrap="none">
            <a:spAutoFit/>
          </a:bodyPr>
          <a:lstStyle/>
          <a:p>
            <a:pPr>
              <a:defRPr sz="1300">
                <a:solidFill>
                  <a:srgbClr val="000000"/>
                </a:solidFill>
              </a:defRPr>
            </a:pPr>
            <a:r>
              <a:t>✓ Government support &amp; startup benefits</a:t>
            </a:r>
          </a:p>
        </p:txBody>
      </p:sp>
      <p:sp>
        <p:nvSpPr>
          <p:cNvPr id="11" name="TextBox 10"/>
          <p:cNvSpPr txBox="1"/>
          <p:nvPr/>
        </p:nvSpPr>
        <p:spPr>
          <a:xfrm>
            <a:off x="6400800" y="4480560"/>
            <a:ext cx="5303520" cy="457200"/>
          </a:xfrm>
          <a:prstGeom prst="rect">
            <a:avLst/>
          </a:prstGeom>
          <a:noFill/>
        </p:spPr>
        <p:txBody>
          <a:bodyPr wrap="none">
            <a:spAutoFit/>
          </a:bodyPr>
          <a:lstStyle/>
          <a:p>
            <a:pPr>
              <a:defRPr sz="1300">
                <a:solidFill>
                  <a:srgbClr val="000000"/>
                </a:solidFill>
              </a:defRPr>
            </a:pPr>
            <a:r>
              <a:t>✓ Clear path to profitability &amp; exit</a:t>
            </a:r>
          </a:p>
        </p:txBody>
      </p:sp>
      <p:sp>
        <p:nvSpPr>
          <p:cNvPr id="12" name="Rectangle 11"/>
          <p:cNvSpPr/>
          <p:nvPr/>
        </p:nvSpPr>
        <p:spPr>
          <a:xfrm>
            <a:off x="457200" y="4572000"/>
            <a:ext cx="11277295" cy="18288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754880"/>
            <a:ext cx="10362895" cy="1463040"/>
          </a:xfrm>
          <a:prstGeom prst="rect">
            <a:avLst/>
          </a:prstGeom>
          <a:noFill/>
        </p:spPr>
        <p:txBody>
          <a:bodyPr wrap="none">
            <a:spAutoFit/>
          </a:bodyPr>
          <a:lstStyle/>
          <a:p>
            <a:pPr algn="ctr">
              <a:defRPr sz="2400" b="1">
                <a:solidFill>
                  <a:srgbClr val="FFD700"/>
                </a:solidFill>
              </a:defRPr>
            </a:pPr>
            <a:r>
              <a:t>TeamBack | Kutch, Gujarat</a:t>
            </a:r>
          </a:p>
          <a:p>
            <a:pPr algn="ctr">
              <a:defRPr sz="1800">
                <a:solidFill>
                  <a:srgbClr val="FFFFFF"/>
                </a:solidFill>
              </a:defRPr>
            </a:pPr>
            <a:r>
              <a:t>Ready to transform travel in India</a:t>
            </a:r>
          </a:p>
          <a:p/>
          <a:p>
            <a:pPr algn="ctr">
              <a:defRPr sz="2000" b="1">
                <a:solidFill>
                  <a:srgbClr val="FFD700"/>
                </a:solidFill>
              </a:defRPr>
            </a:pPr>
            <a:r>
              <a:t>Thank You! Questions?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362895" cy="1371600"/>
          </a:xfrm>
          <a:prstGeom prst="rect">
            <a:avLst/>
          </a:prstGeom>
          <a:noFill/>
        </p:spPr>
        <p:txBody>
          <a:bodyPr wrap="none">
            <a:spAutoFit/>
          </a:bodyPr>
          <a:lstStyle/>
          <a:p>
            <a:pPr algn="ctr">
              <a:defRPr sz="7200" b="1">
                <a:solidFill>
                  <a:srgbClr val="000000"/>
                </a:solidFill>
              </a:defRPr>
            </a:pPr>
            <a:r>
              <a:t>Thank You!</a:t>
            </a:r>
          </a:p>
        </p:txBody>
      </p:sp>
      <p:sp>
        <p:nvSpPr>
          <p:cNvPr id="4" name="TextBox 3"/>
          <p:cNvSpPr txBox="1"/>
          <p:nvPr/>
        </p:nvSpPr>
        <p:spPr>
          <a:xfrm>
            <a:off x="914400" y="3657600"/>
            <a:ext cx="10362895" cy="731520"/>
          </a:xfrm>
          <a:prstGeom prst="rect">
            <a:avLst/>
          </a:prstGeom>
          <a:noFill/>
        </p:spPr>
        <p:txBody>
          <a:bodyPr wrap="none">
            <a:spAutoFit/>
          </a:bodyPr>
          <a:lstStyle/>
          <a:p>
            <a:pPr algn="ctr">
              <a:defRPr sz="2800">
                <a:solidFill>
                  <a:srgbClr val="808080"/>
                </a:solidFill>
              </a:defRPr>
            </a:pPr>
            <a:r>
              <a:t>BagDrop: India's Smart Luggage Storage Network</a:t>
            </a:r>
          </a:p>
        </p:txBody>
      </p:sp>
      <p:sp>
        <p:nvSpPr>
          <p:cNvPr id="5" name="TextBox 4"/>
          <p:cNvSpPr txBox="1"/>
          <p:nvPr/>
        </p:nvSpPr>
        <p:spPr>
          <a:xfrm>
            <a:off x="914400" y="4572000"/>
            <a:ext cx="10362895" cy="914400"/>
          </a:xfrm>
          <a:prstGeom prst="rect">
            <a:avLst/>
          </a:prstGeom>
          <a:noFill/>
        </p:spPr>
        <p:txBody>
          <a:bodyPr wrap="none">
            <a:spAutoFit/>
          </a:bodyPr>
          <a:lstStyle/>
          <a:p>
            <a:pPr algn="ctr">
              <a:defRPr sz="1800">
                <a:solidFill>
                  <a:srgbClr val="404040"/>
                </a:solidFill>
              </a:defRPr>
            </a:pPr>
            <a:r>
              <a:t>TeamBack | Kutch, Gujarat | January 2026</a:t>
            </a:r>
          </a:p>
          <a:p>
            <a:pPr algn="ctr">
              <a:defRPr sz="1800">
                <a:solidFill>
                  <a:srgbClr val="404040"/>
                </a:solidFill>
              </a:defRPr>
            </a:pPr>
            <a:r>
              <a:t>Questions &amp; Answers</a:t>
            </a:r>
          </a:p>
        </p:txBody>
      </p:sp>
      <p:sp>
        <p:nvSpPr>
          <p:cNvPr id="6" name="Rectangle 5"/>
          <p:cNvSpPr/>
          <p:nvPr/>
        </p:nvSpPr>
        <p:spPr>
          <a:xfrm>
            <a:off x="3657600" y="5669280"/>
            <a:ext cx="4876495" cy="13716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