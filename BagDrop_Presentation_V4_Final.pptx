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judges! We're TeamBack from Kutch, Gujarat. BagDrop is India's smart luggage storage network. We solve a problem faced by 70% of travelers.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70% of travelers face luggage problems. Early checkout with late departure means hours of frustration. Railway lockers are expensive at ₹100+/day and often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BagDrop partners with local shops for secure storage. Contactless OTP/NFC access. Unique delivery service for forgotten luggage - NO competitor offers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Kutch, Gujarat is perfect for launch. Rann Utsav brings 5L+ visitors. Major railway stations. 12% tourism growth. Strategic location near Mundra Port and Dholavira.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serve 5 segments: Tourists visiting Rann Utsav, train/bus travelers with layovers, budget students, business travelers needing premium service, and our unique segment - forgotten luggage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Massive market opportunity. TAM is ₹2,000+ Crore. SAM of ₹500 Crore in Gujarat + major cities. Our Year 1 target is ₹36 Lakh, growing to ₹1.27 Crore by Year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revenue streams. Primary is 30% commission on storage. 20% on delivery fees. NFC tokens, kiosk ads, and partner subscriptions add pure margin. Starting price ₹50 for 6 hours beats railway lockers.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5-step process. Find nearby location. Book and pay. Drop bags with OTP/NFC token. Retrieve easily. And unique delivery service for forgotten luggage.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 stack includes UPI, cards, NFC payments. OTP and NFC token security. iOS/Android app, self-service kiosks, partner dashboard with real-time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BagDrop beats competitors on every metric. Half the price. Better security. Multiple payment options. 24/7 support. And our unique USP: forgotten luggage delivery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growth trajectory. Year 1: ₹36.8L revenue with 1.32L bookings. Year 3: ₹3.82Cr with 15L bookings. Break-even at Month 10-11. Profitable from Q4 onwards.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Seeking ₹36 Lakh seed funding. Breakdown: ₹5L tech, ₹18L runway, ₹6.5L marketing, ₹3L equipment, ₹3.25L contingency. Expected 5-10x returns with ₹50+ Cr valuation by Year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TeamBack from Kutch, Gujarat. 5 core roles: CEO, CTO, Operations, Logistics, Support. Growing to 8 members by Year 1. Local expertise gives us deep market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Multi-channel marketing: Digital ads (₹55K/month), influencers (₹30K), transit hubs (₹25K). Referral program with ₹50 credits. Partner onboarding with 70% revenue share. Total annual budget: ₹6.45 Lakh.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We've identified risks and mitigation strategies. Low bookings? Referral programs. Partner defaults? Weekly settlements with deposits. Theft? Insurance and CCTV. Competition? Our delivery USP. Payment disputes? Clear terms and escrow.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exit paths. Most likely: acquisition by MakeMyTrip/Goibibo/Delhivery (70%). Merger with logistics (15%). Tech licensing (10%). IPO long-term (5%). Target: ₹50+ Cr valuation by Year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5-year roadmap. Q1: App launch. Q4: Break-even at 30K bookings. Year 2: 50 cities, ₹1.27Cr. Year 3: 150 cities, ₹3.82Cr. Year 5: Exit readiness with ₹50+ Cr 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Leveraging government support: Gujarat Startup Policy (₹30L), Startup India tax holiday, GST benefits, MUDRA loans, iCreate/AIC mentoring. Kutch location gives us access to active tourism startup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to action: ₹36 Lakh seed funding. Expected 5-10x returns. Why invest? Real problem, unique USP, scalable model, experienced team, government support, clear exit path. Join TeamBack from Kutch, Gujarat!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attention! Happy to answer questions about BagDrop, our business model, financials, or partnership opportunities. Contact TeamBack in Kutch, Gujarat. Let's revolutionize travel in India!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828800" cy="2743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00000"/>
                </a:solidFill>
                <a:latin typeface="Arial Black"/>
              </a:defRPr>
            </a:pPr>
            <a:r>
              <a:t>BAGDROP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82828"/>
                </a:solidFill>
                <a:latin typeface="Montserrat"/>
              </a:defRPr>
            </a:pPr>
            <a:r>
              <a:t>SMART LUGGAGE STORAGE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D700"/>
                </a:solidFill>
                <a:latin typeface="Montserrat"/>
              </a:defRPr>
            </a:pPr>
            <a:r>
              <a:t>Secure. Contactless. Affordable.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78"/>
                </a:solidFill>
                <a:latin typeface="Montserrat"/>
              </a:defRPr>
            </a:pPr>
            <a:r>
              <a:t>TeamBack | Kutch, Gujarat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0"/>
            <a:ext cx="2590495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87878"/>
                </a:solidFill>
                <a:latin typeface="Montserrat"/>
              </a:defRPr>
            </a:pPr>
            <a:r>
              <a:t>Travelers face a daily struggle with luggage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53035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t>EARLY CHECKOUT, LATE DEPARTURE</a:t>
            </a:r>
            <a:br/>
            <a:r>
              <a:t>Hotels force checkout but flights are hours away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560320"/>
            <a:ext cx="53035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834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t>HEAVY BAGS, RUINED PLANS</a:t>
            </a:r>
            <a:br/>
            <a:r>
              <a:t>Dragging luggage kills the travel 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53035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t>CLOAKROOMS? OVERPRICED</a:t>
            </a:r>
            <a:br/>
            <a:r>
              <a:t>Railway lockers cost ₹100+/day, often full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114800"/>
            <a:ext cx="53035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389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t>FORGOT YOUR BAG?</a:t>
            </a:r>
            <a:br/>
            <a:r>
              <a:t>No easy way to retrieve forgotten luggage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t>70% of travelers have faced luggage hassles during their trip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D700"/>
                </a:solidFill>
                <a:latin typeface="Arial Black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Store your bags anywhere. Pick them up anytime.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NEIGHBORHOOD NETWORK</a:t>
            </a:r>
            <a:br/>
            <a:r>
              <a:t>We partner with verified local shops, cafes &amp; hotels as storage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INSTANT ACCESS</a:t>
            </a:r>
            <a:br/>
            <a:r>
              <a:t>Book via app, drop your bag, get a secure OTP or NFC token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93776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FORGOTTEN LUGGAGE? DELIVERED</a:t>
            </a:r>
            <a:br/>
            <a:r>
              <a:t>Left something behind? We'll courier it anywhere in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WHY GUJARAT?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t>TOURIST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Rann Utsav: 5L+ visitors annually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t>TRANSIT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Bhuj Railway, Gandhidham Junction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t>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12% CAGR tourism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t>STRATEGIC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Gateway to Rann, Mundra 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t>CULTURE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Dholavira, handicrafts, year-round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828800"/>
            <a:ext cx="4114800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1031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ontserrat"/>
              </a:defRPr>
            </a:pPr>
            <a:r>
              <a:t>5.5 CRORE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743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Annual Gujarat tourists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114800"/>
            <a:ext cx="4114800" cy="137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42976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Montserrat"/>
              </a:defRPr>
            </a:pPr>
            <a:r>
              <a:t>12% CAGR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846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Tourism growth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TARGET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82828"/>
                </a:solidFill>
                <a:latin typeface="Montserrat"/>
              </a:defRPr>
            </a:pPr>
            <a:r>
              <a:t>-&gt; TOURISTS &amp; BACKPACKERS</a:t>
            </a:r>
            <a:br/>
            <a:r>
              <a:t>   Rann Utsav visitors, sightseers</a:t>
            </a:r>
            <a:br/>
            <a:br/>
            <a:r>
              <a:t>-&gt; TRAIN &amp; BUS TRAVELERS</a:t>
            </a:r>
            <a:br/>
            <a:r>
              <a:t>   Inter-city commuters, layovers</a:t>
            </a:r>
            <a:br/>
            <a:br/>
            <a:r>
              <a:t>-&gt; STUDENTS &amp; DAILY COMMUTERS</a:t>
            </a:r>
            <a:br/>
            <a:r>
              <a:t>   Budget-conscious, UPI users</a:t>
            </a:r>
            <a:br/>
            <a:br/>
            <a:r>
              <a:t>-&gt; BUSINESS TRAVELERS</a:t>
            </a:r>
            <a:br/>
            <a:r>
              <a:t>   Premium service, NFC preferred</a:t>
            </a:r>
            <a:br/>
            <a:br/>
            <a:r>
              <a:t>-&gt; FORGOTTEN LUGGAGE USERS</a:t>
            </a:r>
            <a:br/>
            <a:r>
              <a:t>   High-value delivery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700"/>
                </a:solidFill>
                <a:latin typeface="Arial Black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3657600" cy="20116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ontserrat"/>
              </a:defRPr>
            </a:pPr>
            <a:r>
              <a:t>₹2,000+ 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D700"/>
                </a:solidFill>
                <a:latin typeface="Montserrat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Montserrat"/>
              </a:defRPr>
            </a:pPr>
            <a:r>
              <a:t>Total Addressable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45920"/>
            <a:ext cx="3657600" cy="20116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ontserrat"/>
              </a:defRPr>
            </a:pPr>
            <a:r>
              <a:t>₹500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D700"/>
                </a:solidFill>
                <a:latin typeface="Montserrat"/>
              </a:defRPr>
            </a:pPr>
            <a: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Montserrat"/>
              </a:defRPr>
            </a:pPr>
            <a:r>
              <a:t>Serviceable (Gujarat + 10 cities)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45920"/>
            <a:ext cx="3657600" cy="2011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Montserrat"/>
              </a:defRPr>
            </a:pPr>
            <a:r>
              <a:t>₹36 Lakh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Montserrat"/>
              </a:defRPr>
            </a:pPr>
            <a: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82828"/>
                </a:solidFill>
                <a:latin typeface="Montserrat"/>
              </a:defRPr>
            </a:pPr>
            <a:r>
              <a:t>Obtainable (Year 1 target)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t>GUJARAT:</a:t>
            </a:r>
            <a:br/>
            <a:r>
              <a:t>5.5 Cr domestic tourists</a:t>
            </a:r>
            <a:br/>
            <a:r>
              <a:t>5.2 Lakh foreign tourists</a:t>
            </a:r>
            <a:br/>
            <a:r>
              <a:t>12% CAGR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t>INDIA:</a:t>
            </a:r>
            <a:br/>
            <a:r>
              <a:t>2,400 Cr railway passengers</a:t>
            </a:r>
            <a:br/>
            <a:r>
              <a:t>15 Cr air passengers</a:t>
            </a:r>
            <a:br/>
            <a:r>
              <a:t>₹15 Lakh Cr tourism GDP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87878"/>
                </a:solidFill>
                <a:latin typeface="Montserrat"/>
              </a:defRPr>
            </a:pPr>
            <a:r>
              <a:t>Multiple revenue streams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Montserrat"/>
              </a:defRPr>
            </a:pPr>
            <a:r>
              <a:t>REVENUE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645920"/>
            <a:ext cx="36576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Montserrat"/>
              </a:defRPr>
            </a:pPr>
            <a:r>
              <a:t>MARGIN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645920"/>
            <a:ext cx="36576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Montserrat"/>
              </a:defRPr>
            </a:pPr>
            <a:r>
              <a:t>PRICING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ontserrat"/>
              </a:defRPr>
            </a:pPr>
            <a:r>
              <a:t>STORAGE FEES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01168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148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A853"/>
                </a:solidFill>
                <a:latin typeface="Montserrat"/>
              </a:defRPr>
            </a:pPr>
            <a:r>
              <a:t>30% commission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01168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2148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₹50-200 per booking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6032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ontserrat"/>
              </a:defRPr>
            </a:pPr>
            <a:r>
              <a:t>DELIVERY FEES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56032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A853"/>
                </a:solidFill>
                <a:latin typeface="Montserrat"/>
              </a:defRPr>
            </a:pPr>
            <a:r>
              <a:t>20% commission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56032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₹300-1,500 forgotten bags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0896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ontserrat"/>
              </a:defRPr>
            </a:pPr>
            <a:r>
              <a:t>NFC TOKENS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310896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A853"/>
                </a:solidFill>
                <a:latin typeface="Montserrat"/>
              </a:defRPr>
            </a:pPr>
            <a:r>
              <a:t>100% margin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310896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₹199 one-time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5760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94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ontserrat"/>
              </a:defRPr>
            </a:pPr>
            <a:r>
              <a:t>KIOSK ADS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65760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794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A853"/>
                </a:solidFill>
                <a:latin typeface="Montserrat"/>
              </a:defRPr>
            </a:pPr>
            <a:r>
              <a:t>100%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365760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3794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₹5,000/month per kiosk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20624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343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ontserrat"/>
              </a:defRPr>
            </a:pPr>
            <a:r>
              <a:t>PARTNER SUBS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420624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343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A853"/>
                </a:solidFill>
                <a:latin typeface="Montserrat"/>
              </a:defRPr>
            </a:pPr>
            <a:r>
              <a:t>100% margin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420624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4343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₹500/month premium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29200"/>
            <a:ext cx="548640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12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t>AFFORDABLE PRICING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760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t>Starting at ₹50 for 6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126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Montserrat"/>
              </a:defRPr>
            </a:pPr>
            <a:r>
              <a:t>Cheaper than railway cloakrooms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87878"/>
                </a:solidFill>
                <a:latin typeface="Montserrat"/>
              </a:defRPr>
            </a:pPr>
            <a:r>
              <a:t>5 simple steps to freedom from your luggage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011680"/>
            <a:ext cx="2194560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t>FIND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918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Open app</a:t>
            </a:r>
            <a:br/>
            <a:r>
              <a:t>Locate nearest</a:t>
            </a:r>
            <a:br/>
            <a:r>
              <a:t>BagDrop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011680"/>
            <a:ext cx="2194560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t>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2918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  <a:latin typeface="Montserrat"/>
              </a:defRPr>
            </a:pPr>
            <a:r>
              <a:t>Select time slot</a:t>
            </a:r>
            <a:br/>
            <a:r>
              <a:t>Pay via UPI</a:t>
            </a:r>
            <a:br/>
            <a:r>
              <a:t>or Card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011680"/>
            <a:ext cx="2194560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t>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918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Leave bags</a:t>
            </a:r>
            <a:br/>
            <a:r>
              <a:t>Get OTP or</a:t>
            </a:r>
            <a:br/>
            <a:r>
              <a:t>NFC token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011680"/>
            <a:ext cx="2194560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t>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2918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  <a:latin typeface="Montserrat"/>
              </a:defRPr>
            </a:pPr>
            <a:r>
              <a:t>Show token</a:t>
            </a:r>
            <a:br/>
            <a:r>
              <a:t>Collect bags</a:t>
            </a:r>
            <a:br/>
            <a:r>
              <a:t>Travel light!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011680"/>
            <a:ext cx="2194560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t>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2918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Forgot bag?</a:t>
            </a:r>
            <a:br/>
            <a:r>
              <a:t>We courier it</a:t>
            </a:r>
            <a:br/>
            <a:r>
              <a:t>to you!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t>Average drop time: Under 2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D700"/>
                </a:solidFill>
                <a:latin typeface="Arial Black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Built for speed, security &amp;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3474720" cy="365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347472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t>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t>UPI (GPay, PhonePe)</a:t>
            </a:r>
            <a:br/>
            <a:br/>
            <a:r>
              <a:t>Credit &amp; Debit Cards</a:t>
            </a:r>
            <a:br/>
            <a:br/>
            <a:r>
              <a:t>NFC Contactless</a:t>
            </a:r>
            <a:br/>
            <a:br/>
            <a:r>
              <a:t>Wallet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103120"/>
            <a:ext cx="3474720" cy="365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2103120"/>
            <a:ext cx="347472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t>OTP Verification</a:t>
            </a:r>
            <a:br/>
            <a:br/>
            <a:r>
              <a:t>NFC Token Access</a:t>
            </a:r>
            <a:br/>
            <a:br/>
            <a:r>
              <a:t>End-to-End Encryption</a:t>
            </a:r>
            <a:br/>
            <a:br/>
            <a:r>
              <a:t>Verified Partners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103120"/>
            <a:ext cx="3474720" cy="365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103120"/>
            <a:ext cx="347472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t>iOS &amp; Android App</a:t>
            </a:r>
            <a:br/>
            <a:br/>
            <a:r>
              <a:t>Self-Service Kiosks</a:t>
            </a:r>
            <a:br/>
            <a:br/>
            <a:r>
              <a:t>Partner Dashboard</a:t>
            </a:r>
            <a:br/>
            <a:br/>
            <a:r>
              <a:t>Real-time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WHY BAGDROP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Montserrat"/>
              </a:defRPr>
            </a:pPr>
            <a:r>
              <a:t>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554480"/>
            <a:ext cx="36576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Montserrat"/>
              </a:defRPr>
            </a:pPr>
            <a:r>
              <a:t>BAGDROP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554480"/>
            <a:ext cx="3657600" cy="36576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OTHERS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3657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ontserrat"/>
              </a:defRPr>
            </a:pPr>
            <a:r>
              <a:t>Pricing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920240"/>
            <a:ext cx="3657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011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A853"/>
                </a:solidFill>
                <a:latin typeface="Montserrat"/>
              </a:defRPr>
            </a:pPr>
            <a:r>
              <a:t>₹50/6hrs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920240"/>
            <a:ext cx="3657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011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Montserrat"/>
              </a:defRPr>
            </a:pPr>
            <a:r>
              <a:t>₹100+/day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ontserrat"/>
              </a:defRPr>
            </a:pPr>
            <a:r>
              <a:t>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37744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2468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Montserrat"/>
              </a:defRPr>
            </a:pPr>
            <a:r>
              <a:t>OTP/NFC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37744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468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Montserrat"/>
              </a:defRPr>
            </a:pPr>
            <a:r>
              <a:t>Keys/Tags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34640"/>
            <a:ext cx="3657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260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ontserrat"/>
              </a:defRPr>
            </a:pPr>
            <a:r>
              <a:t>Payments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2834640"/>
            <a:ext cx="3657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29260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Montserrat"/>
              </a:defRPr>
            </a:pPr>
            <a:r>
              <a:t>UPI/Card/NFC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834640"/>
            <a:ext cx="3657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9260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Montserrat"/>
              </a:defRPr>
            </a:pPr>
            <a:r>
              <a:t>Cash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9184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3832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ontserrat"/>
              </a:defRPr>
            </a:pPr>
            <a:r>
              <a:t>Delivery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29184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3383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A853"/>
                </a:solidFill>
                <a:latin typeface="Montserrat"/>
              </a:defRPr>
            </a:pPr>
            <a:r>
              <a:t>✓ 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29184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3383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Montserrat"/>
              </a:defRPr>
            </a:pPr>
            <a:r>
              <a:t>✗ 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749039"/>
            <a:ext cx="3657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8404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ontserrat"/>
              </a:defRPr>
            </a:pPr>
            <a:r>
              <a:t>Booking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3749039"/>
            <a:ext cx="3657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0" y="38404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Montserrat"/>
              </a:defRPr>
            </a:pPr>
            <a:r>
              <a:t>App-based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3749039"/>
            <a:ext cx="3657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38404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Montserrat"/>
              </a:defRPr>
            </a:pPr>
            <a:r>
              <a:t>In-person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0624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ontserrat"/>
              </a:defRPr>
            </a:pPr>
            <a:r>
              <a:t>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420624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4297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Montserrat"/>
              </a:defRPr>
            </a:pPr>
            <a:r>
              <a:t>24/7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420624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4297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Montserrat"/>
              </a:defRPr>
            </a:pPr>
            <a:r>
              <a:t>Limited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2120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ontserrat"/>
              </a:defRPr>
            </a:pPr>
            <a:r>
              <a:t>UNIQUE: Forgotten luggage delivery - NO COMPETITOR offers this!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t>FINANCIAL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Montserrat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2743200" y="1371600"/>
            <a:ext cx="22860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Montserrat"/>
              </a:defRPr>
            </a:pPr>
            <a:r>
              <a:t>BOOKINGS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371600"/>
            <a:ext cx="22860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Montserrat"/>
              </a:defRPr>
            </a:pPr>
            <a: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371600"/>
            <a:ext cx="22860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Montserrat"/>
              </a:defRPr>
            </a:pPr>
            <a:r>
              <a:t>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371600"/>
            <a:ext cx="22860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Montserrat"/>
              </a:defRPr>
            </a:pPr>
            <a:r>
              <a:t>LOCATIONS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373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74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YEAR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7373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874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1.32L bookings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7373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874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₹36.8L revenue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7373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874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8 people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7373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874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150 locations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YEAR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286000"/>
            <a:ext cx="22860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5L bookings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2286000"/>
            <a:ext cx="22860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₹1.27Cr revenue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286000"/>
            <a:ext cx="22860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25 people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2286000"/>
            <a:ext cx="22860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500 locations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34639"/>
            <a:ext cx="228600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97179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ontserrat"/>
              </a:defRPr>
            </a:pPr>
            <a:r>
              <a:t>YEAR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2834639"/>
            <a:ext cx="228600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297179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ontserrat"/>
              </a:defRPr>
            </a:pPr>
            <a:r>
              <a:t>15L bookings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2834639"/>
            <a:ext cx="228600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297179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ontserrat"/>
              </a:defRPr>
            </a:pPr>
            <a:r>
              <a:t>₹3.82Cr revenue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2834639"/>
            <a:ext cx="228600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297179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ontserrat"/>
              </a:defRPr>
            </a:pPr>
            <a:r>
              <a:t>60 people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2834639"/>
            <a:ext cx="228600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0" y="297179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ontserrat"/>
              </a:defRPr>
            </a:pPr>
            <a:r>
              <a:t>1,500 locations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Arial Black"/>
              </a:defRPr>
            </a:pPr>
            <a:r>
              <a:t>YEAR 1 MONTHLY GROWTH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297680"/>
            <a:ext cx="210312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M1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Montserrat"/>
              </a:defRPr>
            </a:pPr>
            <a:r>
              <a:t>500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Montserrat"/>
              </a:defRPr>
            </a:pPr>
            <a:r>
              <a:t>₹9K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297680"/>
            <a:ext cx="210312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M3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Montserrat"/>
              </a:defRPr>
            </a:pPr>
            <a:r>
              <a:t>2,000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Montserrat"/>
              </a:defRPr>
            </a:pPr>
            <a:r>
              <a:t>₹39K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4297680"/>
            <a:ext cx="210312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M6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Montserrat"/>
              </a:defRPr>
            </a:pPr>
            <a:r>
              <a:t>7,500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Montserrat"/>
              </a:defRPr>
            </a:pPr>
            <a:r>
              <a:t>₹1.57L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0" y="4297680"/>
            <a:ext cx="210312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M9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Montserrat"/>
              </a:defRPr>
            </a:pPr>
            <a:r>
              <a:t>15,000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Montserrat"/>
              </a:defRPr>
            </a:pPr>
            <a:r>
              <a:t>₹3.6L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0" y="4297680"/>
            <a:ext cx="21031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Montserrat"/>
              </a:defRPr>
            </a:pPr>
            <a:r>
              <a:t>M12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700"/>
                </a:solidFill>
                <a:latin typeface="Montserrat"/>
              </a:defRPr>
            </a:pPr>
            <a:r>
              <a:t>30,000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ontserrat"/>
              </a:defRPr>
            </a:pPr>
            <a:r>
              <a:t>₹7.65L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6126480"/>
            <a:ext cx="4572000" cy="457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1722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Break-even: Month 10-11 | Profitable from Q4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D700"/>
                </a:solidFill>
                <a:latin typeface="Arial Black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D700"/>
                </a:solidFill>
                <a:latin typeface="Arial Black"/>
              </a:defRPr>
            </a:pPr>
            <a:r>
              <a:t>₹36 LAKH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SEED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78"/>
                </a:solidFill>
                <a:latin typeface="Montserrat"/>
              </a:defRPr>
            </a:pPr>
            <a:r>
              <a:t>(~$430,000 USD)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TECH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t>₹5L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Montserrat"/>
              </a:defRPr>
            </a:pPr>
            <a:r>
              <a:t>App, dashboard, payments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6-MONTH RUNWAY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t>₹18L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Montserrat"/>
              </a:defRPr>
            </a:pPr>
            <a:r>
              <a:t>Salaries +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t>₹6.5L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Montserrat"/>
              </a:defRPr>
            </a:pPr>
            <a:r>
              <a:t>Digital + on-ground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EQUIPMENT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t>₹3L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Montserrat"/>
              </a:defRPr>
            </a:pPr>
            <a:r>
              <a:t>Laptops, kiosks, 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CONTINGENCY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t>₹3.25L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Montserrat"/>
              </a:defRPr>
            </a:pPr>
            <a:r>
              <a:t>10% buffer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548640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t>INVESTOR RETURNS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94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ontserrat"/>
              </a:defRPr>
            </a:pPr>
            <a:r>
              <a:t>5-10x Expected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t>₹50+ Cr valuation by Year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82828"/>
                </a:solidFill>
                <a:latin typeface="Montserrat"/>
              </a:defRPr>
            </a:pPr>
            <a:r>
              <a:t>CEO / FOUNDER</a:t>
            </a:r>
            <a:br/>
            <a:r>
              <a:t>Overall strategy &amp; investor relations</a:t>
            </a:r>
            <a:br/>
            <a:br/>
            <a:r>
              <a:t>CTO</a:t>
            </a:r>
            <a:br/>
            <a:r>
              <a:t>App development &amp; tech infrastructure</a:t>
            </a:r>
            <a:br/>
            <a:br/>
            <a:r>
              <a:t>OPERATIONS MANAGER</a:t>
            </a:r>
            <a:br/>
            <a:r>
              <a:t>Partner onboarding &amp; quality control</a:t>
            </a:r>
            <a:br/>
            <a:br/>
            <a:r>
              <a:t>LOGISTICS COORDINATOR</a:t>
            </a:r>
            <a:br/>
            <a:r>
              <a:t>Delivery partner &amp; courier management</a:t>
            </a:r>
            <a:br/>
            <a:br/>
            <a:r>
              <a:t>CUSTOMER SUPPORT</a:t>
            </a:r>
            <a:br/>
            <a:r>
              <a:t>24/7 phone &amp; app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1828800"/>
            <a:ext cx="457200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21031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27432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Team members by Year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3474720"/>
            <a:ext cx="457200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3749039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ontserrat"/>
              </a:defRPr>
            </a:pPr>
            <a:r>
              <a:t>Kutch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389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Gujarat, India HQ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87878"/>
                </a:solidFill>
                <a:latin typeface="Montserrat"/>
              </a:defRPr>
            </a:pPr>
            <a:r>
              <a:t>Multi-channel strategy to reach travelers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3566160" cy="2011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ontserrat"/>
              </a:defRPr>
            </a:pPr>
            <a:r>
              <a:t>DIGITAL 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Instagram, Facebook, Google targeting tourists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A853"/>
                </a:solidFill>
                <a:latin typeface="Montserrat"/>
              </a:defRPr>
            </a:pPr>
            <a:r>
              <a:t>₹55K/month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011680"/>
            <a:ext cx="3566160" cy="2011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ontserrat"/>
              </a:defRPr>
            </a:pPr>
            <a:r>
              <a:t>INFLUENCERS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834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C8"/>
                </a:solidFill>
                <a:latin typeface="Montserrat"/>
              </a:defRPr>
            </a:pPr>
            <a:r>
              <a:t>Travel vloggers &amp; Gujarati creators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ontserrat"/>
              </a:defRPr>
            </a:pPr>
            <a:r>
              <a:t>₹30K/month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011680"/>
            <a:ext cx="3566160" cy="2011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ontserrat"/>
              </a:defRPr>
            </a:pPr>
            <a:r>
              <a:t>TRANSIT HUBS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Flyers &amp; kiosks at stations, airports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A853"/>
                </a:solidFill>
                <a:latin typeface="Montserrat"/>
              </a:defRPr>
            </a:pPr>
            <a:r>
              <a:t>₹25K/month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53035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ontserrat"/>
              </a:defRPr>
            </a:pPr>
            <a:r>
              <a:t>REFERRAL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t>₹50 credit for every friend who signs 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97680"/>
            <a:ext cx="530352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ontserrat"/>
              </a:defRPr>
            </a:pPr>
            <a:r>
              <a:t>PARTNER ONBOARDING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292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t>70% revenue share to shop owners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126480"/>
            <a:ext cx="54864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172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t>Annual Marketing Budget: ₹6.45 Lakh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t>RISK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" cy="5486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Montserrat"/>
              </a:defRPr>
            </a:pPr>
            <a:r>
              <a:t>LOW BOOKINGS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  <a:latin typeface="Montserrat"/>
              </a:defRPr>
            </a:pPr>
            <a:r>
              <a:t>Aggressive referral program</a:t>
            </a:r>
            <a:br/>
            <a:r>
              <a:t>Dynamic pricing adjustments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39"/>
            <a:ext cx="137160" cy="5486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Montserrat"/>
              </a:defRPr>
            </a:pPr>
            <a:r>
              <a:t>PARTNER DEFAULTS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48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4883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  <a:latin typeface="Montserrat"/>
              </a:defRPr>
            </a:pPr>
            <a:r>
              <a:t>Weekly settlements</a:t>
            </a:r>
            <a:br/>
            <a:r>
              <a:t>₹5K security deposit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137160" cy="5486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Montserrat"/>
              </a:defRPr>
            </a:pPr>
            <a:r>
              <a:t>FRAUD / THEFT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  <a:latin typeface="Montserrat"/>
              </a:defRPr>
            </a:pPr>
            <a:r>
              <a:t>Insurance up to ₹25K/bag</a:t>
            </a:r>
            <a:br/>
            <a:r>
              <a:t>Partner verification &amp; CCTV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137160" cy="5486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Montserrat"/>
              </a:defRPr>
            </a:pPr>
            <a:r>
              <a:t>COMPETITION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8862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  <a:latin typeface="Montserrat"/>
              </a:defRPr>
            </a:pPr>
            <a:r>
              <a:t>Focus on USP (delivery)</a:t>
            </a:r>
            <a:br/>
            <a:r>
              <a:t>Partner lock-in agreements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79"/>
            <a:ext cx="137160" cy="5486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54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Montserrat"/>
              </a:defRPr>
            </a:pPr>
            <a:r>
              <a:t>PAYMENT DISPUTES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7548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75487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  <a:latin typeface="Montserrat"/>
              </a:defRPr>
            </a:pPr>
            <a:r>
              <a:t>Clear T&amp;C</a:t>
            </a:r>
            <a:br/>
            <a:r>
              <a:t>Escrow for high-value items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11277295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700"/>
                </a:solidFill>
                <a:latin typeface="Montserrat"/>
              </a:defRPr>
            </a:pPr>
            <a:r>
              <a:t>INSURANCE: Public Liability ₹10L | Storage Insurance ₹25K/bag | Employee Health + Accident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D700"/>
                </a:solidFill>
                <a:latin typeface="Arial Black"/>
              </a:defRPr>
            </a:pPr>
            <a:r>
              <a:t>EXIT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STRATEGIC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A853"/>
                </a:solidFill>
                <a:latin typeface="Montserrat"/>
              </a:defRPr>
            </a:pPr>
            <a:r>
              <a:t>70% 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Montserrat"/>
              </a:defRPr>
            </a:pPr>
            <a:r>
              <a:t>MakeMyTrip, Goibibo, Delhivery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MERGER (LOGISTICS)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A853"/>
                </a:solidFill>
                <a:latin typeface="Montserrat"/>
              </a:defRPr>
            </a:pPr>
            <a:r>
              <a:t>15% probability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Montserrat"/>
              </a:defRPr>
            </a:pPr>
            <a:r>
              <a:t>Delhivery, Dunzo, Porter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TECHNOLOGY LICENSING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A853"/>
                </a:solidFill>
                <a:latin typeface="Montserrat"/>
              </a:defRPr>
            </a:pPr>
            <a:r>
              <a:t>10% probability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Montserrat"/>
              </a:defRPr>
            </a:pPr>
            <a:r>
              <a:t>White-label platform sales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IPO (LONG-TERM)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A853"/>
                </a:solidFill>
                <a:latin typeface="Montserrat"/>
              </a:defRPr>
            </a:pPr>
            <a:r>
              <a:t>5% probability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Montserrat"/>
              </a:defRPr>
            </a:pPr>
            <a:r>
              <a:t>Year 7+ horizon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86400"/>
            <a:ext cx="548640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TARGET 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35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t>₹50+ Crore by Year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73736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ontserrat"/>
              </a:defRPr>
            </a:pPr>
            <a:r>
              <a:t>Q1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App launch</a:t>
            </a:r>
            <a:br/>
            <a:r>
              <a:t>50 partners in Gujarat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645920"/>
            <a:ext cx="17373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t>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5,000 monthly bookings</a:t>
            </a:r>
            <a:br/>
            <a:r>
              <a:t>Expand to 3 cities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173736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ontserrat"/>
              </a:defRPr>
            </a:pPr>
            <a: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10,000 bookings</a:t>
            </a:r>
            <a:br/>
            <a:r>
              <a:t>Delivery service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17373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t>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30,000 bookings</a:t>
            </a:r>
            <a:br/>
            <a:r>
              <a:t>Break-even achieved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173736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ontserrat"/>
              </a:defRPr>
            </a:pPr>
            <a:r>
              <a:t>YEAR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50 cities</a:t>
            </a:r>
            <a:br/>
            <a:r>
              <a:t>500 partners</a:t>
            </a:r>
            <a:br/>
            <a:r>
              <a:t>₹1.27Cr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1645920"/>
            <a:ext cx="17373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t>YEAR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82828"/>
                </a:solidFill>
                <a:latin typeface="Montserrat"/>
              </a:defRPr>
            </a:pPr>
            <a:r>
              <a:t>150 cities</a:t>
            </a:r>
            <a:br/>
            <a:r>
              <a:t>1,500 partners</a:t>
            </a:r>
            <a:br/>
            <a:r>
              <a:t>₹3.82Cr revenue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t>VISION: India's #1 luggage storage network with smart locker integrations at all major transit hubs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 Black"/>
              </a:defRPr>
            </a:pPr>
            <a:r>
              <a:t>YEAR 5: EXIT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₹50+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26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ontserrat"/>
              </a:defRPr>
            </a:pPr>
            <a:r>
              <a:t>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100+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6126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ontserrat"/>
              </a:defRPr>
            </a:pPr>
            <a:r>
              <a:t>Cities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2,000+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6126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ontserrat"/>
              </a:defRPr>
            </a:pPr>
            <a:r>
              <a:t>Partners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t>GOVERNMENT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" cy="5486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2828"/>
                </a:solidFill>
                <a:latin typeface="Montserrat"/>
              </a:defRPr>
            </a:pPr>
            <a:r>
              <a:t>GUJARAT STARTUP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Montserrat"/>
              </a:defRPr>
            </a:pPr>
            <a:r>
              <a:t>Up to ₹30 Lakh seed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37160" cy="5486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2828"/>
                </a:solidFill>
                <a:latin typeface="Montserrat"/>
              </a:defRPr>
            </a:pPr>
            <a:r>
              <a:t>STARTUP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Montserrat"/>
              </a:defRPr>
            </a:pPr>
            <a:r>
              <a:t>3-year tax holiday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37160" cy="5486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2828"/>
                </a:solidFill>
                <a:latin typeface="Montserrat"/>
              </a:defRPr>
            </a:pPr>
            <a:r>
              <a:t>GST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Montserrat"/>
              </a:defRPr>
            </a:pPr>
            <a:r>
              <a:t>Input credit on tech expenses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37160" cy="5486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2828"/>
                </a:solidFill>
                <a:latin typeface="Montserrat"/>
              </a:defRPr>
            </a:pPr>
            <a:r>
              <a:t>MUDRA / MSME LOANS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7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Montserrat"/>
              </a:defRPr>
            </a:pPr>
            <a:r>
              <a:t>₹10-50 Lakh low-interest debt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137160" cy="5486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2828"/>
                </a:solidFill>
                <a:latin typeface="Montserrat"/>
              </a:defRPr>
            </a:pPr>
            <a:r>
              <a:t>iCREATE / AIC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Montserrat"/>
              </a:defRPr>
            </a:pPr>
            <a:r>
              <a:t>Free mentoring &amp; co-working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828800"/>
            <a:ext cx="5303520" cy="2286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t>KUTCH ADVANTAGE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517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t>Gujarat government actively supports tourism &amp; logistics startups</a:t>
            </a:r>
            <a:br/>
            <a:br/>
            <a:r>
              <a:t>Access to iCreate, AIC mentoring</a:t>
            </a:r>
            <a:br/>
            <a:br/>
            <a:r>
              <a:t>Gujarat Startup Policy benefits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D700"/>
                </a:solidFill>
                <a:latin typeface="Arial Black"/>
              </a:defRPr>
            </a:pPr>
            <a:r>
              <a:t>JOIN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029200" cy="2286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t>SEED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0000"/>
                </a:solidFill>
                <a:latin typeface="Arial Black"/>
              </a:defRPr>
            </a:pPr>
            <a:r>
              <a:t>₹36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ontserrat"/>
              </a:defRPr>
            </a:pPr>
            <a:r>
              <a:t>LAKH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ontserrat"/>
              </a:defRPr>
            </a:pPr>
            <a:r>
              <a:t>(~$430K USD)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✓ Solves real problem (70% travelers)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20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✓ Unique USP: Forgotten luggage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✓ Asset-light, scalable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017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✓ Experienced local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566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✓ Government support &amp; 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114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✓ Clear path to profitability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029200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ontserrat"/>
              </a:defRPr>
            </a:pPr>
            <a:r>
              <a:t>EXPECTED RETURNS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5-10x for seed investors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t>TeamBack | Kutch, Gujarat | January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t>Ready to transform travel in India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D700"/>
                </a:solidFill>
                <a:latin typeface="Arial Black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ontserrat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87878"/>
                </a:solidFill>
                <a:latin typeface="Montserrat"/>
              </a:defRPr>
            </a:pPr>
            <a:r>
              <a:t>BagDrop: India's Smart Luggage Storage Network</a:t>
            </a:r>
            <a:br/>
            <a:r>
              <a:t>TeamBack | Kutch, Gujarat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